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0.svg" ContentType="image/svg+xml"/>
  <Override PartName="/ppt/media/image12.svg" ContentType="image/svg+xml"/>
  <Override PartName="/ppt/media/image14.svg" ContentType="image/svg+xml"/>
  <Override PartName="/ppt/media/image16.svg" ContentType="image/svg+xml"/>
  <Override PartName="/ppt/media/image18.svg" ContentType="image/svg+xml"/>
  <Override PartName="/ppt/media/image2.svg" ContentType="image/svg+xml"/>
  <Override PartName="/ppt/media/image20.svg" ContentType="image/svg+xml"/>
  <Override PartName="/ppt/media/image22.svg" ContentType="image/svg+xml"/>
  <Override PartName="/ppt/media/image24.svg" ContentType="image/svg+xml"/>
  <Override PartName="/ppt/media/image26.svg" ContentType="image/svg+xml"/>
  <Override PartName="/ppt/media/image28.svg" ContentType="image/svg+xml"/>
  <Override PartName="/ppt/media/image30.svg" ContentType="image/svg+xml"/>
  <Override PartName="/ppt/media/image32.svg" ContentType="image/svg+xml"/>
  <Override PartName="/ppt/media/image34.svg" ContentType="image/svg+xml"/>
  <Override PartName="/ppt/media/image36.svg" ContentType="image/svg+xml"/>
  <Override PartName="/ppt/media/image38.svg" ContentType="image/svg+xml"/>
  <Override PartName="/ppt/media/image4.svg" ContentType="image/svg+xml"/>
  <Override PartName="/ppt/media/image40.svg" ContentType="image/svg+xml"/>
  <Override PartName="/ppt/media/image42.svg" ContentType="image/svg+xml"/>
  <Override PartName="/ppt/media/image44.svg" ContentType="image/svg+xml"/>
  <Override PartName="/ppt/media/image46.svg" ContentType="image/svg+xml"/>
  <Override PartName="/ppt/media/image48.svg" ContentType="image/svg+xml"/>
  <Override PartName="/ppt/media/image50.svg" ContentType="image/svg+xml"/>
  <Override PartName="/ppt/media/image52.svg" ContentType="image/svg+xml"/>
  <Override PartName="/ppt/media/image54.svg" ContentType="image/svg+xml"/>
  <Override PartName="/ppt/media/image56.svg" ContentType="image/svg+xml"/>
  <Override PartName="/ppt/media/image58.svg" ContentType="image/svg+xml"/>
  <Override PartName="/ppt/media/image6.svg" ContentType="image/svg+xml"/>
  <Override PartName="/ppt/media/image60.svg" ContentType="image/svg+xml"/>
  <Override PartName="/ppt/media/image62.svg" ContentType="image/svg+xml"/>
  <Override PartName="/ppt/media/image64.svg" ContentType="image/svg+xml"/>
  <Override PartName="/ppt/media/image66.svg" ContentType="image/svg+xml"/>
  <Override PartName="/ppt/media/image68.svg" ContentType="image/svg+xml"/>
  <Override PartName="/ppt/media/image70.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Lst>
  <p:notesMasterIdLst>
    <p:notesMasterId r:id="rId5"/>
  </p:notesMasterIdLst>
  <p:sldIdLst>
    <p:sldId id="256" r:id="rId4"/>
    <p:sldId id="257" r:id="rId6"/>
    <p:sldId id="258" r:id="rId7"/>
    <p:sldId id="259" r:id="rId8"/>
    <p:sldId id="260" r:id="rId9"/>
    <p:sldId id="261" r:id="rId10"/>
    <p:sldId id="262" r:id="rId11"/>
    <p:sldId id="279" r:id="rId12"/>
    <p:sldId id="264" r:id="rId13"/>
    <p:sldId id="265" r:id="rId14"/>
    <p:sldId id="266" r:id="rId15"/>
    <p:sldId id="267" r:id="rId16"/>
    <p:sldId id="268" r:id="rId17"/>
    <p:sldId id="271" r:id="rId18"/>
    <p:sldId id="272" r:id="rId19"/>
    <p:sldId id="273" r:id="rId20"/>
    <p:sldId id="274" r:id="rId21"/>
    <p:sldId id="275" r:id="rId22"/>
    <p:sldId id="276" r:id="rId23"/>
    <p:sldId id="277" r:id="rId24"/>
    <p:sldId id="278" r:id="rId25"/>
  </p:sldIdLst>
  <p:sldSz cx="12192000" cy="6858000"/>
  <p:notesSz cx="6858000" cy="9144000"/>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457200"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914400"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371600"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1828800"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286000"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2743200"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200400"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3657600"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20"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620"/>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8" Type="http://schemas.openxmlformats.org/officeDocument/2006/relationships/tableStyles" Target="tableStyles.xml"/><Relationship Id="rId27" Type="http://schemas.openxmlformats.org/officeDocument/2006/relationships/viewProps" Target="viewProps.xml"/><Relationship Id="rId26" Type="http://schemas.openxmlformats.org/officeDocument/2006/relationships/presProps" Target="presProps.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是一个关于Oracle数据库索引设计与优化的演示文稿封面。设计上采用了简洁、专业的技术风格，深绿色作为主色调传达稳定与高效的感觉。左侧的几何色块构建了视觉重心，右下角的抽象图形隐喻了数据库索引的树形结构（如B-Tree），呼应了主题。标题部分强调了“高效”与“优化”，副标题点明了内容的实用性与深度。</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各位好，今天我们将围绕Oracle索引展开深入探讨。</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我们的课程分为六个核心章节：</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首先，我们从基础概念入手，了解索引的底层逻辑；</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接着，深入剖析Oracle特有的索引类型；</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然后，我们会讲到索引设计的核心原则，这是大家在日常开发中最容易出错的地方；</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之后，我们将学习如何监控和评估现有的索引是否有效；</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第五部分是实战技巧，通过真实案例来解决实际问题；</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最后，我们会总结常见的误区，并分享一些企业级的最佳实践。</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让我们开始今天的学习之旅。</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这一页我们来深入理解一下什么是数据库索引。</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首先，从定义上来看，索引就像是书籍的目录，它是一种特殊的数据结构。它的核心作用就是减少磁盘的I/O操作，把原本随机的查找变成有序的定位，从而避免全表扫描，这是提升查询效率的关键。</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那么索引具体有什么用呢？最直观的就是大幅提升查询速度，对于亿级的数据表，索引能让查询从秒级甚至分钟级缩短到毫秒级。此外，它还能加速表之间的连接查询，优化排序和分组操作，并且强制保证数据的唯一性。</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但我们也要意识到，索引不是免费的午餐，它是有代价的。首先是存储代价，索引本身也要占用磁盘空间。其次是性能代价，每次对数据进行增删改操作时，数据库不仅要修改数据，还要同步维护索引，这会增加写入的开销。</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所以，我们在设计索引时要遵循“以空间换时间”的原则，根据业务的读写比例来权衡，不要盲目创建。</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这一页我们深入探讨数据库索引背后的核心数据结构——B+树。</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左侧的示意图展示了B+树的层级结构：根节点、分支节点和叶子节点。与B树不同，B+树的非叶子节点仅存储键值用于导航，所有真实数据（包括索引键和ROWID）都存储在叶子节点中，且叶子节点通过双向链表连接，这为范围查询提供了极大便利。</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右侧我们总结了B+树的四个关键特性：</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1. 平衡树结构：所有叶子节点在同一深度，保证了查询效率的稳定性。</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2. B+树特点：非叶子节点只存键值，让树更矮更宽，减少IO次数；叶子节点的链表结构则优化了范围扫描。</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3. 索引扫描过程：从根到叶逐层筛选，精准定位目标，范围查询时还能利用链表顺序读取。</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4. ROWID定位：这是索引高效的关键，通过叶子节点的ROWID直接回表读取数据，避免了全表扫描。</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这一页我们来深入了解数据库中四种常见的索引访问路径，这对于理解SQL执行计划至关重要。</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首先是索引唯一扫描，这是效率最高的方式，通常发生在主键或唯一键的等值查询时，数据库可以直接定位到唯一的一条记录。</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第二种是索引范围扫描，这在我们使用大于、小于、IN等条件时非常常见。它的性能取决于返回结果集的大小，结果集越小，效率越高。</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第三种是索引全扫描，虽然它需要遍历整个索引，但因为索引通常比表小，且是顺序读取，所以性能依然优于全表扫描。</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最后是索引快速全扫描，这是一种特殊的全扫描，它不按索引的顺序读取，而是利用多块读取机制，非常适合统计类查询，效率往往比普通的索引全扫描更高。</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理解这些路径，能帮助我们更好地优化索引设计和SQL语句。</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这一页是我们的第二个主要章节，我们将深入探讨Oracle数据库中索引的具体类型。</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索引作为数据库性能优化的关键手段，了解其不同的类型及其适用场景至关重要。</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这一页我们深入探讨B树索引。</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首先看它的结构，B树是一种平衡多叉树，这意味着它的查询效率非常稳定，无论是查询树的哪个节点，深度几乎都是一样的。它非常适合处理高基数的列，也就是列中唯一值比较多的情况，比如用户ID、身份证号等。</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在适用场景方面，大家要记住四个关键点：它是主键和唯一约束的天然选择；对于区分度很高的列效果最好；放在频繁出现在WHERE条件里的列上；以及能显著优化ORDER BY和GROUP BY操作，避免数据库进行额外的排序开销。</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最后，我们来看一下如何创建它。左边是普通索引的语法，右边是唯一索引的语法，唯一索引除了加速查询外，还能强制保证数据的唯一性。</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各位好，这一页我们来深入了解“位图索引”。</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首先看左边的原理，位图索引的核心思想是“空间换时间”。它不像B树索引那样存储ROWID，而是为每一个唯一的键值（比如性别男、女）创建一个二进制的向量。每一位代表数据表中的一行记录，1表示该行包含该值，0表示不包含。</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这种结构最大的优势在于，当进行多条件查询时（比如“性别为男 且 部门为研发”），数据库可以直接对这两个向量进行位运算（AND操作），瞬间得出结果集，这比传统的索引扫描要快得多。</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那么，什么时候用它呢？请看右边的上半部分：它非常适合“低基数列”，也就是值的种类非常少的列，比如性别、状态等。在数据仓库环境中，面对复杂的即席查询和报表分析，位图索引是神器。</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但是，大家一定要注意右边的下半部分，它也有明显的坑：千万不要在高并发的OLTP系统中使用它，因为更新一行数据会导致多个位图段被锁定，引发性能问题。同时，对于像身份证号这种几乎没有重复值的“高基数列”，位图索引会变得非常庞大，效果还不如不用。</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最后，底部是它的创建语法，非常简单，只需要在CREATE INDEX后面加上BITMAP关键字即可。</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除了我们常见的B树索引和位图索引外，数据库还提供了多种特殊的索引类型来解决特定场景下的性能问题。</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首先是反向键索引，它通过反转键值的字节顺序，打破了自增ID的连续性，有效解决了高并发写入时索引右侧的热点争用问题。</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压缩索引则侧重于存储效率，对于低基数列或重复度高的数据，它能显著减少存储空间，同时提升缓存命中率。</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分区索引是处理海量数据的利器，它与分区表结合，允许我们对索引进行分区级别的维护和查询裁剪。</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最后是基于函数的索引扩展，它让我们可以对计算后的结果建立索引，解决了传统索引无法加速包含函数运算查询的痛点。</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在实际设计中，我们需要根据具体的业务场景来选择合适的索引类型，而不是盲目创建。</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各位好，接下来我们进入第三章，深入探讨索引设计的核心原则。</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索引是数据库性能优化的关键，但并非越多越好。这一章我们将重点学习如何科学地设计索引，避免常见的误区，确保索引能够真正发挥加速查询的作用。</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大家好，这一页我们深入探讨索引的两个关键指标：选择性和基数。</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首先，请看中间的核心公式，索引的选择性是由“不同值的数量”除以“总行数”得出的。这个指标直接决定了索引的效率。</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我们来看三个关键概念：</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第一是高选择性，也就是接近100%的情况。这通常发生在主键或唯一约束列上，因为它们的每个值几乎都是唯一的。在这种情况下，B+树索引的效果是最好的，因为它能非常精准地定位到你想要的数据行。</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第二是低选择性，通常低于10%。比如性别字段，只有男和女两个值。这时候，如果用普通的B树索引，效果往往很差，甚至不如直接全表扫描快。对于这种场景，我们可以考虑使用位图索引。</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第三是聚簇因子，这是一个衡量索引顺序与数据物理存储顺序匹配程度的指标。大家记住，聚簇因子越低越好，因为这意味着数据在物理上是有序排列的，数据库在进行范围扫描时，需要的IO操作会更少，性能也就更高。</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理解这些指标，是我们进行数据库索引优化的基础。</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大家好，今天我们来深入探讨复合索引设计的黄金法则。</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首先是“最左前缀原则”，这是复合索引的基石，查询条件必须包含索引的第一列，否则索引无法生效。</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其次是“选择性优先”，把区分度高的列放在前面，能快速过滤掉大量无效数据。</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第三是“等值条件前置”，先精准匹配，再进行范围筛选，这能最大化索引的利用效率。</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第四，我们要“避免过度索引”，因为索引会降低写入性能，需要权衡利弊。</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最后，是“覆盖索引”，如果索引包含了查询的所有字段，就可以避免回表，这是性能优化的杀手锏。</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掌握这五条原则，能帮助我们设计出高效的数据库索引。</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这一页我们重点讲讲索引创建的最佳实践。</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首先看左边的推荐做法：第一，索引要建在查询的关键点上，比如WHERE筛选条件、JOIN关联字段以及排序分组的列；第二，多条件查询时，复合索引通常比多个单列索引更高效；第三，利用覆盖索引可以避免回表查询，这是提升查询速度的利器；第四，索引不是建了就不管了，要定期清理那些没人用的冗余索引；最后，在大批量导入数据后，记得重建索引来消除碎片。</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再看右边，我们要避免这些坑：不要给每个列都建索引，这会严重拖慢写入速度；小表不需要建太多索引，全表扫描反而更快；频繁更新的列要少建索引，因为每次更新都要维护索引；不要在索引列上直接做函数运算，这会让索引失效；最后，千万不要建功能完全一样的重复索引，那只是浪费空间。</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接下来我们进入第五章，深入探讨索引优化的实战技巧。</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索引是数据库性能优化的关键，但如果使用不当，反而会成为性能瓶颈。在这一章，我们将分享一些经过实践验证的优化策略，帮助大家更好地设计和使用索引。</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各位好，这一页我们来深入探讨索引的重建与维护优化策略。</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索引在数据库中扮演着至关重要的角色，但随着数据的增删改，索引会产生碎片，导致查询效率下降。这里有四个关键的维护技巧：</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首先是索引重建（Rebuild），这是最彻底的解决方式，适合碎片非常严重的情况。大家注意，我们可以使用 ONLINE 关键字来实现在线重建，这样就不会锁表，保证业务的连续性。</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其次是索引合并（Coalesce），这是一种轻量级的操作，它只是合并叶子节点中的空闲空间，不需要重建整个索引，所以对系统资源的消耗非常小，适合日常的轻量维护。</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第三点是统计信息的收集。Oracle 的优化器（CBO）是基于统计信息来生成执行计划的。如果统计信息过期，优化器就可能做出错误的判断。所以，定期更新索引的统计信息是非常必要的。</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最后，我们要学会如何判断索引是否需要维护。通过查询 INDEX_STATS 视图，我们可以看到索引的高度、空间使用率以及已删除的行数等关键指标，这些指标是我们决定是否要进行重建或合并的依据。</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掌握这些技巧，能帮助我们保持数据库的高效运行。</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这一页我们进入第六章，来探讨一下在项目管理或者执行过程中，大家容易踩的坑，以及对应的最佳实践方案。</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这一页我们来深入探讨索引设计中最容易踩的五个坑。</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首先是“索引越多越好”的误区。很多人觉得索引能解决所有性能问题，其实不然，每增加一个索引，都会增加写入数据时的IO开销，过多的索引反而会拖慢写入速度。</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第二个误区是认为“索引一定比全表扫描快”。实际上，当查询需要返回表中大部分数据（比如超过30%）时，全表扫描的顺序读取效率往往比索引的随机读取更高。</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第三个误区是“在所有列上都建索引”。对于性别、状态这类低选择性的列，建立索引不仅起不到过滤作用，还会白白浪费磁盘空间。</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第四个误区是“索引不会失效”。如果SQL写得不好，比如使用了前模糊查询（like '%xxx'）或者在索引列上做了计算，都会导致索引失效，查询退化为全表扫描。</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最后是“重建索引百利而无一害”。频繁重建索引不仅会加锁影响业务，而且只有在索引碎片非常严重或者统计信息过时的情况下，重建才有意义。</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理解这些误区，能帮助我们更科学地设计和使用索引。</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这一页我们来详细看一下索引优化的检查清单，主要分为设计阶段和运维阶段两个维度。</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在设计阶段，重点在于“精准”。我们需要识别出业务的高频SQL，而不是盲目建索引。对于查询条件中的WHERE、JOIN和排序字段，要优先考虑。同时，要评估字段的区分度，如果一个字段只有“是”和“否”两个值，建索引可能反而会降低性能。此外，复合索引和覆盖索引是提升查询效率的利器，但要注意复合索引的字段顺序。</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在运维阶段，重点在于“监控”和“清理”。索引不是建好就万事大吉了，需要定期检查哪些索引从未被使用过，这些就是冗余索引，会拖慢写入速度。同时，要关注索引的碎片情况，碎片过多会影响查询效率。最后，保持统计信息的更新对于数据库优化器生成正确的执行计划至关重要。</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这一页我们来看一个具体的实战案例：订单表的查询优化。</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背景是这样的，我们有一个订单表，里面存储了超过500万条的历史交易记录。在业务中，我们经常需要根据客户ID查询他的历史订单，并按时间倒序排列。</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大家看左边，在没有优化之前，我们执行这条SQL语句，数据库只能进行全表扫描。因为没有索引的引导，它需要一行一行地去比对条件。这导致了非常慢的查询速度，平均耗时达到了8.5秒，这对于用户来说是完全无法接受的。</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那么如何优化呢？看右边，我们创建了一个复合索引。这个索引包含了customer_id和order_date两个字段。这样做的好处是，数据库可以利用索引快速定位到特定客户的所有订单，并且因为索引本身已经按日期排序，所以不需要再进行额外的排序操作。</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优化后的效果非常惊人，查询时间从8.5秒直接降到了0.02秒，性能提升了超过400倍。这就是合理使用索引带来的巨大收益。</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总结一下，这里的核心逻辑是遵循“最左前缀原则”，把用于筛选的字段放在索引的最前面，把用于排序的字段放在后面，从而最大化索引的效率。</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我们来回顾一下今天关于索引优化的核心要点。</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首先，理解原理是基础，我们需要明白B树的结构以及索引是如何被访问的。</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其次，设计要合理，遵循最左前缀原则，善用复合索引和覆盖索引。</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第三，一切要以数据为驱动，根据字段的选择性和真实的查询模式来设计，而不是凭感觉。</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第四，监控不能停，要定期检查索引的使用情况，清理无效索引。</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最后，也是最重要的一点，要懂得平衡，因为索引在加速查询的同时，会增加写入的开销，我们需要在两者之间找到最佳的平衡点。</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各位，今天的分享就到这里。非常感谢大家的聆听。</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现在进入问答环节，如果大家有任何问题，或者想进一步探讨刚才提到的内容，欢迎随时提问。</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50" name="Shape 50"/>
        <p:cNvGrpSpPr/>
        <p:nvPr/>
      </p:nvGrpSpPr>
      <p:grpSpPr>
        <a:xfrm>
          <a:off x="0" y="0"/>
          <a:ext cx="0" cy="0"/>
          <a:chOff x="0" y="0"/>
          <a:chExt cx="0" cy="0"/>
        </a:xfrm>
      </p:grpSpPr>
      <p:sp>
        <p:nvSpPr>
          <p:cNvPr id="51" name="Shape 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type="pic" idx="2"/>
          </p:nvPr>
        </p:nvSpPr>
        <p:spPr>
          <a:xfrm>
            <a:off x="3887391" y="740569"/>
            <a:ext cx="4629150" cy="3655219"/>
          </a:xfrm>
          <a:prstGeom prst="rect">
            <a:avLst/>
          </a:prstGeom>
          <a:noFill/>
          <a:ln>
            <a:noFill/>
          </a:ln>
        </p:spPr>
      </p:sp>
      <p:sp>
        <p:nvSpPr>
          <p:cNvPr id="64" name="Shape 26"/>
          <p:cNvSpPr txBox="1"/>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8" name="Shape 3"/>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9" name="Shape 4"/>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0" name="Shape 5"/>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8" Type="http://schemas.openxmlformats.org/officeDocument/2006/relationships/notesSlide" Target="../notesSlides/notesSlide3.xml"/><Relationship Id="rId7" Type="http://schemas.openxmlformats.org/officeDocument/2006/relationships/slideLayout" Target="../slideLayouts/slideLayout12.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14.svg"/><Relationship Id="rId7" Type="http://schemas.openxmlformats.org/officeDocument/2006/relationships/image" Target="../media/image13.png"/><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0.svg"/><Relationship Id="rId3" Type="http://schemas.openxmlformats.org/officeDocument/2006/relationships/image" Target="../media/image9.png"/><Relationship Id="rId2" Type="http://schemas.openxmlformats.org/officeDocument/2006/relationships/image" Target="../media/image8.svg"/><Relationship Id="rId10" Type="http://schemas.openxmlformats.org/officeDocument/2006/relationships/notesSlide" Target="../notesSlides/notesSlide4.xml"/><Relationship Id="rId1" Type="http://schemas.openxmlformats.org/officeDocument/2006/relationships/image" Target="../media/image7.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9" Type="http://schemas.openxmlformats.org/officeDocument/2006/relationships/image" Target="../media/image23.png"/><Relationship Id="rId8" Type="http://schemas.openxmlformats.org/officeDocument/2006/relationships/image" Target="../media/image22.svg"/><Relationship Id="rId7" Type="http://schemas.openxmlformats.org/officeDocument/2006/relationships/image" Target="../media/image21.png"/><Relationship Id="rId6" Type="http://schemas.openxmlformats.org/officeDocument/2006/relationships/image" Target="../media/image20.svg"/><Relationship Id="rId5" Type="http://schemas.openxmlformats.org/officeDocument/2006/relationships/image" Target="../media/image19.png"/><Relationship Id="rId4" Type="http://schemas.openxmlformats.org/officeDocument/2006/relationships/image" Target="../media/image18.svg"/><Relationship Id="rId3" Type="http://schemas.openxmlformats.org/officeDocument/2006/relationships/image" Target="../media/image17.png"/><Relationship Id="rId2" Type="http://schemas.openxmlformats.org/officeDocument/2006/relationships/image" Target="../media/image16.svg"/><Relationship Id="rId12" Type="http://schemas.openxmlformats.org/officeDocument/2006/relationships/notesSlide" Target="../notesSlides/notesSlide7.xml"/><Relationship Id="rId11" Type="http://schemas.openxmlformats.org/officeDocument/2006/relationships/slideLayout" Target="../slideLayouts/slideLayout12.xml"/><Relationship Id="rId10" Type="http://schemas.openxmlformats.org/officeDocument/2006/relationships/image" Target="../media/image24.svg"/><Relationship Id="rId1" Type="http://schemas.openxmlformats.org/officeDocument/2006/relationships/image" Target="../media/image15.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32.svg"/><Relationship Id="rId7" Type="http://schemas.openxmlformats.org/officeDocument/2006/relationships/image" Target="../media/image31.png"/><Relationship Id="rId6" Type="http://schemas.openxmlformats.org/officeDocument/2006/relationships/image" Target="../media/image30.svg"/><Relationship Id="rId5" Type="http://schemas.openxmlformats.org/officeDocument/2006/relationships/image" Target="../media/image29.png"/><Relationship Id="rId4" Type="http://schemas.openxmlformats.org/officeDocument/2006/relationships/image" Target="../media/image28.svg"/><Relationship Id="rId3" Type="http://schemas.openxmlformats.org/officeDocument/2006/relationships/image" Target="../media/image27.png"/><Relationship Id="rId2" Type="http://schemas.openxmlformats.org/officeDocument/2006/relationships/image" Target="../media/image26.svg"/><Relationship Id="rId10" Type="http://schemas.openxmlformats.org/officeDocument/2006/relationships/notesSlide" Target="../notesSlides/notesSlide9.xml"/><Relationship Id="rId1" Type="http://schemas.openxmlformats.org/officeDocument/2006/relationships/image" Target="../media/image25.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8" Type="http://schemas.openxmlformats.org/officeDocument/2006/relationships/notesSlide" Target="../notesSlides/notesSlide11.xml"/><Relationship Id="rId7" Type="http://schemas.openxmlformats.org/officeDocument/2006/relationships/slideLayout" Target="../slideLayouts/slideLayout12.xml"/><Relationship Id="rId6" Type="http://schemas.openxmlformats.org/officeDocument/2006/relationships/image" Target="../media/image38.svg"/><Relationship Id="rId5" Type="http://schemas.openxmlformats.org/officeDocument/2006/relationships/image" Target="../media/image37.png"/><Relationship Id="rId4" Type="http://schemas.openxmlformats.org/officeDocument/2006/relationships/image" Target="../media/image36.svg"/><Relationship Id="rId3" Type="http://schemas.openxmlformats.org/officeDocument/2006/relationships/image" Target="../media/image35.png"/><Relationship Id="rId2" Type="http://schemas.openxmlformats.org/officeDocument/2006/relationships/image" Target="../media/image34.svg"/><Relationship Id="rId1" Type="http://schemas.openxmlformats.org/officeDocument/2006/relationships/image" Target="../media/image33.png"/></Relationships>
</file>

<file path=ppt/slides/_rels/slide12.xml.rels><?xml version="1.0" encoding="UTF-8" standalone="yes"?>
<Relationships xmlns="http://schemas.openxmlformats.org/package/2006/relationships"><Relationship Id="rId9" Type="http://schemas.openxmlformats.org/officeDocument/2006/relationships/image" Target="../media/image47.png"/><Relationship Id="rId8" Type="http://schemas.openxmlformats.org/officeDocument/2006/relationships/image" Target="../media/image46.svg"/><Relationship Id="rId7" Type="http://schemas.openxmlformats.org/officeDocument/2006/relationships/image" Target="../media/image45.png"/><Relationship Id="rId6" Type="http://schemas.openxmlformats.org/officeDocument/2006/relationships/image" Target="../media/image44.svg"/><Relationship Id="rId5" Type="http://schemas.openxmlformats.org/officeDocument/2006/relationships/image" Target="../media/image43.png"/><Relationship Id="rId4" Type="http://schemas.openxmlformats.org/officeDocument/2006/relationships/image" Target="../media/image42.svg"/><Relationship Id="rId3" Type="http://schemas.openxmlformats.org/officeDocument/2006/relationships/image" Target="../media/image41.png"/><Relationship Id="rId2" Type="http://schemas.openxmlformats.org/officeDocument/2006/relationships/image" Target="../media/image40.svg"/><Relationship Id="rId12" Type="http://schemas.openxmlformats.org/officeDocument/2006/relationships/notesSlide" Target="../notesSlides/notesSlide12.xml"/><Relationship Id="rId11" Type="http://schemas.openxmlformats.org/officeDocument/2006/relationships/slideLayout" Target="../slideLayouts/slideLayout12.xml"/><Relationship Id="rId10" Type="http://schemas.openxmlformats.org/officeDocument/2006/relationships/image" Target="../media/image48.svg"/><Relationship Id="rId1" Type="http://schemas.openxmlformats.org/officeDocument/2006/relationships/image" Target="../media/image39.png"/></Relationships>
</file>

<file path=ppt/slides/_rels/slide13.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56.svg"/><Relationship Id="rId7" Type="http://schemas.openxmlformats.org/officeDocument/2006/relationships/image" Target="../media/image55.png"/><Relationship Id="rId6" Type="http://schemas.openxmlformats.org/officeDocument/2006/relationships/image" Target="../media/image54.svg"/><Relationship Id="rId5" Type="http://schemas.openxmlformats.org/officeDocument/2006/relationships/image" Target="../media/image53.png"/><Relationship Id="rId4" Type="http://schemas.openxmlformats.org/officeDocument/2006/relationships/image" Target="../media/image52.svg"/><Relationship Id="rId3" Type="http://schemas.openxmlformats.org/officeDocument/2006/relationships/image" Target="../media/image51.png"/><Relationship Id="rId2" Type="http://schemas.openxmlformats.org/officeDocument/2006/relationships/image" Target="../media/image50.svg"/><Relationship Id="rId10" Type="http://schemas.openxmlformats.org/officeDocument/2006/relationships/notesSlide" Target="../notesSlides/notesSlide13.xml"/><Relationship Id="rId1" Type="http://schemas.openxmlformats.org/officeDocument/2006/relationships/image" Target="../media/image49.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64.svg"/><Relationship Id="rId7" Type="http://schemas.openxmlformats.org/officeDocument/2006/relationships/image" Target="../media/image63.png"/><Relationship Id="rId6" Type="http://schemas.openxmlformats.org/officeDocument/2006/relationships/image" Target="../media/image62.svg"/><Relationship Id="rId5" Type="http://schemas.openxmlformats.org/officeDocument/2006/relationships/image" Target="../media/image61.png"/><Relationship Id="rId4" Type="http://schemas.openxmlformats.org/officeDocument/2006/relationships/image" Target="../media/image60.svg"/><Relationship Id="rId3" Type="http://schemas.openxmlformats.org/officeDocument/2006/relationships/image" Target="../media/image59.png"/><Relationship Id="rId2" Type="http://schemas.openxmlformats.org/officeDocument/2006/relationships/image" Target="../media/image58.svg"/><Relationship Id="rId10" Type="http://schemas.openxmlformats.org/officeDocument/2006/relationships/notesSlide" Target="../notesSlides/notesSlide15.xml"/><Relationship Id="rId1" Type="http://schemas.openxmlformats.org/officeDocument/2006/relationships/image" Target="../media/image57.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6" Type="http://schemas.openxmlformats.org/officeDocument/2006/relationships/notesSlide" Target="../notesSlides/notesSlide18.xml"/><Relationship Id="rId5" Type="http://schemas.openxmlformats.org/officeDocument/2006/relationships/slideLayout" Target="../slideLayouts/slideLayout12.xml"/><Relationship Id="rId4" Type="http://schemas.openxmlformats.org/officeDocument/2006/relationships/image" Target="../media/image68.svg"/><Relationship Id="rId3" Type="http://schemas.openxmlformats.org/officeDocument/2006/relationships/image" Target="../media/image67.png"/><Relationship Id="rId2" Type="http://schemas.openxmlformats.org/officeDocument/2006/relationships/image" Target="../media/image66.svg"/><Relationship Id="rId1" Type="http://schemas.openxmlformats.org/officeDocument/2006/relationships/image" Target="../media/image65.png"/></Relationships>
</file>

<file path=ppt/slides/_rels/slide19.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8" Type="http://schemas.openxmlformats.org/officeDocument/2006/relationships/notesSlide" Target="../notesSlides/notesSlide19.xml"/><Relationship Id="rId17" Type="http://schemas.openxmlformats.org/officeDocument/2006/relationships/slideLayout" Target="../slideLayouts/slideLayout12.xml"/><Relationship Id="rId16" Type="http://schemas.openxmlformats.org/officeDocument/2006/relationships/image" Target="../media/image70.svg"/><Relationship Id="rId15" Type="http://schemas.openxmlformats.org/officeDocument/2006/relationships/image" Target="../media/image69.png"/><Relationship Id="rId14" Type="http://schemas.openxmlformats.org/officeDocument/2006/relationships/tags" Target="../tags/tag14.xml"/><Relationship Id="rId13" Type="http://schemas.openxmlformats.org/officeDocument/2006/relationships/tags" Target="../tags/tag13.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1016000"/>
            <a:ext cx="3810000" cy="3810000"/>
          </a:xfrm>
          <a:prstGeom prst="ellipse">
            <a:avLst/>
          </a:prstGeom>
          <a:solidFill>
            <a:srgbClr val="1B5E20">
              <a:alpha val="5000"/>
            </a:srgbClr>
          </a:solidFill>
          <a:ln cap="flat" cmpd="sng">
            <a:solidFill>
              <a:srgbClr val="0D4511">
                <a:alpha val="5000"/>
              </a:srgbClr>
            </a:solidFill>
            <a:prstDash val="solid"/>
            <a:round/>
          </a:ln>
        </p:spPr>
        <p:txBody>
          <a:bodyPr vert="horz" wrap="square" lIns="63500" tIns="63500" rIns="63500" bIns="63500" rtlCol="0" anchor="ctr"/>
          <a:lstStyle/>
          <a:p>
            <a:pPr algn="ctr">
              <a:defRPr/>
            </a:pPr>
          </a:p>
        </p:txBody>
      </p:sp>
      <p:sp>
        <p:nvSpPr>
          <p:cNvPr id="3" name="AutoShape 3"/>
          <p:cNvSpPr/>
          <p:nvPr/>
        </p:nvSpPr>
        <p:spPr>
          <a:xfrm>
            <a:off x="0" y="0"/>
            <a:ext cx="1397000" cy="6858000"/>
          </a:xfrm>
          <a:prstGeom prst="roundRect">
            <a:avLst>
              <a:gd name="adj" fmla="val 0"/>
            </a:avLst>
          </a:prstGeom>
          <a:solidFill>
            <a:srgbClr val="1B5E20">
              <a:alpha val="100000"/>
            </a:srgbClr>
          </a:solidFill>
          <a:ln cap="flat" cmpd="sng">
            <a:solidFill>
              <a:srgbClr val="0D4511">
                <a:alpha val="100000"/>
              </a:srgbClr>
            </a:solidFill>
            <a:prstDash val="solid"/>
            <a:round/>
          </a:ln>
        </p:spPr>
        <p:txBody>
          <a:bodyPr vert="horz" wrap="square" lIns="63500" tIns="63500" rIns="63500" bIns="63500" rtlCol="0" anchor="ctr"/>
          <a:lstStyle/>
          <a:p>
            <a:pPr algn="ctr">
              <a:defRPr/>
            </a:pPr>
          </a:p>
        </p:txBody>
      </p:sp>
      <p:sp>
        <p:nvSpPr>
          <p:cNvPr id="4" name="AutoShape 4"/>
          <p:cNvSpPr/>
          <p:nvPr/>
        </p:nvSpPr>
        <p:spPr>
          <a:xfrm>
            <a:off x="1079500" y="2032000"/>
            <a:ext cx="762000" cy="2794000"/>
          </a:xfrm>
          <a:prstGeom prst="roundRect">
            <a:avLst>
              <a:gd name="adj" fmla="val 0"/>
            </a:avLst>
          </a:prstGeom>
          <a:solidFill>
            <a:srgbClr val="1B5E20">
              <a:alpha val="15000"/>
            </a:srgbClr>
          </a:solidFill>
          <a:ln cap="flat" cmpd="sng">
            <a:solidFill>
              <a:srgbClr val="0D4511">
                <a:alpha val="15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762000" y="5461000"/>
            <a:ext cx="889000" cy="889000"/>
          </a:xfrm>
          <a:prstGeom prst="ellipse">
            <a:avLst/>
          </a:prstGeom>
          <a:solidFill>
            <a:srgbClr val="FFFFFF">
              <a:alpha val="10000"/>
            </a:srgbClr>
          </a:solidFill>
          <a:ln cap="flat" cmpd="sng">
            <a:solidFill>
              <a:srgbClr val="E6CFCF">
                <a:alpha val="10000"/>
              </a:srgbClr>
            </a:solidFill>
            <a:prstDash val="solid"/>
            <a:round/>
          </a:ln>
        </p:spPr>
        <p:txBody>
          <a:bodyPr vert="horz" wrap="square" lIns="63500" tIns="63500" rIns="63500" bIns="63500" rtlCol="0" anchor="ctr"/>
          <a:lstStyle/>
          <a:p>
            <a:pPr algn="ctr">
              <a:defRPr/>
            </a:pPr>
          </a:p>
        </p:txBody>
      </p:sp>
      <p:sp>
        <p:nvSpPr>
          <p:cNvPr id="6" name="AutoShape 6"/>
          <p:cNvSpPr/>
          <p:nvPr/>
        </p:nvSpPr>
        <p:spPr>
          <a:xfrm rot="899999">
            <a:off x="11176000" y="381000"/>
            <a:ext cx="762000" cy="762000"/>
          </a:xfrm>
          <a:prstGeom prst="triangle">
            <a:avLst/>
          </a:prstGeom>
          <a:solidFill>
            <a:srgbClr val="1B5E20">
              <a:alpha val="8000"/>
            </a:srgbClr>
          </a:solidFill>
          <a:ln cap="flat" cmpd="sng">
            <a:solidFill>
              <a:srgbClr val="0D4511">
                <a:alpha val="8000"/>
              </a:srgbClr>
            </a:solidFill>
            <a:prstDash val="solid"/>
            <a:round/>
          </a:ln>
        </p:spPr>
        <p:txBody>
          <a:bodyPr vert="horz" wrap="square" lIns="63500" tIns="63500" rIns="63500" bIns="63500" rtlCol="0" anchor="ctr"/>
          <a:lstStyle/>
          <a:p>
            <a:pPr algn="ctr">
              <a:defRPr/>
            </a:pPr>
          </a:p>
        </p:txBody>
      </p:sp>
      <p:sp>
        <p:nvSpPr>
          <p:cNvPr id="7" name="AutoShape 7"/>
          <p:cNvSpPr/>
          <p:nvPr/>
        </p:nvSpPr>
        <p:spPr>
          <a:xfrm>
            <a:off x="2286000" y="1905000"/>
            <a:ext cx="9144000" cy="1905000"/>
          </a:xfrm>
          <a:prstGeom prst="rect">
            <a:avLst/>
          </a:prstGeom>
          <a:noFill/>
          <a:ln w="12700" cap="flat" cmpd="sng">
            <a:noFill/>
            <a:prstDash val="solid"/>
            <a:round/>
          </a:ln>
        </p:spPr>
        <p:txBody>
          <a:bodyPr vert="horz" wrap="square" lIns="0" tIns="0" rIns="0" bIns="0" rtlCol="0" anchor="ctr" anchorCtr="0"/>
          <a:lstStyle/>
          <a:p>
            <a:pPr marL="0" indent="0" algn="l">
              <a:lnSpc>
                <a:spcPct val="92000"/>
              </a:lnSpc>
              <a:defRPr/>
            </a:pPr>
            <a:r>
              <a:rPr lang="en-US" sz="4800" b="1" i="0" u="none" strike="noStrike">
                <a:solidFill>
                  <a:srgbClr val="1B5E20"/>
                </a:solidFill>
                <a:latin typeface="Noto Sans SC" panose="020B0200000000000000" charset="-122"/>
                <a:ea typeface="Noto Sans SC" panose="020B0200000000000000" charset="-122"/>
                <a:cs typeface="Noto Sans SC" panose="020B0200000000000000" charset="-122"/>
                <a:sym typeface="Noto Sans SC" panose="020B0200000000000000" charset="-122"/>
              </a:rPr>
              <a:t>Oracle高效索引</a:t>
            </a:r>
            <a:br>
              <a:rPr lang="en-US" sz="4800" b="1" i="0" u="none" strike="noStrike">
                <a:solidFill>
                  <a:srgbClr val="1B5E20"/>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4800" b="1" i="0" u="none" strike="noStrike">
                <a:solidFill>
                  <a:srgbClr val="1B5E20"/>
                </a:solidFill>
                <a:latin typeface="Noto Sans SC" panose="020B0200000000000000" charset="-122"/>
                <a:ea typeface="Noto Sans SC" panose="020B0200000000000000" charset="-122"/>
                <a:cs typeface="Noto Sans SC" panose="020B0200000000000000" charset="-122"/>
                <a:sym typeface="Noto Sans SC" panose="020B0200000000000000" charset="-122"/>
              </a:rPr>
              <a:t>设计与优化</a:t>
            </a:r>
            <a:endParaRPr lang="en-US" sz="1100"/>
          </a:p>
        </p:txBody>
      </p:sp>
      <p:sp>
        <p:nvSpPr>
          <p:cNvPr id="8" name="AutoShape 8"/>
          <p:cNvSpPr/>
          <p:nvPr/>
        </p:nvSpPr>
        <p:spPr>
          <a:xfrm>
            <a:off x="2286000" y="4000500"/>
            <a:ext cx="9144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endParaRPr lang="en-US" sz="1100"/>
          </a:p>
        </p:txBody>
      </p:sp>
      <p:sp>
        <p:nvSpPr>
          <p:cNvPr id="9" name="AutoShape 9"/>
          <p:cNvSpPr/>
          <p:nvPr/>
        </p:nvSpPr>
        <p:spPr>
          <a:xfrm>
            <a:off x="2286000" y="5080000"/>
            <a:ext cx="6604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endParaRPr lang="en-US" sz="1100"/>
          </a:p>
        </p:txBody>
      </p:sp>
      <p:sp>
        <p:nvSpPr>
          <p:cNvPr id="10" name="AutoShape 10"/>
          <p:cNvSpPr/>
          <p:nvPr/>
        </p:nvSpPr>
        <p:spPr>
          <a:xfrm>
            <a:off x="9271000" y="5080000"/>
            <a:ext cx="1270000" cy="635000"/>
          </a:xfrm>
          <a:prstGeom prst="roundRect">
            <a:avLst>
              <a:gd name="adj" fmla="val 0"/>
            </a:avLst>
          </a:prstGeom>
          <a:solidFill>
            <a:srgbClr val="1B5E20">
              <a:alpha val="6000"/>
            </a:srgbClr>
          </a:solidFill>
          <a:ln w="12700" cap="flat" cmpd="sng">
            <a:solidFill>
              <a:srgbClr val="1B5E20">
                <a:alpha val="20000"/>
              </a:srgbClr>
            </a:solidFill>
            <a:prstDash val="solid"/>
            <a:round/>
          </a:ln>
        </p:spPr>
        <p:txBody>
          <a:bodyPr vert="horz" wrap="square" lIns="63500" tIns="63500" rIns="63500" bIns="63500" rtlCol="0" anchor="ctr"/>
          <a:lstStyle/>
          <a:p>
            <a:pPr algn="ctr">
              <a:defRPr/>
            </a:pPr>
          </a:p>
        </p:txBody>
      </p:sp>
      <p:sp>
        <p:nvSpPr>
          <p:cNvPr id="11" name="AutoShape 11"/>
          <p:cNvSpPr/>
          <p:nvPr/>
        </p:nvSpPr>
        <p:spPr>
          <a:xfrm>
            <a:off x="8890000" y="5842000"/>
            <a:ext cx="889000" cy="508000"/>
          </a:xfrm>
          <a:prstGeom prst="roundRect">
            <a:avLst>
              <a:gd name="adj" fmla="val 0"/>
            </a:avLst>
          </a:prstGeom>
          <a:solidFill>
            <a:srgbClr val="1B5E20">
              <a:alpha val="9000"/>
            </a:srgbClr>
          </a:solidFill>
          <a:ln w="12700" cap="flat" cmpd="sng">
            <a:solidFill>
              <a:srgbClr val="1B5E20">
                <a:alpha val="20000"/>
              </a:srgbClr>
            </a:solidFill>
            <a:prstDash val="solid"/>
            <a:round/>
          </a:ln>
        </p:spPr>
        <p:txBody>
          <a:bodyPr vert="horz" wrap="square" lIns="63500" tIns="63500" rIns="63500" bIns="63500" rtlCol="0" anchor="ctr"/>
          <a:lstStyle/>
          <a:p>
            <a:pPr algn="ctr">
              <a:defRPr/>
            </a:pPr>
          </a:p>
        </p:txBody>
      </p:sp>
      <p:sp>
        <p:nvSpPr>
          <p:cNvPr id="12" name="AutoShape 12"/>
          <p:cNvSpPr/>
          <p:nvPr/>
        </p:nvSpPr>
        <p:spPr>
          <a:xfrm>
            <a:off x="10287000" y="5842000"/>
            <a:ext cx="889000" cy="508000"/>
          </a:xfrm>
          <a:prstGeom prst="roundRect">
            <a:avLst>
              <a:gd name="adj" fmla="val 0"/>
            </a:avLst>
          </a:prstGeom>
          <a:solidFill>
            <a:srgbClr val="1B5E20">
              <a:alpha val="9000"/>
            </a:srgbClr>
          </a:solidFill>
          <a:ln w="12700" cap="flat" cmpd="sng">
            <a:solidFill>
              <a:srgbClr val="1B5E20">
                <a:alpha val="20000"/>
              </a:srgbClr>
            </a:solidFill>
            <a:prstDash val="solid"/>
            <a:round/>
          </a:ln>
        </p:spPr>
        <p:txBody>
          <a:bodyPr vert="horz" wrap="square" lIns="63500" tIns="63500" rIns="63500" bIns="63500" rtlCol="0" anchor="ctr"/>
          <a:lstStyle/>
          <a:p>
            <a:pPr algn="ctr">
              <a:defRPr/>
            </a:pPr>
          </a:p>
        </p:txBody>
      </p:sp>
      <p:cxnSp>
        <p:nvCxnSpPr>
          <p:cNvPr id="13" name="Connector 13"/>
          <p:cNvCxnSpPr/>
          <p:nvPr/>
        </p:nvCxnSpPr>
        <p:spPr>
          <a:xfrm rot="9973708">
            <a:off x="9327462" y="5772165"/>
            <a:ext cx="585441" cy="12700"/>
          </a:xfrm>
          <a:prstGeom prst="line">
            <a:avLst/>
          </a:prstGeom>
          <a:solidFill>
            <a:srgbClr val="DEE0E3">
              <a:alpha val="100000"/>
            </a:srgbClr>
          </a:solidFill>
          <a:ln w="12700" cap="flat" cmpd="sng">
            <a:solidFill>
              <a:srgbClr val="1B5E20">
                <a:alpha val="30000"/>
              </a:srgbClr>
            </a:solidFill>
            <a:prstDash val="solid"/>
            <a:round/>
            <a:headEnd type="none" w="med" len="med"/>
            <a:tailEnd type="none" w="med" len="med"/>
          </a:ln>
        </p:spPr>
      </p:cxnSp>
      <p:cxnSp>
        <p:nvCxnSpPr>
          <p:cNvPr id="14" name="Connector 14"/>
          <p:cNvCxnSpPr/>
          <p:nvPr/>
        </p:nvCxnSpPr>
        <p:spPr>
          <a:xfrm rot="472500">
            <a:off x="9901192" y="5772157"/>
            <a:ext cx="835212" cy="12700"/>
          </a:xfrm>
          <a:prstGeom prst="line">
            <a:avLst/>
          </a:prstGeom>
          <a:solidFill>
            <a:srgbClr val="DEE0E3">
              <a:alpha val="100000"/>
            </a:srgbClr>
          </a:solidFill>
          <a:ln w="12700" cap="flat" cmpd="sng">
            <a:solidFill>
              <a:srgbClr val="1B5E20">
                <a:alpha val="30000"/>
              </a:srgbClr>
            </a:solidFill>
            <a:prstDash val="solid"/>
            <a:round/>
            <a:headEnd type="none" w="med" len="med"/>
            <a:tailEnd type="none" w="med" len="med"/>
          </a:ln>
        </p:spPr>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524000" cy="6858000"/>
          </a:xfrm>
          <a:prstGeom prst="roundRect">
            <a:avLst>
              <a:gd name="adj" fmla="val 0"/>
            </a:avLst>
          </a:prstGeom>
          <a:solidFill>
            <a:srgbClr val="0F766E">
              <a:alpha val="100000"/>
            </a:srgbClr>
          </a:solidFill>
          <a:ln cap="flat" cmpd="sng">
            <a:solidFill>
              <a:srgbClr val="035D56">
                <a:alpha val="100000"/>
              </a:srgbClr>
            </a:solidFill>
            <a:prstDash val="solid"/>
            <a:round/>
          </a:ln>
        </p:spPr>
        <p:txBody>
          <a:bodyPr vert="horz" wrap="square" lIns="63500" tIns="63500" rIns="63500" bIns="63500" rtlCol="0" anchor="ctr"/>
          <a:lstStyle/>
          <a:p>
            <a:pPr algn="ctr">
              <a:defRPr/>
            </a:pPr>
          </a:p>
        </p:txBody>
      </p:sp>
      <p:sp>
        <p:nvSpPr>
          <p:cNvPr id="3" name="AutoShape 3"/>
          <p:cNvSpPr/>
          <p:nvPr/>
        </p:nvSpPr>
        <p:spPr>
          <a:xfrm>
            <a:off x="0" y="4953000"/>
            <a:ext cx="1524000" cy="1524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800" b="1" i="0" u="none" strike="noStrike">
                <a:solidFill>
                  <a:srgbClr val="FFFFFF">
                    <a:alpha val="2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DB</a:t>
            </a:r>
            <a:endParaRPr lang="en-US" sz="1100"/>
          </a:p>
        </p:txBody>
      </p:sp>
      <p:sp>
        <p:nvSpPr>
          <p:cNvPr id="4" name="AutoShape 4"/>
          <p:cNvSpPr/>
          <p:nvPr/>
        </p:nvSpPr>
        <p:spPr>
          <a:xfrm>
            <a:off x="1905000" y="508000"/>
            <a:ext cx="9906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600" b="1" i="0" u="none" strike="noStrike">
                <a:solidFill>
                  <a:srgbClr val="0F766E"/>
                </a:solidFill>
                <a:latin typeface="Noto Sans SC" panose="020B0200000000000000" charset="-122"/>
                <a:ea typeface="Noto Sans SC" panose="020B0200000000000000" charset="-122"/>
                <a:cs typeface="Noto Sans SC" panose="020B0200000000000000" charset="-122"/>
                <a:sym typeface="Noto Sans SC" panose="020B0200000000000000" charset="-122"/>
              </a:rPr>
              <a:t>目录</a:t>
            </a:r>
            <a:r>
              <a:rPr lang="en-US" sz="2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CONTENTS</a:t>
            </a:r>
            <a:endParaRPr lang="en-US" sz="1100"/>
          </a:p>
        </p:txBody>
      </p:sp>
      <p:sp>
        <p:nvSpPr>
          <p:cNvPr id="5" name="AutoShape 5"/>
          <p:cNvSpPr/>
          <p:nvPr/>
        </p:nvSpPr>
        <p:spPr>
          <a:xfrm>
            <a:off x="2286000" y="2286000"/>
            <a:ext cx="50800" cy="1143000"/>
          </a:xfrm>
          <a:prstGeom prst="roundRect">
            <a:avLst>
              <a:gd name="adj" fmla="val 0"/>
            </a:avLst>
          </a:prstGeom>
          <a:solidFill>
            <a:srgbClr val="0F766E">
              <a:alpha val="100000"/>
            </a:srgbClr>
          </a:solidFill>
          <a:ln cap="flat" cmpd="sng">
            <a:solidFill>
              <a:srgbClr val="035D56">
                <a:alpha val="100000"/>
              </a:srgbClr>
            </a:solidFill>
            <a:prstDash val="solid"/>
            <a:round/>
          </a:ln>
        </p:spPr>
        <p:txBody>
          <a:bodyPr vert="horz" wrap="square" lIns="0" tIns="0" rIns="0" bIns="0" rtlCol="0" anchor="ctr" anchorCtr="0"/>
          <a:lstStyle/>
          <a:p>
            <a:pPr algn="ctr">
              <a:defRPr/>
            </a:pPr>
          </a:p>
        </p:txBody>
      </p:sp>
      <p:sp>
        <p:nvSpPr>
          <p:cNvPr id="6" name="AutoShape 6"/>
          <p:cNvSpPr/>
          <p:nvPr/>
        </p:nvSpPr>
        <p:spPr>
          <a:xfrm>
            <a:off x="2476500" y="2286000"/>
            <a:ext cx="4064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2800" b="1" i="0" u="none" strike="noStrike">
                <a:solidFill>
                  <a:srgbClr val="0F766E"/>
                </a:solidFill>
                <a:latin typeface="Noto Sans SC" panose="020B0200000000000000" charset="-122"/>
                <a:ea typeface="Noto Sans SC" panose="020B0200000000000000" charset="-122"/>
                <a:cs typeface="Noto Sans SC" panose="020B0200000000000000" charset="-122"/>
                <a:sym typeface="Noto Sans SC" panose="020B0200000000000000" charset="-122"/>
              </a:rPr>
              <a:t>01</a:t>
            </a:r>
            <a:r>
              <a:rPr lang="en-US" sz="16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索引基础概念</a:t>
            </a:r>
            <a:endParaRPr lang="en-US" sz="1100"/>
          </a:p>
          <a:p>
            <a:pPr marL="0" indent="0" algn="l">
              <a:lnSpc>
                <a:spcPct val="108000"/>
              </a:lnSpc>
            </a:pP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解析数据库索引的底层存储逻辑与检索原理，理解索引对查询性能的本质影响，建立系统化的认知基础。</a:t>
            </a:r>
            <a:endPar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7" name="AutoShape 7"/>
          <p:cNvSpPr/>
          <p:nvPr/>
        </p:nvSpPr>
        <p:spPr>
          <a:xfrm>
            <a:off x="2286000" y="3937000"/>
            <a:ext cx="50800" cy="1143000"/>
          </a:xfrm>
          <a:prstGeom prst="roundRect">
            <a:avLst>
              <a:gd name="adj" fmla="val 0"/>
            </a:avLst>
          </a:prstGeom>
          <a:solidFill>
            <a:srgbClr val="0F766E">
              <a:alpha val="100000"/>
            </a:srgbClr>
          </a:solidFill>
          <a:ln cap="flat" cmpd="sng">
            <a:solidFill>
              <a:srgbClr val="035D56">
                <a:alpha val="100000"/>
              </a:srgbClr>
            </a:solidFill>
            <a:prstDash val="solid"/>
            <a:round/>
          </a:ln>
        </p:spPr>
        <p:txBody>
          <a:bodyPr vert="horz" wrap="square" lIns="0" tIns="0" rIns="0" bIns="0" rtlCol="0" anchor="ctr" anchorCtr="0"/>
          <a:lstStyle/>
          <a:p>
            <a:pPr algn="ctr">
              <a:defRPr/>
            </a:pPr>
          </a:p>
        </p:txBody>
      </p:sp>
      <p:sp>
        <p:nvSpPr>
          <p:cNvPr id="8" name="AutoShape 8"/>
          <p:cNvSpPr/>
          <p:nvPr/>
        </p:nvSpPr>
        <p:spPr>
          <a:xfrm>
            <a:off x="2476500" y="3937000"/>
            <a:ext cx="4064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2800" b="1" i="0" u="none" strike="noStrike">
                <a:solidFill>
                  <a:srgbClr val="0F766E"/>
                </a:solidFill>
                <a:latin typeface="Noto Sans SC" panose="020B0200000000000000" charset="-122"/>
                <a:ea typeface="Noto Sans SC" panose="020B0200000000000000" charset="-122"/>
                <a:cs typeface="Noto Sans SC" panose="020B0200000000000000" charset="-122"/>
                <a:sym typeface="Noto Sans SC" panose="020B0200000000000000" charset="-122"/>
              </a:rPr>
              <a:t>02</a:t>
            </a:r>
            <a:r>
              <a:rPr lang="en-US" sz="16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Oracle索引类型详解</a:t>
            </a:r>
            <a:endParaRPr lang="en-US" sz="1100"/>
          </a:p>
          <a:p>
            <a:pPr marL="0" indent="0" algn="l">
              <a:lnSpc>
                <a:spcPct val="108000"/>
              </a:lnSpc>
            </a:pP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深入拆解B树、位图、函数索引、分区索引等核心类型，对比各类型的适用场景与性能差异，掌握选型依据。</a:t>
            </a:r>
            <a:endPar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9" name="AutoShape 9"/>
          <p:cNvSpPr/>
          <p:nvPr/>
        </p:nvSpPr>
        <p:spPr>
          <a:xfrm>
            <a:off x="2286000" y="5461000"/>
            <a:ext cx="50800" cy="1143000"/>
          </a:xfrm>
          <a:prstGeom prst="roundRect">
            <a:avLst>
              <a:gd name="adj" fmla="val 0"/>
            </a:avLst>
          </a:prstGeom>
          <a:solidFill>
            <a:srgbClr val="0F766E">
              <a:alpha val="100000"/>
            </a:srgbClr>
          </a:solidFill>
          <a:ln cap="flat" cmpd="sng">
            <a:solidFill>
              <a:srgbClr val="035D56">
                <a:alpha val="100000"/>
              </a:srgbClr>
            </a:solidFill>
            <a:prstDash val="solid"/>
            <a:round/>
          </a:ln>
        </p:spPr>
        <p:txBody>
          <a:bodyPr vert="horz" wrap="square" lIns="0" tIns="0" rIns="0" bIns="0" rtlCol="0" anchor="ctr" anchorCtr="0"/>
          <a:lstStyle/>
          <a:p>
            <a:pPr algn="ctr">
              <a:defRPr/>
            </a:pPr>
          </a:p>
        </p:txBody>
      </p:sp>
      <p:sp>
        <p:nvSpPr>
          <p:cNvPr id="10" name="AutoShape 10"/>
          <p:cNvSpPr/>
          <p:nvPr/>
        </p:nvSpPr>
        <p:spPr>
          <a:xfrm>
            <a:off x="2476500" y="5461000"/>
            <a:ext cx="4064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2800" b="1" i="0" u="none" strike="noStrike">
                <a:solidFill>
                  <a:srgbClr val="0F766E"/>
                </a:solidFill>
                <a:latin typeface="Noto Sans SC" panose="020B0200000000000000" charset="-122"/>
                <a:ea typeface="Noto Sans SC" panose="020B0200000000000000" charset="-122"/>
                <a:cs typeface="Noto Sans SC" panose="020B0200000000000000" charset="-122"/>
                <a:sym typeface="Noto Sans SC" panose="020B0200000000000000" charset="-122"/>
              </a:rPr>
              <a:t>03</a:t>
            </a:r>
            <a:r>
              <a:rPr lang="en-US" sz="16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索引设计核心原则</a:t>
            </a:r>
            <a:endParaRPr lang="en-US" sz="1100"/>
          </a:p>
          <a:p>
            <a:pPr marL="0" indent="0" algn="l">
              <a:lnSpc>
                <a:spcPct val="108000"/>
              </a:lnSpc>
            </a:pP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探究高并发场景下的索引设计黄金法则，规避过度索引、字段顺序错误等常见设计陷阱，平衡查询与写入性能。</a:t>
            </a:r>
            <a:endPar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1" name="AutoShape 11"/>
          <p:cNvSpPr/>
          <p:nvPr/>
        </p:nvSpPr>
        <p:spPr>
          <a:xfrm>
            <a:off x="7366000" y="3175000"/>
            <a:ext cx="50800" cy="1143000"/>
          </a:xfrm>
          <a:prstGeom prst="roundRect">
            <a:avLst>
              <a:gd name="adj" fmla="val 0"/>
            </a:avLst>
          </a:prstGeom>
          <a:solidFill>
            <a:srgbClr val="0F766E">
              <a:alpha val="100000"/>
            </a:srgbClr>
          </a:solidFill>
          <a:ln cap="flat" cmpd="sng">
            <a:solidFill>
              <a:srgbClr val="035D56">
                <a:alpha val="100000"/>
              </a:srgbClr>
            </a:solidFill>
            <a:prstDash val="solid"/>
            <a:round/>
          </a:ln>
        </p:spPr>
        <p:txBody>
          <a:bodyPr vert="horz" wrap="square" lIns="0" tIns="0" rIns="0" bIns="0" rtlCol="0" anchor="ctr" anchorCtr="0"/>
          <a:lstStyle/>
          <a:p>
            <a:pPr algn="ctr">
              <a:defRPr/>
            </a:pPr>
          </a:p>
        </p:txBody>
      </p:sp>
      <p:sp>
        <p:nvSpPr>
          <p:cNvPr id="12" name="AutoShape 12"/>
          <p:cNvSpPr/>
          <p:nvPr/>
        </p:nvSpPr>
        <p:spPr>
          <a:xfrm>
            <a:off x="7556500" y="3175000"/>
            <a:ext cx="4064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2800" b="1" i="0" u="none" strike="noStrike">
                <a:solidFill>
                  <a:srgbClr val="0F766E"/>
                </a:solidFill>
                <a:latin typeface="Noto Sans SC" panose="020B0200000000000000" charset="-122"/>
                <a:ea typeface="Noto Sans SC" panose="020B0200000000000000" charset="-122"/>
                <a:cs typeface="Noto Sans SC" panose="020B0200000000000000" charset="-122"/>
                <a:sym typeface="Noto Sans SC" panose="020B0200000000000000" charset="-122"/>
              </a:rPr>
              <a:t>04</a:t>
            </a:r>
            <a:r>
              <a:rPr lang="en-US" sz="16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索引优化实战技巧</a:t>
            </a:r>
            <a:endParaRPr lang="en-US" sz="1100"/>
          </a:p>
          <a:p>
            <a:pPr marL="0" indent="0" algn="l">
              <a:lnSpc>
                <a:spcPct val="108000"/>
              </a:lnSpc>
            </a:pP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结合真实业务慢SQL案例，实战演练索引创建、重建与合并策略，掌握针对复杂查询的索引调优组合拳。</a:t>
            </a:r>
            <a:endPar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3" name="AutoShape 13"/>
          <p:cNvSpPr/>
          <p:nvPr/>
        </p:nvSpPr>
        <p:spPr>
          <a:xfrm>
            <a:off x="7366000" y="4953000"/>
            <a:ext cx="50800" cy="1143000"/>
          </a:xfrm>
          <a:prstGeom prst="roundRect">
            <a:avLst>
              <a:gd name="adj" fmla="val 0"/>
            </a:avLst>
          </a:prstGeom>
          <a:solidFill>
            <a:srgbClr val="0F766E">
              <a:alpha val="100000"/>
            </a:srgbClr>
          </a:solidFill>
          <a:ln cap="flat" cmpd="sng">
            <a:solidFill>
              <a:srgbClr val="035D56">
                <a:alpha val="100000"/>
              </a:srgbClr>
            </a:solidFill>
            <a:prstDash val="solid"/>
            <a:round/>
          </a:ln>
        </p:spPr>
        <p:txBody>
          <a:bodyPr vert="horz" wrap="square" lIns="0" tIns="0" rIns="0" bIns="0" rtlCol="0" anchor="ctr" anchorCtr="0"/>
          <a:lstStyle/>
          <a:p>
            <a:pPr algn="ctr">
              <a:defRPr/>
            </a:pPr>
          </a:p>
        </p:txBody>
      </p:sp>
      <p:sp>
        <p:nvSpPr>
          <p:cNvPr id="14" name="AutoShape 14"/>
          <p:cNvSpPr/>
          <p:nvPr/>
        </p:nvSpPr>
        <p:spPr>
          <a:xfrm>
            <a:off x="7556500" y="4953000"/>
            <a:ext cx="4064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2800" b="1" i="0" u="none" strike="noStrike">
                <a:solidFill>
                  <a:srgbClr val="0F766E"/>
                </a:solidFill>
                <a:latin typeface="Noto Sans SC" panose="020B0200000000000000" charset="-122"/>
                <a:ea typeface="Noto Sans SC" panose="020B0200000000000000" charset="-122"/>
                <a:cs typeface="Noto Sans SC" panose="020B0200000000000000" charset="-122"/>
                <a:sym typeface="Noto Sans SC" panose="020B0200000000000000" charset="-122"/>
              </a:rPr>
              <a:t>05</a:t>
            </a:r>
            <a:r>
              <a:rPr lang="en-US" sz="16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常见误区与最佳实践</a:t>
            </a:r>
            <a:endParaRPr lang="en-US" sz="1100"/>
          </a:p>
          <a:p>
            <a:pPr marL="0" indent="0" algn="l">
              <a:lnSpc>
                <a:spcPct val="108000"/>
              </a:lnSpc>
            </a:pP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盘点开发与运维中的典型认知误区，总结金融、电商等行业的企业级索引管理规范与长期维护的最佳实践。</a:t>
            </a:r>
            <a:endPar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9525000" y="-1270000"/>
            <a:ext cx="3810000" cy="3810000"/>
          </a:xfrm>
          <a:prstGeom prst="ellipse">
            <a:avLst/>
          </a:prstGeom>
          <a:solidFill>
            <a:srgbClr val="2D7D63">
              <a:alpha val="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635000" y="5080000"/>
            <a:ext cx="2540000" cy="2540000"/>
          </a:xfrm>
          <a:prstGeom prst="ellipse">
            <a:avLst/>
          </a:prstGeom>
          <a:solidFill>
            <a:srgbClr val="2D7D63">
              <a:alpha val="5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508000" y="508000"/>
            <a:ext cx="11176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2D7D63"/>
                </a:solidFill>
                <a:latin typeface="Noto Sans SC" panose="020B0200000000000000" charset="-122"/>
                <a:ea typeface="Noto Sans SC" panose="020B0200000000000000" charset="-122"/>
                <a:cs typeface="Noto Sans SC" panose="020B0200000000000000" charset="-122"/>
                <a:sym typeface="Noto Sans SC" panose="020B0200000000000000" charset="-122"/>
              </a:rPr>
              <a:t>01 什么是数据库索引</a:t>
            </a:r>
            <a:endParaRPr lang="en-US" sz="1100"/>
          </a:p>
        </p:txBody>
      </p:sp>
      <p:sp>
        <p:nvSpPr>
          <p:cNvPr id="5" name="AutoShape 5"/>
          <p:cNvSpPr/>
          <p:nvPr/>
        </p:nvSpPr>
        <p:spPr>
          <a:xfrm>
            <a:off x="508000" y="1651000"/>
            <a:ext cx="3556000" cy="3683000"/>
          </a:xfrm>
          <a:prstGeom prst="roundRect">
            <a:avLst>
              <a:gd name="adj" fmla="val 0"/>
            </a:avLst>
          </a:prstGeom>
          <a:solidFill>
            <a:srgbClr val="FFFFFF">
              <a:alpha val="100000"/>
            </a:srgbClr>
          </a:solidFill>
          <a:ln w="12700" cap="flat" cmpd="sng">
            <a:solidFill>
              <a:srgbClr val="2D7D63">
                <a:alpha val="20000"/>
              </a:srgbClr>
            </a:solid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62000" y="1905000"/>
            <a:ext cx="457200" cy="457200"/>
          </a:xfrm>
          <a:prstGeom prst="rect">
            <a:avLst/>
          </a:prstGeom>
        </p:spPr>
      </p:pic>
      <p:sp>
        <p:nvSpPr>
          <p:cNvPr id="7" name="AutoShape 7"/>
          <p:cNvSpPr/>
          <p:nvPr/>
        </p:nvSpPr>
        <p:spPr>
          <a:xfrm>
            <a:off x="1333500" y="1930400"/>
            <a:ext cx="254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D7D63"/>
                </a:solidFill>
                <a:latin typeface="Noto Sans SC" panose="020B0200000000000000" charset="-122"/>
                <a:ea typeface="Noto Sans SC" panose="020B0200000000000000" charset="-122"/>
                <a:cs typeface="Noto Sans SC" panose="020B0200000000000000" charset="-122"/>
                <a:sym typeface="Noto Sans SC" panose="020B0200000000000000" charset="-122"/>
              </a:rPr>
              <a:t>01 索引的定义</a:t>
            </a:r>
            <a:endParaRPr lang="en-US" sz="1100"/>
          </a:p>
        </p:txBody>
      </p:sp>
      <p:cxnSp>
        <p:nvCxnSpPr>
          <p:cNvPr id="8" name="Connector 8"/>
          <p:cNvCxnSpPr/>
          <p:nvPr/>
        </p:nvCxnSpPr>
        <p:spPr>
          <a:xfrm rot="-14323">
            <a:off x="762013" y="2533650"/>
            <a:ext cx="3048000" cy="12700"/>
          </a:xfrm>
          <a:prstGeom prst="line">
            <a:avLst/>
          </a:prstGeom>
          <a:solidFill>
            <a:srgbClr val="DEE0E3">
              <a:alpha val="100000"/>
            </a:srgbClr>
          </a:solidFill>
          <a:ln w="12700" cap="flat" cmpd="sng">
            <a:solidFill>
              <a:srgbClr val="E6E6E6">
                <a:alpha val="100000"/>
              </a:srgbClr>
            </a:solidFill>
            <a:prstDash val="solid"/>
            <a:round/>
            <a:headEnd type="none" w="med" len="med"/>
            <a:tailEnd type="none" w="med" len="med"/>
          </a:ln>
        </p:spPr>
      </p:cxnSp>
      <p:sp>
        <p:nvSpPr>
          <p:cNvPr id="9" name="AutoShape 9"/>
          <p:cNvSpPr/>
          <p:nvPr/>
        </p:nvSpPr>
        <p:spPr>
          <a:xfrm>
            <a:off x="762000" y="2730500"/>
            <a:ext cx="3048000" cy="2413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索引是帮助数据库高效获取数据的有序数据结构，类比书籍的“目录”。</a:t>
            </a:r>
            <a:endParaRPr lang="en-US" sz="1100"/>
          </a:p>
          <a:p>
            <a:pPr marL="0" indent="0" algn="l">
              <a:lnSpc>
                <a:spcPct val="117000"/>
              </a:lnSpc>
            </a:pPr>
            <a:r>
              <a:rPr lang="en-US" sz="14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它通过减少磁盘I/O次数，将随机查找转换为顺序定位，从而快速找到目标数据行，避免低效的全表扫描。</a:t>
            </a:r>
            <a:endParaRPr lang="en-US" sz="14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0" name="AutoShape 10"/>
          <p:cNvSpPr/>
          <p:nvPr/>
        </p:nvSpPr>
        <p:spPr>
          <a:xfrm>
            <a:off x="4318000" y="1651000"/>
            <a:ext cx="3556000" cy="3683000"/>
          </a:xfrm>
          <a:prstGeom prst="roundRect">
            <a:avLst>
              <a:gd name="adj" fmla="val 0"/>
            </a:avLst>
          </a:prstGeom>
          <a:solidFill>
            <a:srgbClr val="FFFFFF">
              <a:alpha val="100000"/>
            </a:srgbClr>
          </a:solidFill>
          <a:ln w="12700" cap="flat" cmpd="sng">
            <a:solidFill>
              <a:srgbClr val="2D7D63">
                <a:alpha val="20000"/>
              </a:srgbClr>
            </a:solidFill>
            <a:prstDash val="solid"/>
            <a:round/>
          </a:ln>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572000" y="1905000"/>
            <a:ext cx="457200" cy="457200"/>
          </a:xfrm>
          <a:prstGeom prst="rect">
            <a:avLst/>
          </a:prstGeom>
        </p:spPr>
      </p:pic>
      <p:sp>
        <p:nvSpPr>
          <p:cNvPr id="12" name="AutoShape 12"/>
          <p:cNvSpPr/>
          <p:nvPr/>
        </p:nvSpPr>
        <p:spPr>
          <a:xfrm>
            <a:off x="5143500" y="1930400"/>
            <a:ext cx="254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D7D63"/>
                </a:solidFill>
                <a:latin typeface="Noto Sans SC" panose="020B0200000000000000" charset="-122"/>
                <a:ea typeface="Noto Sans SC" panose="020B0200000000000000" charset="-122"/>
                <a:cs typeface="Noto Sans SC" panose="020B0200000000000000" charset="-122"/>
                <a:sym typeface="Noto Sans SC" panose="020B0200000000000000" charset="-122"/>
              </a:rPr>
              <a:t>02 核心作用与价值</a:t>
            </a:r>
            <a:endParaRPr lang="en-US" sz="1100"/>
          </a:p>
        </p:txBody>
      </p:sp>
      <p:cxnSp>
        <p:nvCxnSpPr>
          <p:cNvPr id="13" name="Connector 13"/>
          <p:cNvCxnSpPr/>
          <p:nvPr/>
        </p:nvCxnSpPr>
        <p:spPr>
          <a:xfrm rot="-14323">
            <a:off x="4572013" y="2533650"/>
            <a:ext cx="3048000" cy="12700"/>
          </a:xfrm>
          <a:prstGeom prst="line">
            <a:avLst/>
          </a:prstGeom>
          <a:solidFill>
            <a:srgbClr val="DEE0E3">
              <a:alpha val="100000"/>
            </a:srgbClr>
          </a:solidFill>
          <a:ln w="12700" cap="flat" cmpd="sng">
            <a:solidFill>
              <a:srgbClr val="E6E6E6">
                <a:alpha val="100000"/>
              </a:srgbClr>
            </a:solidFill>
            <a:prstDash val="solid"/>
            <a:round/>
            <a:headEnd type="none" w="med" len="med"/>
            <a:tailEnd type="none" w="med" len="med"/>
          </a:ln>
        </p:spPr>
      </p:cxnSp>
      <p:sp>
        <p:nvSpPr>
          <p:cNvPr id="14" name="AutoShape 14"/>
          <p:cNvSpPr/>
          <p:nvPr/>
        </p:nvSpPr>
        <p:spPr>
          <a:xfrm>
            <a:off x="4572000" y="2730500"/>
            <a:ext cx="3048000" cy="2413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400" b="1"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极速查询：</a:t>
            </a:r>
            <a:r>
              <a:rPr lang="en-US" sz="14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亿级数据实现毫秒级响应，提升系统吞吐量</a:t>
            </a:r>
            <a:endParaRPr lang="en-US" sz="1100"/>
          </a:p>
          <a:p>
            <a:pPr marL="0" indent="0" algn="l">
              <a:lnSpc>
                <a:spcPct val="117000"/>
              </a:lnSpc>
            </a:pPr>
            <a:r>
              <a:rPr lang="en-US" sz="14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400" b="1"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关联优化：</a:t>
            </a:r>
            <a:r>
              <a:rPr lang="en-US" sz="14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加速多表 JOIN 连接操作，减少笛卡尔积运算</a:t>
            </a:r>
            <a:endParaRPr lang="en-US" sz="14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pPr>
            <a:r>
              <a:rPr lang="en-US" sz="14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400" b="1"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逻辑约束：</a:t>
            </a:r>
            <a:r>
              <a:rPr lang="en-US" sz="14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强制主键与唯一键的唯一性，保证数据完整性</a:t>
            </a:r>
            <a:endParaRPr lang="en-US" sz="14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5" name="AutoShape 15"/>
          <p:cNvSpPr/>
          <p:nvPr/>
        </p:nvSpPr>
        <p:spPr>
          <a:xfrm>
            <a:off x="8128000" y="1651000"/>
            <a:ext cx="3556000" cy="3683000"/>
          </a:xfrm>
          <a:prstGeom prst="roundRect">
            <a:avLst>
              <a:gd name="adj" fmla="val 0"/>
            </a:avLst>
          </a:prstGeom>
          <a:solidFill>
            <a:srgbClr val="FFFFFF">
              <a:alpha val="100000"/>
            </a:srgbClr>
          </a:solidFill>
          <a:ln w="12700" cap="flat" cmpd="sng">
            <a:solidFill>
              <a:srgbClr val="2D7D63">
                <a:alpha val="20000"/>
              </a:srgbClr>
            </a:solidFill>
            <a:prstDash val="solid"/>
            <a:round/>
          </a:ln>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382000" y="1905000"/>
            <a:ext cx="457200" cy="457200"/>
          </a:xfrm>
          <a:prstGeom prst="rect">
            <a:avLst/>
          </a:prstGeom>
        </p:spPr>
      </p:pic>
      <p:sp>
        <p:nvSpPr>
          <p:cNvPr id="17" name="AutoShape 17"/>
          <p:cNvSpPr/>
          <p:nvPr/>
        </p:nvSpPr>
        <p:spPr>
          <a:xfrm>
            <a:off x="8953500" y="1930400"/>
            <a:ext cx="254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D7D63"/>
                </a:solidFill>
                <a:latin typeface="Noto Sans SC" panose="020B0200000000000000" charset="-122"/>
                <a:ea typeface="Noto Sans SC" panose="020B0200000000000000" charset="-122"/>
                <a:cs typeface="Noto Sans SC" panose="020B0200000000000000" charset="-122"/>
                <a:sym typeface="Noto Sans SC" panose="020B0200000000000000" charset="-122"/>
              </a:rPr>
              <a:t>03 潜在的代价与权衡</a:t>
            </a:r>
            <a:endParaRPr lang="en-US" sz="1100"/>
          </a:p>
        </p:txBody>
      </p:sp>
      <p:cxnSp>
        <p:nvCxnSpPr>
          <p:cNvPr id="18" name="Connector 18"/>
          <p:cNvCxnSpPr/>
          <p:nvPr/>
        </p:nvCxnSpPr>
        <p:spPr>
          <a:xfrm rot="-14323">
            <a:off x="8382013" y="2533650"/>
            <a:ext cx="3048000" cy="12700"/>
          </a:xfrm>
          <a:prstGeom prst="line">
            <a:avLst/>
          </a:prstGeom>
          <a:solidFill>
            <a:srgbClr val="DEE0E3">
              <a:alpha val="100000"/>
            </a:srgbClr>
          </a:solidFill>
          <a:ln w="12700" cap="flat" cmpd="sng">
            <a:solidFill>
              <a:srgbClr val="E6E6E6">
                <a:alpha val="100000"/>
              </a:srgbClr>
            </a:solidFill>
            <a:prstDash val="solid"/>
            <a:round/>
            <a:headEnd type="none" w="med" len="med"/>
            <a:tailEnd type="none" w="med" len="med"/>
          </a:ln>
        </p:spPr>
      </p:cxnSp>
      <p:sp>
        <p:nvSpPr>
          <p:cNvPr id="19" name="AutoShape 19"/>
          <p:cNvSpPr/>
          <p:nvPr/>
        </p:nvSpPr>
        <p:spPr>
          <a:xfrm>
            <a:off x="8382000" y="2730500"/>
            <a:ext cx="3048000" cy="2413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400" b="1"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空间占用：</a:t>
            </a:r>
            <a:r>
              <a:rPr lang="en-US" sz="14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索引需额外的磁盘存储，可能占用大量空间</a:t>
            </a:r>
            <a:endParaRPr lang="en-US" sz="1100"/>
          </a:p>
          <a:p>
            <a:pPr marL="0" indent="0" algn="l">
              <a:lnSpc>
                <a:spcPct val="117000"/>
              </a:lnSpc>
            </a:pPr>
            <a:r>
              <a:rPr lang="en-US" sz="14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400" b="1"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写入开销：</a:t>
            </a:r>
            <a:r>
              <a:rPr lang="en-US" sz="14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增删改(CRUD)时需同步维护索引，降低写入速度</a:t>
            </a:r>
            <a:endParaRPr lang="en-US" sz="14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pPr>
            <a:r>
              <a:rPr lang="en-US" sz="14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400" b="1"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维护成本：</a:t>
            </a:r>
            <a:r>
              <a:rPr lang="en-US" sz="14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索引失效或碎片过多时，需定期重建与优化</a:t>
            </a:r>
            <a:endParaRPr lang="en-US" sz="14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0" name="AutoShape 20"/>
          <p:cNvSpPr/>
          <p:nvPr/>
        </p:nvSpPr>
        <p:spPr>
          <a:xfrm>
            <a:off x="508000" y="5651500"/>
            <a:ext cx="11176000" cy="825500"/>
          </a:xfrm>
          <a:prstGeom prst="roundRect">
            <a:avLst>
              <a:gd name="adj" fmla="val 0"/>
            </a:avLst>
          </a:prstGeom>
          <a:solidFill>
            <a:srgbClr val="2D7D63">
              <a:alpha val="8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21"/>
          <p:cNvSpPr/>
          <p:nvPr/>
        </p:nvSpPr>
        <p:spPr>
          <a:xfrm>
            <a:off x="635000" y="5816600"/>
            <a:ext cx="10922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2D7D63"/>
                </a:solidFill>
                <a:latin typeface="Noto Sans SC" panose="020B0200000000000000" charset="-122"/>
                <a:ea typeface="Noto Sans SC" panose="020B0200000000000000" charset="-122"/>
                <a:cs typeface="Noto Sans SC" panose="020B0200000000000000" charset="-122"/>
                <a:sym typeface="Noto Sans SC" panose="020B0200000000000000" charset="-122"/>
              </a:rPr>
              <a:t>💡 设计原则：</a:t>
            </a:r>
            <a:r>
              <a:rPr lang="en-US" sz="14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索引本质是“以空间换时间”的策略。需根据业务场景（读多写少 vs 写多读少）进行针对性设计，切忌为所有字段盲目创建索引，以免适得其反。</a:t>
            </a:r>
            <a:endParaRPr lang="en-US" sz="11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9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9525000" y="-1270000"/>
            <a:ext cx="3810000" cy="3810000"/>
          </a:xfrm>
          <a:prstGeom prst="ellipse">
            <a:avLst/>
          </a:prstGeom>
          <a:solidFill>
            <a:srgbClr val="3B82F6">
              <a:alpha val="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635000" y="5080000"/>
            <a:ext cx="2540000" cy="2540000"/>
          </a:xfrm>
          <a:prstGeom prst="ellipse">
            <a:avLst/>
          </a:prstGeom>
          <a:solidFill>
            <a:srgbClr val="10B981">
              <a:alpha val="5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508000" y="508000"/>
            <a:ext cx="11176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索引的工作原理 - B树结构</a:t>
            </a:r>
            <a:endParaRPr lang="en-US" sz="1100"/>
          </a:p>
        </p:txBody>
      </p:sp>
      <p:sp>
        <p:nvSpPr>
          <p:cNvPr id="5" name="AutoShape 5"/>
          <p:cNvSpPr/>
          <p:nvPr/>
        </p:nvSpPr>
        <p:spPr>
          <a:xfrm>
            <a:off x="508000" y="1524000"/>
            <a:ext cx="5334000" cy="2540000"/>
          </a:xfrm>
          <a:prstGeom prst="roundRect">
            <a:avLst>
              <a:gd name="adj" fmla="val 0"/>
            </a:avLst>
          </a:prstGeom>
          <a:solidFill>
            <a:srgbClr val="FFFFFF">
              <a:alpha val="6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sp>
        <p:nvSpPr>
          <p:cNvPr id="6" name="AutoShape 6"/>
          <p:cNvSpPr/>
          <p:nvPr/>
        </p:nvSpPr>
        <p:spPr>
          <a:xfrm>
            <a:off x="2413000" y="1714500"/>
            <a:ext cx="1524000" cy="457200"/>
          </a:xfrm>
          <a:prstGeom prst="roundRect">
            <a:avLst>
              <a:gd name="adj" fmla="val 0"/>
            </a:avLst>
          </a:prstGeom>
          <a:solidFill>
            <a:srgbClr val="2563EB">
              <a:alpha val="100000"/>
            </a:srgbClr>
          </a:solidFill>
          <a:ln w="25400" cap="flat" cmpd="sng">
            <a:noFill/>
            <a:prstDash val="solid"/>
            <a:round/>
          </a:ln>
        </p:spPr>
        <p:txBody>
          <a:bodyPr vert="horz" wrap="square" lIns="0" tIns="0" rIns="0" bIns="0" rtlCol="0" anchor="ctr" anchorCtr="0"/>
          <a:lstStyle/>
          <a:p>
            <a:pPr marL="0" indent="0" algn="ctr">
              <a:lnSpc>
                <a:spcPct val="125000"/>
              </a:lnSpc>
              <a:defRPr/>
            </a:pPr>
            <a:r>
              <a:rPr lang="en-US" sz="14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根节点 (Root)</a:t>
            </a:r>
            <a:endParaRPr lang="en-US" sz="1100"/>
          </a:p>
        </p:txBody>
      </p:sp>
      <p:cxnSp>
        <p:nvCxnSpPr>
          <p:cNvPr id="7" name="Connector 7"/>
          <p:cNvCxnSpPr/>
          <p:nvPr/>
        </p:nvCxnSpPr>
        <p:spPr>
          <a:xfrm rot="9739588">
            <a:off x="1745368" y="2381258"/>
            <a:ext cx="1462211" cy="12700"/>
          </a:xfrm>
          <a:prstGeom prst="line">
            <a:avLst/>
          </a:prstGeom>
          <a:solidFill>
            <a:srgbClr val="DEE0E3">
              <a:alpha val="100000"/>
            </a:srgbClr>
          </a:solidFill>
          <a:ln w="25400" cap="flat" cmpd="sng">
            <a:solidFill>
              <a:srgbClr val="9CA3AF">
                <a:alpha val="100000"/>
              </a:srgbClr>
            </a:solidFill>
            <a:prstDash val="solid"/>
            <a:round/>
            <a:headEnd type="none" w="lg" len="lg"/>
            <a:tailEnd type="none" w="lg" len="lg"/>
          </a:ln>
        </p:spPr>
      </p:cxnSp>
      <p:cxnSp>
        <p:nvCxnSpPr>
          <p:cNvPr id="8" name="Connector 8"/>
          <p:cNvCxnSpPr/>
          <p:nvPr/>
        </p:nvCxnSpPr>
        <p:spPr>
          <a:xfrm rot="1000696">
            <a:off x="3142421" y="2381258"/>
            <a:ext cx="1462211" cy="12700"/>
          </a:xfrm>
          <a:prstGeom prst="line">
            <a:avLst/>
          </a:prstGeom>
          <a:solidFill>
            <a:srgbClr val="DEE0E3">
              <a:alpha val="100000"/>
            </a:srgbClr>
          </a:solidFill>
          <a:ln w="25400" cap="flat" cmpd="sng">
            <a:solidFill>
              <a:srgbClr val="9CA3AF">
                <a:alpha val="100000"/>
              </a:srgbClr>
            </a:solidFill>
            <a:prstDash val="solid"/>
            <a:round/>
            <a:headEnd type="none" w="lg" len="lg"/>
            <a:tailEnd type="none" w="lg" len="lg"/>
          </a:ln>
        </p:spPr>
      </p:cxnSp>
      <p:sp>
        <p:nvSpPr>
          <p:cNvPr id="9" name="AutoShape 9"/>
          <p:cNvSpPr/>
          <p:nvPr/>
        </p:nvSpPr>
        <p:spPr>
          <a:xfrm>
            <a:off x="1079500" y="2603500"/>
            <a:ext cx="1397000" cy="457200"/>
          </a:xfrm>
          <a:prstGeom prst="roundRect">
            <a:avLst>
              <a:gd name="adj" fmla="val 0"/>
            </a:avLst>
          </a:prstGeom>
          <a:solidFill>
            <a:srgbClr val="60A5FA">
              <a:alpha val="100000"/>
            </a:srgbClr>
          </a:solidFill>
          <a:ln w="25400" cap="flat" cmpd="sng">
            <a:noFill/>
            <a:prstDash val="solid"/>
            <a:round/>
          </a:ln>
        </p:spPr>
        <p:txBody>
          <a:bodyPr vert="horz" wrap="square" lIns="0" tIns="0" rIns="0" bIns="0" rtlCol="0" anchor="ctr" anchorCtr="0"/>
          <a:lstStyle/>
          <a:p>
            <a:pPr marL="0" indent="0" algn="ctr">
              <a:lnSpc>
                <a:spcPct val="125000"/>
              </a:lnSpc>
              <a:defRPr/>
            </a:pPr>
            <a:r>
              <a:rPr lang="en-US" sz="1400" b="0"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分支节点 A</a:t>
            </a:r>
            <a:endParaRPr lang="en-US" sz="1100"/>
          </a:p>
        </p:txBody>
      </p:sp>
      <p:sp>
        <p:nvSpPr>
          <p:cNvPr id="10" name="AutoShape 10"/>
          <p:cNvSpPr/>
          <p:nvPr/>
        </p:nvSpPr>
        <p:spPr>
          <a:xfrm>
            <a:off x="3873500" y="2603500"/>
            <a:ext cx="1397000" cy="457200"/>
          </a:xfrm>
          <a:prstGeom prst="roundRect">
            <a:avLst>
              <a:gd name="adj" fmla="val 0"/>
            </a:avLst>
          </a:prstGeom>
          <a:solidFill>
            <a:srgbClr val="60A5FA">
              <a:alpha val="100000"/>
            </a:srgbClr>
          </a:solidFill>
          <a:ln w="25400" cap="flat" cmpd="sng">
            <a:noFill/>
            <a:prstDash val="solid"/>
            <a:round/>
          </a:ln>
        </p:spPr>
        <p:txBody>
          <a:bodyPr vert="horz" wrap="square" lIns="0" tIns="0" rIns="0" bIns="0" rtlCol="0" anchor="ctr" anchorCtr="0"/>
          <a:lstStyle/>
          <a:p>
            <a:pPr marL="0" indent="0" algn="ctr">
              <a:lnSpc>
                <a:spcPct val="125000"/>
              </a:lnSpc>
              <a:defRPr/>
            </a:pPr>
            <a:r>
              <a:rPr lang="en-US" sz="1400" b="0"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分支节点 B</a:t>
            </a:r>
            <a:endParaRPr lang="en-US" sz="1100"/>
          </a:p>
        </p:txBody>
      </p:sp>
      <p:cxnSp>
        <p:nvCxnSpPr>
          <p:cNvPr id="11" name="Connector 11"/>
          <p:cNvCxnSpPr/>
          <p:nvPr/>
        </p:nvCxnSpPr>
        <p:spPr>
          <a:xfrm rot="8977827">
            <a:off x="959040" y="3270273"/>
            <a:ext cx="875840" cy="12700"/>
          </a:xfrm>
          <a:prstGeom prst="line">
            <a:avLst/>
          </a:prstGeom>
          <a:solidFill>
            <a:srgbClr val="DEE0E3">
              <a:alpha val="100000"/>
            </a:srgbClr>
          </a:solidFill>
          <a:ln w="25400" cap="flat" cmpd="sng">
            <a:solidFill>
              <a:srgbClr val="9CA3AF">
                <a:alpha val="100000"/>
              </a:srgbClr>
            </a:solidFill>
            <a:prstDash val="solid"/>
            <a:round/>
            <a:headEnd type="none" w="lg" len="lg"/>
            <a:tailEnd type="none" w="lg" len="lg"/>
          </a:ln>
        </p:spPr>
      </p:cxnSp>
      <p:cxnSp>
        <p:nvCxnSpPr>
          <p:cNvPr id="12" name="Connector 12"/>
          <p:cNvCxnSpPr/>
          <p:nvPr/>
        </p:nvCxnSpPr>
        <p:spPr>
          <a:xfrm rot="1996092">
            <a:off x="1711592" y="3270280"/>
            <a:ext cx="767904" cy="12700"/>
          </a:xfrm>
          <a:prstGeom prst="line">
            <a:avLst/>
          </a:prstGeom>
          <a:solidFill>
            <a:srgbClr val="DEE0E3">
              <a:alpha val="100000"/>
            </a:srgbClr>
          </a:solidFill>
          <a:ln w="25400" cap="flat" cmpd="sng">
            <a:solidFill>
              <a:srgbClr val="9CA3AF">
                <a:alpha val="100000"/>
              </a:srgbClr>
            </a:solidFill>
            <a:prstDash val="solid"/>
            <a:round/>
            <a:headEnd type="none" w="lg" len="lg"/>
            <a:tailEnd type="none" w="lg" len="lg"/>
          </a:ln>
        </p:spPr>
      </p:cxnSp>
      <p:cxnSp>
        <p:nvCxnSpPr>
          <p:cNvPr id="13" name="Connector 13"/>
          <p:cNvCxnSpPr/>
          <p:nvPr/>
        </p:nvCxnSpPr>
        <p:spPr>
          <a:xfrm rot="9201436">
            <a:off x="3633304" y="3270268"/>
            <a:ext cx="988318" cy="12700"/>
          </a:xfrm>
          <a:prstGeom prst="line">
            <a:avLst/>
          </a:prstGeom>
          <a:solidFill>
            <a:srgbClr val="DEE0E3">
              <a:alpha val="100000"/>
            </a:srgbClr>
          </a:solidFill>
          <a:ln w="25400" cap="flat" cmpd="sng">
            <a:solidFill>
              <a:srgbClr val="9CA3AF">
                <a:alpha val="100000"/>
              </a:srgbClr>
            </a:solidFill>
            <a:prstDash val="solid"/>
            <a:round/>
            <a:headEnd type="none" w="lg" len="lg"/>
            <a:tailEnd type="none" w="lg" len="lg"/>
          </a:ln>
        </p:spPr>
      </p:cxnSp>
      <p:cxnSp>
        <p:nvCxnSpPr>
          <p:cNvPr id="14" name="Connector 14"/>
          <p:cNvCxnSpPr/>
          <p:nvPr/>
        </p:nvCxnSpPr>
        <p:spPr>
          <a:xfrm rot="2356396">
            <a:off x="4492686" y="3270289"/>
            <a:ext cx="666720" cy="12700"/>
          </a:xfrm>
          <a:prstGeom prst="line">
            <a:avLst/>
          </a:prstGeom>
          <a:solidFill>
            <a:srgbClr val="DEE0E3">
              <a:alpha val="100000"/>
            </a:srgbClr>
          </a:solidFill>
          <a:ln w="25400" cap="flat" cmpd="sng">
            <a:solidFill>
              <a:srgbClr val="9CA3AF">
                <a:alpha val="100000"/>
              </a:srgbClr>
            </a:solidFill>
            <a:prstDash val="solid"/>
            <a:round/>
            <a:headEnd type="none" w="lg" len="lg"/>
            <a:tailEnd type="none" w="lg" len="lg"/>
          </a:ln>
        </p:spPr>
      </p:cxnSp>
      <p:sp>
        <p:nvSpPr>
          <p:cNvPr id="15" name="AutoShape 15"/>
          <p:cNvSpPr/>
          <p:nvPr/>
        </p:nvSpPr>
        <p:spPr>
          <a:xfrm>
            <a:off x="698500" y="3492500"/>
            <a:ext cx="1079500" cy="457200"/>
          </a:xfrm>
          <a:prstGeom prst="roundRect">
            <a:avLst>
              <a:gd name="adj" fmla="val 0"/>
            </a:avLst>
          </a:prstGeom>
          <a:solidFill>
            <a:srgbClr val="BAE6FD">
              <a:alpha val="100000"/>
            </a:srgbClr>
          </a:solidFill>
          <a:ln w="25400" cap="flat" cmpd="sng">
            <a:noFill/>
            <a:prstDash val="solid"/>
            <a:round/>
          </a:ln>
        </p:spPr>
        <p:txBody>
          <a:bodyPr vert="horz" wrap="square" lIns="0" tIns="0" rIns="0" bIns="0" rtlCol="0" anchor="ctr" anchorCtr="0"/>
          <a:lstStyle/>
          <a:p>
            <a:pPr marL="0" indent="0" algn="ctr">
              <a:lnSpc>
                <a:spcPct val="125000"/>
              </a:lnSpc>
              <a:defRPr/>
            </a:pPr>
            <a:r>
              <a:rPr lang="en-US" sz="1300" b="0" i="0" u="none" strike="noStrike">
                <a:solidFill>
                  <a:srgbClr val="1E3A8A"/>
                </a:solidFill>
                <a:latin typeface="Noto Sans SC" panose="020B0200000000000000" charset="-122"/>
                <a:ea typeface="Noto Sans SC" panose="020B0200000000000000" charset="-122"/>
                <a:cs typeface="Noto Sans SC" panose="020B0200000000000000" charset="-122"/>
                <a:sym typeface="Noto Sans SC" panose="020B0200000000000000" charset="-122"/>
              </a:rPr>
              <a:t>K1 | R1</a:t>
            </a:r>
            <a:endParaRPr lang="en-US" sz="1100"/>
          </a:p>
        </p:txBody>
      </p:sp>
      <p:sp>
        <p:nvSpPr>
          <p:cNvPr id="16" name="AutoShape 16"/>
          <p:cNvSpPr/>
          <p:nvPr/>
        </p:nvSpPr>
        <p:spPr>
          <a:xfrm>
            <a:off x="1968500" y="3492500"/>
            <a:ext cx="1079500" cy="457200"/>
          </a:xfrm>
          <a:prstGeom prst="roundRect">
            <a:avLst>
              <a:gd name="adj" fmla="val 0"/>
            </a:avLst>
          </a:prstGeom>
          <a:solidFill>
            <a:srgbClr val="BAE6FD">
              <a:alpha val="100000"/>
            </a:srgbClr>
          </a:solidFill>
          <a:ln w="25400" cap="flat" cmpd="sng">
            <a:noFill/>
            <a:prstDash val="solid"/>
            <a:round/>
          </a:ln>
        </p:spPr>
        <p:txBody>
          <a:bodyPr vert="horz" wrap="square" lIns="0" tIns="0" rIns="0" bIns="0" rtlCol="0" anchor="ctr" anchorCtr="0"/>
          <a:lstStyle/>
          <a:p>
            <a:pPr marL="0" indent="0" algn="ctr">
              <a:lnSpc>
                <a:spcPct val="125000"/>
              </a:lnSpc>
              <a:defRPr/>
            </a:pPr>
            <a:r>
              <a:rPr lang="en-US" sz="1300" b="0" i="0" u="none" strike="noStrike">
                <a:solidFill>
                  <a:srgbClr val="1E3A8A"/>
                </a:solidFill>
                <a:latin typeface="Noto Sans SC" panose="020B0200000000000000" charset="-122"/>
                <a:ea typeface="Noto Sans SC" panose="020B0200000000000000" charset="-122"/>
                <a:cs typeface="Noto Sans SC" panose="020B0200000000000000" charset="-122"/>
                <a:sym typeface="Noto Sans SC" panose="020B0200000000000000" charset="-122"/>
              </a:rPr>
              <a:t>K2 | R2</a:t>
            </a:r>
            <a:endParaRPr lang="en-US" sz="1100"/>
          </a:p>
        </p:txBody>
      </p:sp>
      <p:sp>
        <p:nvSpPr>
          <p:cNvPr id="17" name="AutoShape 17"/>
          <p:cNvSpPr/>
          <p:nvPr/>
        </p:nvSpPr>
        <p:spPr>
          <a:xfrm>
            <a:off x="3365500" y="3492500"/>
            <a:ext cx="1079500" cy="457200"/>
          </a:xfrm>
          <a:prstGeom prst="roundRect">
            <a:avLst>
              <a:gd name="adj" fmla="val 0"/>
            </a:avLst>
          </a:prstGeom>
          <a:solidFill>
            <a:srgbClr val="BAE6FD">
              <a:alpha val="100000"/>
            </a:srgbClr>
          </a:solidFill>
          <a:ln w="25400" cap="flat" cmpd="sng">
            <a:noFill/>
            <a:prstDash val="solid"/>
            <a:round/>
          </a:ln>
        </p:spPr>
        <p:txBody>
          <a:bodyPr vert="horz" wrap="square" lIns="0" tIns="0" rIns="0" bIns="0" rtlCol="0" anchor="ctr" anchorCtr="0"/>
          <a:lstStyle/>
          <a:p>
            <a:pPr marL="0" indent="0" algn="ctr">
              <a:lnSpc>
                <a:spcPct val="125000"/>
              </a:lnSpc>
              <a:defRPr/>
            </a:pPr>
            <a:r>
              <a:rPr lang="en-US" sz="1300" b="0" i="0" u="none" strike="noStrike">
                <a:solidFill>
                  <a:srgbClr val="1E3A8A"/>
                </a:solidFill>
                <a:latin typeface="Noto Sans SC" panose="020B0200000000000000" charset="-122"/>
                <a:ea typeface="Noto Sans SC" panose="020B0200000000000000" charset="-122"/>
                <a:cs typeface="Noto Sans SC" panose="020B0200000000000000" charset="-122"/>
                <a:sym typeface="Noto Sans SC" panose="020B0200000000000000" charset="-122"/>
              </a:rPr>
              <a:t>K3 | R3</a:t>
            </a:r>
            <a:endParaRPr lang="en-US" sz="1100"/>
          </a:p>
        </p:txBody>
      </p:sp>
      <p:sp>
        <p:nvSpPr>
          <p:cNvPr id="18" name="AutoShape 18"/>
          <p:cNvSpPr/>
          <p:nvPr/>
        </p:nvSpPr>
        <p:spPr>
          <a:xfrm>
            <a:off x="4635500" y="3492500"/>
            <a:ext cx="1079500" cy="457200"/>
          </a:xfrm>
          <a:prstGeom prst="roundRect">
            <a:avLst>
              <a:gd name="adj" fmla="val 0"/>
            </a:avLst>
          </a:prstGeom>
          <a:solidFill>
            <a:srgbClr val="BAE6FD">
              <a:alpha val="100000"/>
            </a:srgbClr>
          </a:solidFill>
          <a:ln w="25400" cap="flat" cmpd="sng">
            <a:noFill/>
            <a:prstDash val="solid"/>
            <a:round/>
          </a:ln>
        </p:spPr>
        <p:txBody>
          <a:bodyPr vert="horz" wrap="square" lIns="0" tIns="0" rIns="0" bIns="0" rtlCol="0" anchor="ctr" anchorCtr="0"/>
          <a:lstStyle/>
          <a:p>
            <a:pPr marL="0" indent="0" algn="ctr">
              <a:lnSpc>
                <a:spcPct val="125000"/>
              </a:lnSpc>
              <a:defRPr/>
            </a:pPr>
            <a:r>
              <a:rPr lang="en-US" sz="1300" b="0" i="0" u="none" strike="noStrike">
                <a:solidFill>
                  <a:srgbClr val="1E3A8A"/>
                </a:solidFill>
                <a:latin typeface="Noto Sans SC" panose="020B0200000000000000" charset="-122"/>
                <a:ea typeface="Noto Sans SC" panose="020B0200000000000000" charset="-122"/>
                <a:cs typeface="Noto Sans SC" panose="020B0200000000000000" charset="-122"/>
                <a:sym typeface="Noto Sans SC" panose="020B0200000000000000" charset="-122"/>
              </a:rPr>
              <a:t>K4 | R4</a:t>
            </a:r>
            <a:endParaRPr lang="en-US" sz="1100"/>
          </a:p>
        </p:txBody>
      </p:sp>
      <p:sp>
        <p:nvSpPr>
          <p:cNvPr id="19" name="AutoShape 19"/>
          <p:cNvSpPr/>
          <p:nvPr/>
        </p:nvSpPr>
        <p:spPr>
          <a:xfrm>
            <a:off x="508000" y="4318000"/>
            <a:ext cx="5334000" cy="1905000"/>
          </a:xfrm>
          <a:prstGeom prst="roundRect">
            <a:avLst>
              <a:gd name="adj" fmla="val 0"/>
            </a:avLst>
          </a:prstGeom>
          <a:solidFill>
            <a:srgbClr val="15803D">
              <a:alpha val="6000"/>
            </a:srgbClr>
          </a:solidFill>
          <a:ln cap="flat" cmpd="sng">
            <a:solidFill>
              <a:srgbClr val="07672A">
                <a:alpha val="6000"/>
              </a:srgbClr>
            </a:solidFill>
            <a:prstDash val="solid"/>
            <a:round/>
          </a:ln>
        </p:spPr>
        <p:txBody>
          <a:bodyPr vert="horz" wrap="square" lIns="0" tIns="0" rIns="0" bIns="0" rtlCol="0" anchor="ctr" anchorCtr="0"/>
          <a:lstStyle/>
          <a:p>
            <a:pPr algn="ctr">
              <a:defRPr/>
            </a:pPr>
          </a:p>
        </p:txBody>
      </p:sp>
      <p:sp>
        <p:nvSpPr>
          <p:cNvPr id="20" name="AutoShape 20"/>
          <p:cNvSpPr/>
          <p:nvPr/>
        </p:nvSpPr>
        <p:spPr>
          <a:xfrm>
            <a:off x="635000" y="4445000"/>
            <a:ext cx="5080000" cy="1651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5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B+树结构核心特征：</a:t>
            </a:r>
            <a:endParaRPr lang="en-US" sz="1100"/>
          </a:p>
          <a:p>
            <a:pPr marL="0" indent="0" algn="l">
              <a:lnSpc>
                <a:spcPct val="108000"/>
              </a:lnSpc>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3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层级导航：</a:t>
            </a: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根节点→分支节点→叶子节点，非叶子节点仅存键值用于索引导航。</a:t>
            </a:r>
            <a:endPar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08000"/>
              </a:lnSpc>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3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数据存储：</a:t>
            </a: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所有真实数据（键值+ROWID）仅存于叶子节点。</a:t>
            </a:r>
            <a:endPar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08000"/>
              </a:lnSpc>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3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链表连接：</a:t>
            </a: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叶子节点间通过双向链表连接，高效支持范围顺序扫描。</a:t>
            </a:r>
            <a:endPar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1" name="AutoShape 21"/>
          <p:cNvSpPr/>
          <p:nvPr/>
        </p:nvSpPr>
        <p:spPr>
          <a:xfrm>
            <a:off x="6223000" y="1524000"/>
            <a:ext cx="5461000" cy="1143000"/>
          </a:xfrm>
          <a:prstGeom prst="roundRect">
            <a:avLst>
              <a:gd name="adj" fmla="val 0"/>
            </a:avLst>
          </a:prstGeom>
          <a:solidFill>
            <a:srgbClr val="FFFFFF">
              <a:alpha val="100000"/>
            </a:srgbClr>
          </a:solidFill>
          <a:ln w="12700" cap="flat" cmpd="sng">
            <a:solidFill>
              <a:srgbClr val="E5E7EB">
                <a:alpha val="100000"/>
              </a:srgbClr>
            </a:solidFill>
            <a:prstDash val="solid"/>
            <a:round/>
          </a:ln>
        </p:spPr>
        <p:txBody>
          <a:bodyPr vert="horz" wrap="square" lIns="0" tIns="0" rIns="0" bIns="0" rtlCol="0" anchor="ctr" anchorCtr="0"/>
          <a:lstStyle/>
          <a:p>
            <a:pPr algn="ctr">
              <a:defRPr/>
            </a:pPr>
          </a:p>
        </p:txBody>
      </p:sp>
      <p:pic>
        <p:nvPicPr>
          <p:cNvPr id="22" name="Picture 22"/>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413500" y="1676400"/>
            <a:ext cx="355600" cy="355600"/>
          </a:xfrm>
          <a:prstGeom prst="rect">
            <a:avLst/>
          </a:prstGeom>
        </p:spPr>
      </p:pic>
      <p:sp>
        <p:nvSpPr>
          <p:cNvPr id="23" name="AutoShape 23"/>
          <p:cNvSpPr/>
          <p:nvPr/>
        </p:nvSpPr>
        <p:spPr>
          <a:xfrm>
            <a:off x="6921500" y="1651000"/>
            <a:ext cx="4699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01 平衡树结构</a:t>
            </a:r>
            <a:endParaRPr lang="en-US" sz="1100"/>
          </a:p>
        </p:txBody>
      </p:sp>
      <p:sp>
        <p:nvSpPr>
          <p:cNvPr id="24" name="AutoShape 24"/>
          <p:cNvSpPr/>
          <p:nvPr/>
        </p:nvSpPr>
        <p:spPr>
          <a:xfrm>
            <a:off x="6921500" y="2032000"/>
            <a:ext cx="4699000" cy="5588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所有叶子节点处于同一深度，确保查询时间复杂度稳定为O(log n)，避免单一路径过长导致的性能抖动。</a:t>
            </a:r>
            <a:endParaRPr lang="en-US" sz="1100"/>
          </a:p>
        </p:txBody>
      </p:sp>
      <p:sp>
        <p:nvSpPr>
          <p:cNvPr id="25" name="AutoShape 25"/>
          <p:cNvSpPr/>
          <p:nvPr/>
        </p:nvSpPr>
        <p:spPr>
          <a:xfrm>
            <a:off x="6223000" y="2857500"/>
            <a:ext cx="5461000" cy="1143000"/>
          </a:xfrm>
          <a:prstGeom prst="roundRect">
            <a:avLst>
              <a:gd name="adj" fmla="val 0"/>
            </a:avLst>
          </a:prstGeom>
          <a:solidFill>
            <a:srgbClr val="FFFFFF">
              <a:alpha val="100000"/>
            </a:srgbClr>
          </a:solidFill>
          <a:ln w="12700" cap="flat" cmpd="sng">
            <a:solidFill>
              <a:srgbClr val="E5E7EB">
                <a:alpha val="100000"/>
              </a:srgbClr>
            </a:solidFill>
            <a:prstDash val="solid"/>
            <a:round/>
          </a:ln>
        </p:spPr>
        <p:txBody>
          <a:bodyPr vert="horz" wrap="square" lIns="0" tIns="0" rIns="0" bIns="0" rtlCol="0" anchor="ctr" anchorCtr="0"/>
          <a:lstStyle/>
          <a:p>
            <a:pPr algn="ctr">
              <a:defRPr/>
            </a:pPr>
          </a:p>
        </p:txBody>
      </p:sp>
      <p:pic>
        <p:nvPicPr>
          <p:cNvPr id="26" name="Picture 26"/>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413500" y="3009900"/>
            <a:ext cx="355600" cy="355600"/>
          </a:xfrm>
          <a:prstGeom prst="rect">
            <a:avLst/>
          </a:prstGeom>
        </p:spPr>
      </p:pic>
      <p:sp>
        <p:nvSpPr>
          <p:cNvPr id="27" name="AutoShape 27"/>
          <p:cNvSpPr/>
          <p:nvPr/>
        </p:nvSpPr>
        <p:spPr>
          <a:xfrm>
            <a:off x="6921500" y="2984500"/>
            <a:ext cx="4699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02 B树特点</a:t>
            </a:r>
            <a:endParaRPr lang="en-US" sz="1100"/>
          </a:p>
        </p:txBody>
      </p:sp>
      <p:sp>
        <p:nvSpPr>
          <p:cNvPr id="28" name="AutoShape 28"/>
          <p:cNvSpPr/>
          <p:nvPr/>
        </p:nvSpPr>
        <p:spPr>
          <a:xfrm>
            <a:off x="6921500" y="3365500"/>
            <a:ext cx="4699000" cy="5588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非叶子节点不存数据只存键值，树更矮更宽；叶子节点包含完整索引键与ROWID，且通过双向链表连接。</a:t>
            </a:r>
            <a:endParaRPr lang="en-US" sz="1100"/>
          </a:p>
        </p:txBody>
      </p:sp>
      <p:sp>
        <p:nvSpPr>
          <p:cNvPr id="29" name="AutoShape 29"/>
          <p:cNvSpPr/>
          <p:nvPr/>
        </p:nvSpPr>
        <p:spPr>
          <a:xfrm>
            <a:off x="6223000" y="4191000"/>
            <a:ext cx="5461000" cy="1143000"/>
          </a:xfrm>
          <a:prstGeom prst="roundRect">
            <a:avLst>
              <a:gd name="adj" fmla="val 0"/>
            </a:avLst>
          </a:prstGeom>
          <a:solidFill>
            <a:srgbClr val="FFFFFF">
              <a:alpha val="100000"/>
            </a:srgbClr>
          </a:solidFill>
          <a:ln w="12700" cap="flat" cmpd="sng">
            <a:solidFill>
              <a:srgbClr val="E5E7EB">
                <a:alpha val="100000"/>
              </a:srgbClr>
            </a:solidFill>
            <a:prstDash val="solid"/>
            <a:round/>
          </a:ln>
        </p:spPr>
        <p:txBody>
          <a:bodyPr vert="horz" wrap="square" lIns="0" tIns="0" rIns="0" bIns="0" rtlCol="0" anchor="ctr" anchorCtr="0"/>
          <a:lstStyle/>
          <a:p>
            <a:pPr algn="ctr">
              <a:defRPr/>
            </a:pPr>
          </a:p>
        </p:txBody>
      </p:sp>
      <p:pic>
        <p:nvPicPr>
          <p:cNvPr id="30" name="Picture 30"/>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413500" y="4343400"/>
            <a:ext cx="355600" cy="355600"/>
          </a:xfrm>
          <a:prstGeom prst="rect">
            <a:avLst/>
          </a:prstGeom>
        </p:spPr>
      </p:pic>
      <p:sp>
        <p:nvSpPr>
          <p:cNvPr id="31" name="AutoShape 31"/>
          <p:cNvSpPr/>
          <p:nvPr/>
        </p:nvSpPr>
        <p:spPr>
          <a:xfrm>
            <a:off x="6921500" y="4318000"/>
            <a:ext cx="4699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03 索引扫描过程</a:t>
            </a:r>
            <a:endParaRPr lang="en-US" sz="1100"/>
          </a:p>
        </p:txBody>
      </p:sp>
      <p:sp>
        <p:nvSpPr>
          <p:cNvPr id="32" name="AutoShape 32"/>
          <p:cNvSpPr/>
          <p:nvPr/>
        </p:nvSpPr>
        <p:spPr>
          <a:xfrm>
            <a:off x="6921500" y="4699000"/>
            <a:ext cx="4699000" cy="5588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从根节点发起，逐层向下遍历缩小范围，最终在叶子节点找到目标；范围扫描可沿叶子链表顺序读取。</a:t>
            </a:r>
            <a:endParaRPr lang="en-US" sz="1100"/>
          </a:p>
        </p:txBody>
      </p:sp>
      <p:sp>
        <p:nvSpPr>
          <p:cNvPr id="33" name="AutoShape 33"/>
          <p:cNvSpPr/>
          <p:nvPr/>
        </p:nvSpPr>
        <p:spPr>
          <a:xfrm>
            <a:off x="6223000" y="5461000"/>
            <a:ext cx="5461000" cy="1016000"/>
          </a:xfrm>
          <a:prstGeom prst="roundRect">
            <a:avLst>
              <a:gd name="adj" fmla="val 0"/>
            </a:avLst>
          </a:prstGeom>
          <a:solidFill>
            <a:srgbClr val="FFFFFF">
              <a:alpha val="100000"/>
            </a:srgbClr>
          </a:solidFill>
          <a:ln w="12700" cap="flat" cmpd="sng">
            <a:solidFill>
              <a:srgbClr val="E5E7EB">
                <a:alpha val="100000"/>
              </a:srgbClr>
            </a:solidFill>
            <a:prstDash val="solid"/>
            <a:round/>
          </a:ln>
        </p:spPr>
        <p:txBody>
          <a:bodyPr vert="horz" wrap="square" lIns="0" tIns="0" rIns="0" bIns="0" rtlCol="0" anchor="ctr" anchorCtr="0"/>
          <a:lstStyle/>
          <a:p>
            <a:pPr algn="ctr">
              <a:defRPr/>
            </a:pPr>
          </a:p>
        </p:txBody>
      </p:sp>
      <p:pic>
        <p:nvPicPr>
          <p:cNvPr id="34" name="Picture 34"/>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13500" y="5588000"/>
            <a:ext cx="330200" cy="330200"/>
          </a:xfrm>
          <a:prstGeom prst="rect">
            <a:avLst/>
          </a:prstGeom>
        </p:spPr>
      </p:pic>
      <p:sp>
        <p:nvSpPr>
          <p:cNvPr id="35" name="AutoShape 35"/>
          <p:cNvSpPr/>
          <p:nvPr/>
        </p:nvSpPr>
        <p:spPr>
          <a:xfrm>
            <a:off x="6921500" y="5562600"/>
            <a:ext cx="4699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04 ROWID定位</a:t>
            </a:r>
            <a:endParaRPr lang="en-US" sz="1100"/>
          </a:p>
        </p:txBody>
      </p:sp>
      <p:sp>
        <p:nvSpPr>
          <p:cNvPr id="36" name="AutoShape 36"/>
          <p:cNvSpPr/>
          <p:nvPr/>
        </p:nvSpPr>
        <p:spPr>
          <a:xfrm>
            <a:off x="6921500" y="5918200"/>
            <a:ext cx="4699000" cy="4572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通过索引获取目标ROWID后，数据库直接根据物理地址“回表”，读取对应数据行的完整记录。</a:t>
            </a:r>
            <a:endParaRPr lang="en-US" sz="11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9FAFB">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9525000" y="-1270000"/>
            <a:ext cx="3810000" cy="3810000"/>
          </a:xfrm>
          <a:prstGeom prst="ellipse">
            <a:avLst/>
          </a:prstGeom>
          <a:solidFill>
            <a:srgbClr val="0F766E">
              <a:alpha val="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1016000" y="5080000"/>
            <a:ext cx="2540000" cy="2540000"/>
          </a:xfrm>
          <a:prstGeom prst="ellipse">
            <a:avLst/>
          </a:prstGeom>
          <a:solidFill>
            <a:srgbClr val="0F766E">
              <a:alpha val="5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508000" y="508000"/>
            <a:ext cx="11176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0F766E"/>
                </a:solidFill>
                <a:latin typeface="Noto Sans SC" panose="020B0200000000000000" charset="-122"/>
                <a:ea typeface="Noto Sans SC" panose="020B0200000000000000" charset="-122"/>
                <a:cs typeface="Noto Sans SC" panose="020B0200000000000000" charset="-122"/>
                <a:sym typeface="Noto Sans SC" panose="020B0200000000000000" charset="-122"/>
              </a:rPr>
              <a:t>常见的索引访问路径</a:t>
            </a:r>
            <a:endParaRPr lang="en-US" sz="1100"/>
          </a:p>
        </p:txBody>
      </p:sp>
      <p:sp>
        <p:nvSpPr>
          <p:cNvPr id="5" name="AutoShape 5"/>
          <p:cNvSpPr/>
          <p:nvPr/>
        </p:nvSpPr>
        <p:spPr>
          <a:xfrm>
            <a:off x="508000" y="1270000"/>
            <a:ext cx="11176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索引是数据库性能优化的核心基石，不同的访问路径直接决定了查询的执行效率与资源消耗。深入理解这四种核心机制，是编写高效SQL的基础。</a:t>
            </a:r>
            <a:endParaRPr lang="en-US" sz="1100"/>
          </a:p>
        </p:txBody>
      </p:sp>
      <p:graphicFrame>
        <p:nvGraphicFramePr>
          <p:cNvPr id="6" name="Table 6"/>
          <p:cNvGraphicFramePr>
            <a:graphicFrameLocks noGrp="1"/>
          </p:cNvGraphicFramePr>
          <p:nvPr/>
        </p:nvGraphicFramePr>
        <p:xfrm>
          <a:off x="508000" y="2032000"/>
          <a:ext cx="11176000" cy="3937000"/>
        </p:xfrm>
        <a:graphic>
          <a:graphicData uri="http://schemas.openxmlformats.org/drawingml/2006/table">
            <a:tbl>
              <a:tblPr>
                <a:effectLst/>
              </a:tblPr>
              <a:tblGrid>
                <a:gridCol w="2794000"/>
                <a:gridCol w="4191000"/>
                <a:gridCol w="4191000"/>
              </a:tblGrid>
              <a:tr h="635000">
                <a:tc>
                  <a:txBody>
                    <a:bodyPr rtlCol="0"/>
                    <a:lstStyle/>
                    <a:p>
                      <a:pPr marL="0" indent="0" algn="ctr">
                        <a:lnSpc>
                          <a:spcPct val="100000"/>
                        </a:lnSpc>
                        <a:defRPr/>
                      </a:pPr>
                      <a:r>
                        <a:rPr lang="en-US" sz="15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访问方式</a:t>
                      </a:r>
                      <a:endParaRPr lang="en-US" sz="1100"/>
                    </a:p>
                  </a:txBody>
                  <a:tcPr marL="101600" marR="101600" marT="101600" marB="101600" anchor="t" anchorCtr="0">
                    <a:lnL>
                      <a:noFill/>
                    </a:lnL>
                    <a:lnR>
                      <a:noFill/>
                    </a:lnR>
                    <a:lnT>
                      <a:noFill/>
                    </a:lnT>
                    <a:lnB>
                      <a:noFill/>
                    </a:lnB>
                    <a:solidFill>
                      <a:srgbClr val="0F766E">
                        <a:alpha val="100000"/>
                      </a:srgbClr>
                    </a:solidFill>
                  </a:tcPr>
                </a:tc>
                <a:tc>
                  <a:txBody>
                    <a:bodyPr rtlCol="0"/>
                    <a:lstStyle/>
                    <a:p>
                      <a:pPr marL="0" indent="0" algn="ctr">
                        <a:lnSpc>
                          <a:spcPct val="100000"/>
                        </a:lnSpc>
                        <a:defRPr/>
                      </a:pPr>
                      <a:r>
                        <a:rPr lang="en-US" sz="15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适用场景</a:t>
                      </a:r>
                      <a:endParaRPr lang="en-US" sz="1100"/>
                    </a:p>
                  </a:txBody>
                  <a:tcPr marL="101600" marR="101600" marT="101600" marB="101600" anchor="t" anchorCtr="0">
                    <a:lnL>
                      <a:noFill/>
                    </a:lnL>
                    <a:lnR>
                      <a:noFill/>
                    </a:lnR>
                    <a:lnT>
                      <a:noFill/>
                    </a:lnT>
                    <a:lnB>
                      <a:noFill/>
                    </a:lnB>
                    <a:solidFill>
                      <a:srgbClr val="0F766E">
                        <a:alpha val="100000"/>
                      </a:srgbClr>
                    </a:solidFill>
                  </a:tcPr>
                </a:tc>
                <a:tc>
                  <a:txBody>
                    <a:bodyPr rtlCol="0"/>
                    <a:lstStyle/>
                    <a:p>
                      <a:pPr marL="0" indent="0" algn="ctr">
                        <a:lnSpc>
                          <a:spcPct val="100000"/>
                        </a:lnSpc>
                        <a:defRPr/>
                      </a:pPr>
                      <a:r>
                        <a:rPr lang="en-US" sz="15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性能与特点</a:t>
                      </a:r>
                      <a:endParaRPr lang="en-US" sz="1100"/>
                    </a:p>
                  </a:txBody>
                  <a:tcPr marL="101600" marR="101600" marT="101600" marB="101600" anchor="t" anchorCtr="0">
                    <a:lnL>
                      <a:noFill/>
                    </a:lnL>
                    <a:lnR>
                      <a:noFill/>
                    </a:lnR>
                    <a:lnT>
                      <a:noFill/>
                    </a:lnT>
                    <a:lnB>
                      <a:noFill/>
                    </a:lnB>
                    <a:solidFill>
                      <a:srgbClr val="0F766E">
                        <a:alpha val="100000"/>
                      </a:srgbClr>
                    </a:solidFill>
                  </a:tcPr>
                </a:tc>
              </a:tr>
              <a:tr h="825500">
                <a:tc>
                  <a:txBody>
                    <a:bodyPr rtlCol="0"/>
                    <a:lstStyle/>
                    <a:p>
                      <a:pPr marL="0" indent="0" algn="ctr">
                        <a:lnSpc>
                          <a:spcPct val="100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索引唯一扫描 (Unique Scan)</a:t>
                      </a:r>
                      <a:endParaRPr lang="en-US" sz="1100"/>
                    </a:p>
                  </a:txBody>
                  <a:tcPr marL="101600" marR="101600" marT="101600" marB="101600" anchor="t" anchorCtr="0">
                    <a:lnL>
                      <a:noFill/>
                    </a:lnL>
                    <a:lnR>
                      <a:noFill/>
                    </a:lnR>
                    <a:lnT>
                      <a:noFill/>
                    </a:lnT>
                    <a:lnB>
                      <a:noFill/>
                    </a:lnB>
                    <a:solidFill>
                      <a:srgbClr val="F3F4F6">
                        <a:alpha val="100000"/>
                      </a:srgbClr>
                    </a:solidFill>
                  </a:tcPr>
                </a:tc>
                <a:tc>
                  <a:txBody>
                    <a:bodyPr rtlCol="0"/>
                    <a:lstStyle/>
                    <a:p>
                      <a:pPr marL="0" indent="0" algn="ctr">
                        <a:lnSpc>
                          <a:spcPct val="108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针对主键或唯一约束的</a:t>
                      </a:r>
                      <a:r>
                        <a:rPr lang="en-US" sz="13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等值查询（=）</a:t>
                      </a: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，确保返回结果集仅有一条记录。</a:t>
                      </a:r>
                      <a:endParaRPr lang="en-US" sz="1100"/>
                    </a:p>
                  </a:txBody>
                  <a:tcPr marL="101600" marR="101600" marT="101600" marB="101600" anchor="t" anchorCtr="0">
                    <a:lnL>
                      <a:noFill/>
                    </a:lnL>
                    <a:lnR>
                      <a:noFill/>
                    </a:lnR>
                    <a:lnT>
                      <a:noFill/>
                    </a:lnT>
                    <a:lnB>
                      <a:noFill/>
                    </a:lnB>
                    <a:solidFill>
                      <a:srgbClr val="F3F4F6">
                        <a:alpha val="100000"/>
                      </a:srgbClr>
                    </a:solidFill>
                  </a:tcPr>
                </a:tc>
                <a:tc>
                  <a:txBody>
                    <a:bodyPr rtlCol="0"/>
                    <a:lstStyle/>
                    <a:p>
                      <a:pPr marL="0" indent="0" algn="ctr">
                        <a:lnSpc>
                          <a:spcPct val="108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直接定位目标行，无需遍历，</a:t>
                      </a:r>
                      <a:r>
                        <a:rPr lang="en-US" sz="13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IO开销极低</a:t>
                      </a: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，查询效率理论上为最优级别。</a:t>
                      </a:r>
                      <a:endParaRPr lang="en-US" sz="1100"/>
                    </a:p>
                  </a:txBody>
                  <a:tcPr marL="101600" marR="101600" marT="101600" marB="101600" anchor="t" anchorCtr="0">
                    <a:lnL>
                      <a:noFill/>
                    </a:lnL>
                    <a:lnR>
                      <a:noFill/>
                    </a:lnR>
                    <a:lnT>
                      <a:noFill/>
                    </a:lnT>
                    <a:lnB>
                      <a:noFill/>
                    </a:lnB>
                    <a:solidFill>
                      <a:srgbClr val="F3F4F6">
                        <a:alpha val="100000"/>
                      </a:srgbClr>
                    </a:solidFill>
                  </a:tcPr>
                </a:tc>
              </a:tr>
              <a:tr h="825500">
                <a:tc>
                  <a:txBody>
                    <a:bodyPr rtlCol="0"/>
                    <a:lstStyle/>
                    <a:p>
                      <a:pPr marL="0" indent="0" algn="ctr">
                        <a:lnSpc>
                          <a:spcPct val="100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索引范围扫描 (Range Scan)</a:t>
                      </a:r>
                      <a:endParaRPr lang="en-US" sz="1100"/>
                    </a:p>
                  </a:txBody>
                  <a:tcPr marL="101600" marR="101600" marT="101600" marB="101600" anchor="t" anchorCtr="0">
                    <a:lnL>
                      <a:noFill/>
                    </a:lnL>
                    <a:lnR>
                      <a:noFill/>
                    </a:lnR>
                    <a:lnT>
                      <a:noFill/>
                    </a:lnT>
                    <a:lnB>
                      <a:noFill/>
                    </a:lnB>
                    <a:solidFill>
                      <a:srgbClr val="FFFFFF">
                        <a:alpha val="100000"/>
                      </a:srgbClr>
                    </a:solidFill>
                  </a:tcPr>
                </a:tc>
                <a:tc>
                  <a:txBody>
                    <a:bodyPr rtlCol="0"/>
                    <a:lstStyle/>
                    <a:p>
                      <a:pPr marL="0" indent="0" algn="ctr">
                        <a:lnSpc>
                          <a:spcPct val="108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非唯一索引的等值/范围查询（&gt;、&lt;、BETWEEN、IN），或LIKE前缀匹配查询。</a:t>
                      </a:r>
                      <a:endParaRPr lang="en-US" sz="1100"/>
                    </a:p>
                  </a:txBody>
                  <a:tcPr marL="101600" marR="101600" marT="101600" marB="101600" anchor="t" anchorCtr="0">
                    <a:lnL>
                      <a:noFill/>
                    </a:lnL>
                    <a:lnR>
                      <a:noFill/>
                    </a:lnR>
                    <a:lnT>
                      <a:noFill/>
                    </a:lnT>
                    <a:lnB>
                      <a:noFill/>
                    </a:lnB>
                    <a:solidFill>
                      <a:srgbClr val="FFFFFF">
                        <a:alpha val="100000"/>
                      </a:srgbClr>
                    </a:solidFill>
                  </a:tcPr>
                </a:tc>
                <a:tc>
                  <a:txBody>
                    <a:bodyPr rtlCol="0"/>
                    <a:lstStyle/>
                    <a:p>
                      <a:pPr marL="0" indent="0" algn="ctr">
                        <a:lnSpc>
                          <a:spcPct val="108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扫描索引连续区间，性能与结果集大小成反比，</a:t>
                      </a:r>
                      <a:r>
                        <a:rPr lang="en-US" sz="13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结果集越小，效率越高</a:t>
                      </a: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a:p>
                  </a:txBody>
                  <a:tcPr marL="101600" marR="101600" marT="101600" marB="101600" anchor="t" anchorCtr="0">
                    <a:lnL>
                      <a:noFill/>
                    </a:lnL>
                    <a:lnR>
                      <a:noFill/>
                    </a:lnR>
                    <a:lnT>
                      <a:noFill/>
                    </a:lnT>
                    <a:lnB>
                      <a:noFill/>
                    </a:lnB>
                    <a:solidFill>
                      <a:srgbClr val="FFFFFF">
                        <a:alpha val="100000"/>
                      </a:srgbClr>
                    </a:solidFill>
                  </a:tcPr>
                </a:tc>
              </a:tr>
              <a:tr h="825500">
                <a:tc>
                  <a:txBody>
                    <a:bodyPr rtlCol="0"/>
                    <a:lstStyle/>
                    <a:p>
                      <a:pPr marL="0" indent="0" algn="ctr">
                        <a:lnSpc>
                          <a:spcPct val="100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索引全扫描 (Full Scan)</a:t>
                      </a:r>
                      <a:endParaRPr lang="en-US" sz="1100"/>
                    </a:p>
                  </a:txBody>
                  <a:tcPr marL="101600" marR="101600" marT="101600" marB="101600" anchor="t" anchorCtr="0">
                    <a:lnL>
                      <a:noFill/>
                    </a:lnL>
                    <a:lnR>
                      <a:noFill/>
                    </a:lnR>
                    <a:lnT>
                      <a:noFill/>
                    </a:lnT>
                    <a:lnB>
                      <a:noFill/>
                    </a:lnB>
                    <a:solidFill>
                      <a:srgbClr val="F3F4F6">
                        <a:alpha val="100000"/>
                      </a:srgbClr>
                    </a:solidFill>
                  </a:tcPr>
                </a:tc>
                <a:tc>
                  <a:txBody>
                    <a:bodyPr rtlCol="0"/>
                    <a:lstStyle/>
                    <a:p>
                      <a:pPr marL="0" indent="0" algn="ctr">
                        <a:lnSpc>
                          <a:spcPct val="108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无有效过滤条件需读取全部索引，或利用覆盖索引避免回表查询的场景。</a:t>
                      </a:r>
                      <a:endParaRPr lang="en-US" sz="1100"/>
                    </a:p>
                  </a:txBody>
                  <a:tcPr marL="101600" marR="101600" marT="101600" marB="101600" anchor="t" anchorCtr="0">
                    <a:lnL>
                      <a:noFill/>
                    </a:lnL>
                    <a:lnR>
                      <a:noFill/>
                    </a:lnR>
                    <a:lnT>
                      <a:noFill/>
                    </a:lnT>
                    <a:lnB>
                      <a:noFill/>
                    </a:lnB>
                    <a:solidFill>
                      <a:srgbClr val="F3F4F6">
                        <a:alpha val="100000"/>
                      </a:srgbClr>
                    </a:solidFill>
                  </a:tcPr>
                </a:tc>
                <a:tc>
                  <a:txBody>
                    <a:bodyPr rtlCol="0"/>
                    <a:lstStyle/>
                    <a:p>
                      <a:pPr marL="0" indent="0" algn="ctr">
                        <a:lnSpc>
                          <a:spcPct val="108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按索引排序顺序读取，属于</a:t>
                      </a:r>
                      <a:r>
                        <a:rPr lang="en-US" sz="13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顺序IO</a:t>
                      </a: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，性能优于全表扫描，但仍需遍历所有项。</a:t>
                      </a:r>
                      <a:endParaRPr lang="en-US" sz="1100"/>
                    </a:p>
                  </a:txBody>
                  <a:tcPr marL="101600" marR="101600" marT="101600" marB="101600" anchor="t" anchorCtr="0">
                    <a:lnL>
                      <a:noFill/>
                    </a:lnL>
                    <a:lnR>
                      <a:noFill/>
                    </a:lnR>
                    <a:lnT>
                      <a:noFill/>
                    </a:lnT>
                    <a:lnB>
                      <a:noFill/>
                    </a:lnB>
                    <a:solidFill>
                      <a:srgbClr val="F3F4F6">
                        <a:alpha val="100000"/>
                      </a:srgbClr>
                    </a:solidFill>
                  </a:tcPr>
                </a:tc>
              </a:tr>
              <a:tr h="825500">
                <a:tc>
                  <a:txBody>
                    <a:bodyPr rtlCol="0"/>
                    <a:lstStyle/>
                    <a:p>
                      <a:pPr marL="0" indent="0" algn="ctr">
                        <a:lnSpc>
                          <a:spcPct val="100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索引快速全扫描 (Fast Full)</a:t>
                      </a:r>
                      <a:endParaRPr lang="en-US" sz="1100"/>
                    </a:p>
                  </a:txBody>
                  <a:tcPr marL="101600" marR="101600" marT="101600" marB="101600" anchor="t" anchorCtr="0">
                    <a:lnL>
                      <a:noFill/>
                    </a:lnL>
                    <a:lnR>
                      <a:noFill/>
                    </a:lnR>
                    <a:lnT>
                      <a:noFill/>
                    </a:lnT>
                    <a:lnB>
                      <a:noFill/>
                    </a:lnB>
                    <a:solidFill>
                      <a:srgbClr val="FFFFFF">
                        <a:alpha val="100000"/>
                      </a:srgbClr>
                    </a:solidFill>
                  </a:tcPr>
                </a:tc>
                <a:tc>
                  <a:txBody>
                    <a:bodyPr rtlCol="0"/>
                    <a:lstStyle/>
                    <a:p>
                      <a:pPr marL="0" indent="0" algn="ctr">
                        <a:lnSpc>
                          <a:spcPct val="108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COUNT/SUM等统计类查询，需读取全量索引且无需按索引顺序输出结果。</a:t>
                      </a:r>
                      <a:endParaRPr lang="en-US" sz="1100"/>
                    </a:p>
                  </a:txBody>
                  <a:tcPr marL="101600" marR="101600" marT="101600" marB="101600" anchor="t" anchorCtr="0">
                    <a:lnL>
                      <a:noFill/>
                    </a:lnL>
                    <a:lnR>
                      <a:noFill/>
                    </a:lnR>
                    <a:lnT>
                      <a:noFill/>
                    </a:lnT>
                    <a:lnB>
                      <a:noFill/>
                    </a:lnB>
                    <a:solidFill>
                      <a:srgbClr val="FFFFFF">
                        <a:alpha val="100000"/>
                      </a:srgbClr>
                    </a:solidFill>
                  </a:tcPr>
                </a:tc>
                <a:tc>
                  <a:txBody>
                    <a:bodyPr rtlCol="0"/>
                    <a:lstStyle/>
                    <a:p>
                      <a:pPr marL="0" indent="0" algn="ctr">
                        <a:lnSpc>
                          <a:spcPct val="108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支持</a:t>
                      </a:r>
                      <a:r>
                        <a:rPr lang="en-US" sz="13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多块并行读取</a:t>
                      </a: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，跳过排序步骤，比普通索引全扫描更高效，适合大数据量。</a:t>
                      </a:r>
                      <a:endParaRPr lang="en-US" sz="1100"/>
                    </a:p>
                  </a:txBody>
                  <a:tcPr marL="101600" marR="101600" marT="101600" marB="101600" anchor="t" anchorCtr="0">
                    <a:lnL>
                      <a:noFill/>
                    </a:lnL>
                    <a:lnR>
                      <a:noFill/>
                    </a:lnR>
                    <a:lnT>
                      <a:noFill/>
                    </a:lnT>
                    <a:lnB>
                      <a:noFill/>
                    </a:lnB>
                    <a:solidFill>
                      <a:srgbClr val="FFFFFF">
                        <a:alpha val="100000"/>
                      </a:srgbClr>
                    </a:solidFill>
                  </a:tcPr>
                </a:tc>
              </a:tr>
            </a:tbl>
          </a:graphicData>
        </a:graphic>
      </p:graphicFrame>
      <p:sp>
        <p:nvSpPr>
          <p:cNvPr id="7" name="AutoShape 7"/>
          <p:cNvSpPr/>
          <p:nvPr/>
        </p:nvSpPr>
        <p:spPr>
          <a:xfrm>
            <a:off x="508000" y="5778500"/>
            <a:ext cx="11176000" cy="762000"/>
          </a:xfrm>
          <a:prstGeom prst="roundRect">
            <a:avLst>
              <a:gd name="adj" fmla="val 0"/>
            </a:avLst>
          </a:prstGeom>
          <a:solidFill>
            <a:srgbClr val="D1FAE5">
              <a:alpha val="100000"/>
            </a:srgbClr>
          </a:solidFill>
          <a:ln w="12700" cap="flat" cmpd="sng">
            <a:solidFill>
              <a:srgbClr val="10B981">
                <a:alpha val="30000"/>
              </a:srgbClr>
            </a:solidFill>
            <a:prstDash val="solid"/>
            <a:round/>
          </a:ln>
        </p:spPr>
        <p:txBody>
          <a:bodyPr vert="horz" wrap="square" lIns="63500" tIns="63500" rIns="63500" bIns="63500" rtlCol="0" anchor="ctr"/>
          <a:lstStyle/>
          <a:p>
            <a:pPr algn="ctr">
              <a:defRPr/>
            </a:pPr>
          </a:p>
        </p:txBody>
      </p:sp>
      <p:sp>
        <p:nvSpPr>
          <p:cNvPr id="8" name="AutoShape 8"/>
          <p:cNvSpPr/>
          <p:nvPr/>
        </p:nvSpPr>
        <p:spPr>
          <a:xfrm>
            <a:off x="698500" y="5880100"/>
            <a:ext cx="10795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300" b="1" i="0" u="none" strike="noStrike">
                <a:solidFill>
                  <a:srgbClr val="064E3B"/>
                </a:solidFill>
                <a:latin typeface="Noto Sans SC" panose="020B0200000000000000" charset="-122"/>
                <a:ea typeface="Noto Sans SC" panose="020B0200000000000000" charset="-122"/>
                <a:cs typeface="Noto Sans SC" panose="020B0200000000000000" charset="-122"/>
                <a:sym typeface="Noto Sans SC" panose="020B0200000000000000" charset="-122"/>
              </a:rPr>
              <a:t>💡 优化洞察：</a:t>
            </a:r>
            <a:r>
              <a:rPr lang="en-US" sz="1300" b="0" i="0" u="none" strike="noStrike">
                <a:solidFill>
                  <a:srgbClr val="064E3B"/>
                </a:solidFill>
                <a:latin typeface="Noto Sans SC" panose="020B0200000000000000" charset="-122"/>
                <a:ea typeface="Noto Sans SC" panose="020B0200000000000000" charset="-122"/>
                <a:cs typeface="Noto Sans SC" panose="020B0200000000000000" charset="-122"/>
                <a:sym typeface="Noto Sans SC" panose="020B0200000000000000" charset="-122"/>
              </a:rPr>
              <a:t>在开发中应优先构造能触发“唯一扫描”或“范围扫描”的查询条件；对于聚合类查询，确保查询字段被索引覆盖，数据库会自动选择更高效的“快速全扫描”路径。</a:t>
            </a:r>
            <a:endParaRPr lang="en-US" sz="11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3F4F6">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9525000" y="-1270000"/>
            <a:ext cx="3810000" cy="3810000"/>
          </a:xfrm>
          <a:prstGeom prst="ellipse">
            <a:avLst/>
          </a:prstGeom>
          <a:solidFill>
            <a:srgbClr val="166534">
              <a:alpha val="3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1016000" y="4826000"/>
            <a:ext cx="2540000" cy="2540000"/>
          </a:xfrm>
          <a:prstGeom prst="ellipse">
            <a:avLst/>
          </a:prstGeom>
          <a:solidFill>
            <a:srgbClr val="166534">
              <a:alpha val="3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0" y="1651000"/>
            <a:ext cx="12192000" cy="2286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6000" b="1" i="0" u="none" strike="noStrike">
                <a:solidFill>
                  <a:srgbClr val="166534">
                    <a:alpha val="14902"/>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02</a:t>
            </a:r>
            <a:endParaRPr lang="en-US" sz="1100"/>
          </a:p>
        </p:txBody>
      </p:sp>
      <p:sp>
        <p:nvSpPr>
          <p:cNvPr id="5" name="AutoShape 5"/>
          <p:cNvSpPr/>
          <p:nvPr/>
        </p:nvSpPr>
        <p:spPr>
          <a:xfrm>
            <a:off x="0" y="4191000"/>
            <a:ext cx="12192000" cy="1016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36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Oracle索引类型详解</a:t>
            </a:r>
            <a:endParaRPr lang="en-US" sz="1100"/>
          </a:p>
        </p:txBody>
      </p:sp>
      <p:sp>
        <p:nvSpPr>
          <p:cNvPr id="6" name="AutoShape 6"/>
          <p:cNvSpPr/>
          <p:nvPr/>
        </p:nvSpPr>
        <p:spPr>
          <a:xfrm>
            <a:off x="5334000" y="5778500"/>
            <a:ext cx="1524000" cy="76200"/>
          </a:xfrm>
          <a:prstGeom prst="roundRect">
            <a:avLst>
              <a:gd name="adj" fmla="val 0"/>
            </a:avLst>
          </a:prstGeom>
          <a:solidFill>
            <a:srgbClr val="166534">
              <a:alpha val="100000"/>
            </a:srgbClr>
          </a:solidFill>
          <a:ln w="25400" cap="flat" cmpd="sng">
            <a:noFill/>
            <a:prstDash val="solid"/>
            <a:round/>
          </a:ln>
        </p:spPr>
        <p:txBody>
          <a:bodyPr vert="horz" wrap="square" lIns="63500" tIns="63500" rIns="63500" bIns="63500" rtlCol="0" anchor="ctr"/>
          <a:lstStyle/>
          <a:p>
            <a:pPr algn="ctr">
              <a:defRPr/>
            </a:p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9525000" y="-1270000"/>
            <a:ext cx="3810000" cy="3810000"/>
          </a:xfrm>
          <a:prstGeom prst="ellipse">
            <a:avLst/>
          </a:prstGeom>
          <a:solidFill>
            <a:srgbClr val="2563EB">
              <a:alpha val="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1016000" y="5080000"/>
            <a:ext cx="2540000" cy="2540000"/>
          </a:xfrm>
          <a:prstGeom prst="ellipse">
            <a:avLst/>
          </a:prstGeom>
          <a:solidFill>
            <a:srgbClr val="2563EB">
              <a:alpha val="5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508000" y="508000"/>
            <a:ext cx="11176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普通索引</a:t>
            </a:r>
            <a:r>
              <a:rPr lang="en-US" sz="32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3200" b="1">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B树索引</a:t>
            </a:r>
            <a:r>
              <a:rPr lang="en-US" sz="32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a:p>
        </p:txBody>
      </p:sp>
      <p:sp>
        <p:nvSpPr>
          <p:cNvPr id="5" name="AutoShape 5"/>
          <p:cNvSpPr/>
          <p:nvPr/>
        </p:nvSpPr>
        <p:spPr>
          <a:xfrm>
            <a:off x="508000" y="1397000"/>
            <a:ext cx="11176000" cy="1397000"/>
          </a:xfrm>
          <a:prstGeom prst="roundRect">
            <a:avLst>
              <a:gd name="adj" fmla="val 0"/>
            </a:avLst>
          </a:prstGeom>
          <a:solidFill>
            <a:srgbClr val="EFF6FF">
              <a:alpha val="100000"/>
            </a:srgbClr>
          </a:solidFill>
          <a:ln cap="flat" cmpd="sng">
            <a:solidFill>
              <a:srgbClr val="C0D0E6">
                <a:alpha val="100000"/>
              </a:srgbClr>
            </a:solid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62000" y="1790700"/>
            <a:ext cx="609600" cy="609600"/>
          </a:xfrm>
          <a:prstGeom prst="rect">
            <a:avLst/>
          </a:prstGeom>
        </p:spPr>
      </p:pic>
      <p:sp>
        <p:nvSpPr>
          <p:cNvPr id="7" name="AutoShape 7"/>
          <p:cNvSpPr/>
          <p:nvPr/>
        </p:nvSpPr>
        <p:spPr>
          <a:xfrm>
            <a:off x="1587500" y="1524000"/>
            <a:ext cx="9906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a:solidFill>
                  <a:srgbClr val="1E3A8A"/>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核心结构：平衡多叉树的高效之道</a:t>
            </a:r>
            <a:endParaRPr lang="en-US" sz="1100"/>
          </a:p>
          <a:p>
            <a:pPr marL="0" indent="0" algn="l">
              <a:lnSpc>
                <a:spcPct val="117000"/>
              </a:lnSpc>
            </a:pP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作为数据库默认的索引类型，B树通过分层存储机制大幅减少磁盘I/O次数。其平衡特性确保了查询效率稳定，不仅完美支持等值查询，更是范围查询（如BETWEEN、IN）的最佳拍档，特别适合高基数（唯一值占比高）的列场景。</a:t>
            </a:r>
            <a:endPar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8" name="AutoShape 8"/>
          <p:cNvSpPr/>
          <p:nvPr/>
        </p:nvSpPr>
        <p:spPr>
          <a:xfrm>
            <a:off x="508000" y="3048000"/>
            <a:ext cx="2667000" cy="1587500"/>
          </a:xfrm>
          <a:prstGeom prst="roundRect">
            <a:avLst>
              <a:gd name="adj" fmla="val 0"/>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98500" y="3238500"/>
            <a:ext cx="304800" cy="304800"/>
          </a:xfrm>
          <a:prstGeom prst="rect">
            <a:avLst/>
          </a:prstGeom>
        </p:spPr>
      </p:pic>
      <p:sp>
        <p:nvSpPr>
          <p:cNvPr id="10" name="AutoShape 10"/>
          <p:cNvSpPr/>
          <p:nvPr/>
        </p:nvSpPr>
        <p:spPr>
          <a:xfrm>
            <a:off x="1079500" y="3238500"/>
            <a:ext cx="2032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主键与唯一约束</a:t>
            </a:r>
            <a:endParaRPr lang="en-US" sz="1100"/>
          </a:p>
        </p:txBody>
      </p:sp>
      <p:sp>
        <p:nvSpPr>
          <p:cNvPr id="11" name="AutoShape 11"/>
          <p:cNvSpPr/>
          <p:nvPr/>
        </p:nvSpPr>
        <p:spPr>
          <a:xfrm>
            <a:off x="698500" y="3683000"/>
            <a:ext cx="2349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天然适配主键与唯一键，强制数据唯一性，同时作为聚簇索引的基础，加速表关联查询。</a:t>
            </a:r>
            <a:endParaRPr lang="en-US" sz="1100"/>
          </a:p>
        </p:txBody>
      </p:sp>
      <p:sp>
        <p:nvSpPr>
          <p:cNvPr id="12" name="AutoShape 12"/>
          <p:cNvSpPr/>
          <p:nvPr/>
        </p:nvSpPr>
        <p:spPr>
          <a:xfrm>
            <a:off x="3340100" y="3048000"/>
            <a:ext cx="2667000" cy="1587500"/>
          </a:xfrm>
          <a:prstGeom prst="roundRect">
            <a:avLst>
              <a:gd name="adj" fmla="val 0"/>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530600" y="3238500"/>
            <a:ext cx="304800" cy="304800"/>
          </a:xfrm>
          <a:prstGeom prst="rect">
            <a:avLst/>
          </a:prstGeom>
        </p:spPr>
      </p:pic>
      <p:sp>
        <p:nvSpPr>
          <p:cNvPr id="14" name="AutoShape 14"/>
          <p:cNvSpPr/>
          <p:nvPr/>
        </p:nvSpPr>
        <p:spPr>
          <a:xfrm>
            <a:off x="3911600" y="3238500"/>
            <a:ext cx="2032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高选择性列</a:t>
            </a:r>
            <a:endParaRPr lang="en-US" sz="1100"/>
          </a:p>
        </p:txBody>
      </p:sp>
      <p:sp>
        <p:nvSpPr>
          <p:cNvPr id="15" name="AutoShape 15"/>
          <p:cNvSpPr/>
          <p:nvPr/>
        </p:nvSpPr>
        <p:spPr>
          <a:xfrm>
            <a:off x="3530600" y="3683000"/>
            <a:ext cx="2349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列中唯一值占比极高（如身份证号），索引过滤后能迅速缩小结果集，避免全表扫描。</a:t>
            </a:r>
            <a:endParaRPr lang="en-US" sz="1100"/>
          </a:p>
        </p:txBody>
      </p:sp>
      <p:sp>
        <p:nvSpPr>
          <p:cNvPr id="16" name="AutoShape 16"/>
          <p:cNvSpPr/>
          <p:nvPr/>
        </p:nvSpPr>
        <p:spPr>
          <a:xfrm>
            <a:off x="6172200" y="3048000"/>
            <a:ext cx="2667000" cy="1587500"/>
          </a:xfrm>
          <a:prstGeom prst="roundRect">
            <a:avLst>
              <a:gd name="adj" fmla="val 0"/>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7" name="Picture 17"/>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362700" y="3238500"/>
            <a:ext cx="304800" cy="304800"/>
          </a:xfrm>
          <a:prstGeom prst="rect">
            <a:avLst/>
          </a:prstGeom>
        </p:spPr>
      </p:pic>
      <p:sp>
        <p:nvSpPr>
          <p:cNvPr id="18" name="AutoShape 18"/>
          <p:cNvSpPr/>
          <p:nvPr/>
        </p:nvSpPr>
        <p:spPr>
          <a:xfrm>
            <a:off x="6743700" y="3238500"/>
            <a:ext cx="2032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高频查询条件</a:t>
            </a:r>
            <a:endParaRPr lang="en-US" sz="1100"/>
          </a:p>
        </p:txBody>
      </p:sp>
      <p:sp>
        <p:nvSpPr>
          <p:cNvPr id="19" name="AutoShape 19"/>
          <p:cNvSpPr/>
          <p:nvPr/>
        </p:nvSpPr>
        <p:spPr>
          <a:xfrm>
            <a:off x="6362700" y="3683000"/>
            <a:ext cx="2349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WHERE子句中频繁出现的列（如用户ID、订单日期），直接将检索效率从毫秒级提升。</a:t>
            </a:r>
            <a:endParaRPr lang="en-US" sz="1100"/>
          </a:p>
        </p:txBody>
      </p:sp>
      <p:sp>
        <p:nvSpPr>
          <p:cNvPr id="20" name="AutoShape 20"/>
          <p:cNvSpPr/>
          <p:nvPr/>
        </p:nvSpPr>
        <p:spPr>
          <a:xfrm>
            <a:off x="9017000" y="3048000"/>
            <a:ext cx="2667000" cy="1587500"/>
          </a:xfrm>
          <a:prstGeom prst="roundRect">
            <a:avLst>
              <a:gd name="adj" fmla="val 0"/>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1" name="Picture 21"/>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207500" y="3238500"/>
            <a:ext cx="304800" cy="304800"/>
          </a:xfrm>
          <a:prstGeom prst="rect">
            <a:avLst/>
          </a:prstGeom>
        </p:spPr>
      </p:pic>
      <p:sp>
        <p:nvSpPr>
          <p:cNvPr id="22" name="AutoShape 22"/>
          <p:cNvSpPr/>
          <p:nvPr/>
        </p:nvSpPr>
        <p:spPr>
          <a:xfrm>
            <a:off x="9588500" y="3238500"/>
            <a:ext cx="2032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排序与聚合优化</a:t>
            </a:r>
            <a:endParaRPr lang="en-US" sz="1100"/>
          </a:p>
        </p:txBody>
      </p:sp>
      <p:sp>
        <p:nvSpPr>
          <p:cNvPr id="23" name="AutoShape 23"/>
          <p:cNvSpPr/>
          <p:nvPr/>
        </p:nvSpPr>
        <p:spPr>
          <a:xfrm>
            <a:off x="9207500" y="3683000"/>
            <a:ext cx="2349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覆盖ORDER BY或GROUP BY操作，利用索引有序性避免数据库进行昂贵的临时表排序。</a:t>
            </a:r>
            <a:endParaRPr lang="en-US" sz="1100"/>
          </a:p>
        </p:txBody>
      </p:sp>
      <p:sp>
        <p:nvSpPr>
          <p:cNvPr id="24" name="AutoShape 24"/>
          <p:cNvSpPr/>
          <p:nvPr/>
        </p:nvSpPr>
        <p:spPr>
          <a:xfrm>
            <a:off x="508000" y="4889500"/>
            <a:ext cx="5461000" cy="1460500"/>
          </a:xfrm>
          <a:prstGeom prst="roundRect">
            <a:avLst>
              <a:gd name="adj" fmla="val 0"/>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sp>
        <p:nvSpPr>
          <p:cNvPr id="25" name="AutoShape 25"/>
          <p:cNvSpPr/>
          <p:nvPr/>
        </p:nvSpPr>
        <p:spPr>
          <a:xfrm>
            <a:off x="698500" y="5016500"/>
            <a:ext cx="5207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01 普通索引创建语法</a:t>
            </a:r>
            <a:endParaRPr lang="en-US" sz="1100"/>
          </a:p>
        </p:txBody>
      </p:sp>
      <p:sp>
        <p:nvSpPr>
          <p:cNvPr id="26" name="AutoShape 26"/>
          <p:cNvSpPr/>
          <p:nvPr/>
        </p:nvSpPr>
        <p:spPr>
          <a:xfrm>
            <a:off x="698500" y="5397500"/>
            <a:ext cx="5080000" cy="762000"/>
          </a:xfrm>
          <a:prstGeom prst="roundRect">
            <a:avLst>
              <a:gd name="adj" fmla="val 0"/>
            </a:avLst>
          </a:prstGeom>
          <a:solidFill>
            <a:srgbClr val="E5E7EB">
              <a:alpha val="30000"/>
            </a:srgbClr>
          </a:solidFill>
          <a:ln w="25400" cap="flat" cmpd="sng">
            <a:noFill/>
            <a:prstDash val="solid"/>
            <a:round/>
          </a:ln>
        </p:spPr>
        <p:txBody>
          <a:bodyPr vert="horz" wrap="square" lIns="63500" tIns="63500" rIns="63500" bIns="63500" rtlCol="0" anchor="ctr"/>
          <a:lstStyle/>
          <a:p>
            <a:pPr algn="ctr">
              <a:defRPr/>
            </a:pPr>
          </a:p>
        </p:txBody>
      </p:sp>
      <p:sp>
        <p:nvSpPr>
          <p:cNvPr id="27" name="AutoShape 27"/>
          <p:cNvSpPr/>
          <p:nvPr/>
        </p:nvSpPr>
        <p:spPr>
          <a:xfrm>
            <a:off x="762000" y="5486400"/>
            <a:ext cx="4953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1E3A8A"/>
                </a:solidFill>
                <a:latin typeface="Consolas" panose="020B0609020204030204"/>
                <a:ea typeface="Consolas" panose="020B0609020204030204"/>
                <a:cs typeface="Consolas" panose="020B0609020204030204"/>
                <a:sym typeface="Consolas" panose="020B0609020204030204"/>
              </a:rPr>
              <a:t>CREATE INDEX idx_emp_name \nON employees(last_name);</a:t>
            </a:r>
            <a:endParaRPr lang="en-US" sz="1100"/>
          </a:p>
        </p:txBody>
      </p:sp>
      <p:sp>
        <p:nvSpPr>
          <p:cNvPr id="28" name="AutoShape 28"/>
          <p:cNvSpPr/>
          <p:nvPr/>
        </p:nvSpPr>
        <p:spPr>
          <a:xfrm>
            <a:off x="6223000" y="4889500"/>
            <a:ext cx="5461000" cy="1460500"/>
          </a:xfrm>
          <a:prstGeom prst="roundRect">
            <a:avLst>
              <a:gd name="adj" fmla="val 0"/>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sp>
        <p:nvSpPr>
          <p:cNvPr id="29" name="AutoShape 29"/>
          <p:cNvSpPr/>
          <p:nvPr/>
        </p:nvSpPr>
        <p:spPr>
          <a:xfrm>
            <a:off x="6413500" y="5016500"/>
            <a:ext cx="5207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02 唯一索引创建语法</a:t>
            </a:r>
            <a:endParaRPr lang="en-US" sz="1100"/>
          </a:p>
        </p:txBody>
      </p:sp>
      <p:sp>
        <p:nvSpPr>
          <p:cNvPr id="30" name="AutoShape 30"/>
          <p:cNvSpPr/>
          <p:nvPr/>
        </p:nvSpPr>
        <p:spPr>
          <a:xfrm>
            <a:off x="6413500" y="5397500"/>
            <a:ext cx="5080000" cy="762000"/>
          </a:xfrm>
          <a:prstGeom prst="roundRect">
            <a:avLst>
              <a:gd name="adj" fmla="val 0"/>
            </a:avLst>
          </a:prstGeom>
          <a:solidFill>
            <a:srgbClr val="E5E7EB">
              <a:alpha val="30000"/>
            </a:srgbClr>
          </a:solidFill>
          <a:ln w="25400" cap="flat" cmpd="sng">
            <a:noFill/>
            <a:prstDash val="solid"/>
            <a:round/>
          </a:ln>
        </p:spPr>
        <p:txBody>
          <a:bodyPr vert="horz" wrap="square" lIns="63500" tIns="63500" rIns="63500" bIns="63500" rtlCol="0" anchor="ctr"/>
          <a:lstStyle/>
          <a:p>
            <a:pPr algn="ctr">
              <a:defRPr/>
            </a:pPr>
          </a:p>
        </p:txBody>
      </p:sp>
      <p:sp>
        <p:nvSpPr>
          <p:cNvPr id="31" name="AutoShape 31"/>
          <p:cNvSpPr/>
          <p:nvPr/>
        </p:nvSpPr>
        <p:spPr>
          <a:xfrm>
            <a:off x="6477000" y="5486400"/>
            <a:ext cx="4953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1E3A8A"/>
                </a:solidFill>
                <a:latin typeface="Consolas" panose="020B0609020204030204"/>
                <a:ea typeface="Consolas" panose="020B0609020204030204"/>
                <a:cs typeface="Consolas" panose="020B0609020204030204"/>
                <a:sym typeface="Consolas" panose="020B0609020204030204"/>
              </a:rPr>
              <a:t>CREATE UNIQUE INDEX idx_emp_id \nON employees(employee_id);</a:t>
            </a:r>
            <a:endParaRPr lang="en-US" sz="11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508000" y="508000"/>
            <a:ext cx="11176000" cy="609600"/>
          </a:xfrm>
          <a:prstGeom prst="rect">
            <a:avLst/>
          </a:prstGeom>
          <a:noFill/>
          <a:ln w="12700" cap="flat" cmpd="sng">
            <a:noFill/>
            <a:prstDash val="solid"/>
            <a:round/>
          </a:ln>
        </p:spPr>
        <p:txBody>
          <a:bodyPr vert="horz" wrap="square" lIns="0" tIns="0" rIns="0" bIns="0" rtlCol="0" anchor="ctr" anchorCtr="0"/>
          <a:lstStyle/>
          <a:p>
            <a:pPr marL="0" algn="l">
              <a:lnSpc>
                <a:spcPct val="125000"/>
              </a:lnSpc>
              <a:buSzTx/>
              <a:defRPr/>
            </a:pPr>
            <a:r>
              <a:rPr lang="en-US" sz="32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高级索引类型：</a:t>
            </a:r>
            <a:r>
              <a:rPr lang="en-US" sz="32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位图、函数与复合索引</a:t>
            </a:r>
            <a:endParaRPr lang="en-US" sz="3200" b="1">
              <a:solidFill>
                <a:srgbClr val="15803D"/>
              </a:solidFill>
              <a:latin typeface="Noto Sans SC" panose="020B0200000000000000" charset="-122"/>
              <a:ea typeface="Noto Sans SC" panose="020B0200000000000000" charset="-122"/>
              <a:cs typeface="Noto Sans SC" panose="020B0200000000000000" charset="-122"/>
            </a:endParaRPr>
          </a:p>
        </p:txBody>
      </p:sp>
      <p:sp>
        <p:nvSpPr>
          <p:cNvPr id="3" name="AutoShape 3"/>
          <p:cNvSpPr/>
          <p:nvPr/>
        </p:nvSpPr>
        <p:spPr>
          <a:xfrm>
            <a:off x="508000" y="1524000"/>
            <a:ext cx="3556000" cy="4826000"/>
          </a:xfrm>
          <a:prstGeom prst="roundRect">
            <a:avLst>
              <a:gd name="adj" fmla="val 0"/>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508000" y="1524000"/>
            <a:ext cx="3556000" cy="762000"/>
          </a:xfrm>
          <a:prstGeom prst="roundRect">
            <a:avLst>
              <a:gd name="adj" fmla="val 0"/>
            </a:avLst>
          </a:prstGeom>
          <a:solidFill>
            <a:srgbClr val="065F46">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635000" y="1651000"/>
            <a:ext cx="3302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位图索引 (Bitmap)</a:t>
            </a:r>
            <a:endParaRPr lang="en-US" sz="1100"/>
          </a:p>
        </p:txBody>
      </p:sp>
      <p:sp>
        <p:nvSpPr>
          <p:cNvPr id="6" name="AutoShape 6"/>
          <p:cNvSpPr/>
          <p:nvPr/>
        </p:nvSpPr>
        <p:spPr>
          <a:xfrm>
            <a:off x="698500" y="2540000"/>
            <a:ext cx="3175000" cy="3810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065F46"/>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▍核心特点</a:t>
            </a:r>
            <a:endParaRPr lang="en-US" sz="1100"/>
          </a:p>
          <a:p>
            <a:pPr marL="0" indent="0" algn="l">
              <a:lnSpc>
                <a:spcPct val="125000"/>
              </a:lnSpc>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为每个唯一键值创建位图向量，通过位运算（AND/OR）快速计算多条件交集。</a:t>
            </a:r>
            <a:endPar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5000"/>
              </a:lnSpc>
            </a:pPr>
            <a:r>
              <a:rPr lang="en-US" sz="1400" b="1" i="0" u="none" strike="noStrike">
                <a:solidFill>
                  <a:srgbClr val="065F46"/>
                </a:solidFill>
                <a:latin typeface="Noto Sans SC" panose="020B0200000000000000" charset="-122"/>
                <a:ea typeface="Noto Sans SC" panose="020B0200000000000000" charset="-122"/>
                <a:cs typeface="Noto Sans SC" panose="020B0200000000000000" charset="-122"/>
                <a:sym typeface="Noto Sans SC" panose="020B0200000000000000" charset="-122"/>
              </a:rPr>
              <a:t>▍适用场景</a:t>
            </a:r>
            <a:endParaRPr lang="en-US" sz="1400" b="1" i="0" u="none" strike="noStrike">
              <a:solidFill>
                <a:srgbClr val="065F4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5000"/>
              </a:lnSpc>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低基数列（如性别/状态）、数据仓库(DW)、多条件即席查询。</a:t>
            </a:r>
            <a:endPar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5000"/>
              </a:lnSpc>
            </a:pPr>
            <a:r>
              <a:rPr lang="en-US" sz="1400" b="1" i="0" u="none" strike="noStrike">
                <a:solidFill>
                  <a:srgbClr val="B91C1C"/>
                </a:solidFill>
                <a:latin typeface="Noto Sans SC" panose="020B0200000000000000" charset="-122"/>
                <a:ea typeface="Noto Sans SC" panose="020B0200000000000000" charset="-122"/>
                <a:cs typeface="Noto Sans SC" panose="020B0200000000000000" charset="-122"/>
                <a:sym typeface="Noto Sans SC" panose="020B0200000000000000" charset="-122"/>
              </a:rPr>
              <a:t>▍避坑指南</a:t>
            </a:r>
            <a:endParaRPr lang="en-US" sz="1400" b="1" i="0" u="none" strike="noStrike">
              <a:solidFill>
                <a:srgbClr val="B91C1C"/>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5000"/>
              </a:lnSpc>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不适合高并发OLTP、频繁更新列、高基数列（如用户ID）。</a:t>
            </a:r>
            <a:endPar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7" name="AutoShape 7"/>
          <p:cNvSpPr/>
          <p:nvPr/>
        </p:nvSpPr>
        <p:spPr>
          <a:xfrm>
            <a:off x="4318000" y="1524000"/>
            <a:ext cx="3556000" cy="4826000"/>
          </a:xfrm>
          <a:prstGeom prst="roundRect">
            <a:avLst>
              <a:gd name="adj" fmla="val 0"/>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4318000" y="1524000"/>
            <a:ext cx="3556000" cy="762000"/>
          </a:xfrm>
          <a:prstGeom prst="roundRect">
            <a:avLst>
              <a:gd name="adj" fmla="val 0"/>
            </a:avLst>
          </a:prstGeom>
          <a:solidFill>
            <a:srgbClr val="065F46">
              <a:alpha val="100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4445000" y="1651000"/>
            <a:ext cx="3302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函数索引 (Function)</a:t>
            </a:r>
            <a:endParaRPr lang="en-US" sz="1100"/>
          </a:p>
        </p:txBody>
      </p:sp>
      <p:sp>
        <p:nvSpPr>
          <p:cNvPr id="10" name="AutoShape 10"/>
          <p:cNvSpPr/>
          <p:nvPr/>
        </p:nvSpPr>
        <p:spPr>
          <a:xfrm>
            <a:off x="4508500" y="2540000"/>
            <a:ext cx="3175000" cy="3810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065F46"/>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▍核心特点</a:t>
            </a:r>
            <a:endParaRPr lang="en-US" sz="1100"/>
          </a:p>
          <a:p>
            <a:pPr marL="0" indent="0" algn="l">
              <a:lnSpc>
                <a:spcPct val="125000"/>
              </a:lnSpc>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基于列的函数/表达式（如UPPER(name)）创建索引，而非原始列值。</a:t>
            </a:r>
            <a:endPar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5000"/>
              </a:lnSpc>
            </a:pPr>
            <a:r>
              <a:rPr lang="en-US" sz="1400" b="1" i="0" u="none" strike="noStrike">
                <a:solidFill>
                  <a:srgbClr val="065F46"/>
                </a:solidFill>
                <a:latin typeface="Noto Sans SC" panose="020B0200000000000000" charset="-122"/>
                <a:ea typeface="Noto Sans SC" panose="020B0200000000000000" charset="-122"/>
                <a:cs typeface="Noto Sans SC" panose="020B0200000000000000" charset="-122"/>
                <a:sym typeface="Noto Sans SC" panose="020B0200000000000000" charset="-122"/>
              </a:rPr>
              <a:t>▍适用场景</a:t>
            </a:r>
            <a:endParaRPr lang="en-US" sz="1400" b="1" i="0" u="none" strike="noStrike">
              <a:solidFill>
                <a:srgbClr val="065F4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5000"/>
              </a:lnSpc>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查询含函数运算、大小写不敏感查询、类型转换场景。</a:t>
            </a:r>
            <a:endPar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5000"/>
              </a:lnSpc>
            </a:pPr>
            <a:r>
              <a:rPr lang="en-US" sz="1400" b="1" i="0" u="none" strike="noStrike">
                <a:solidFill>
                  <a:srgbClr val="065F46"/>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▍核心优势</a:t>
            </a:r>
            <a:endParaRPr lang="en-US" sz="1400" b="1" i="0" u="none" strike="noStrike">
              <a:solidFill>
                <a:srgbClr val="065F4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5000"/>
              </a:lnSpc>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解决因对索引列直接应用函数导致的索引失效问题，提升查询效率。</a:t>
            </a:r>
            <a:endPar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1" name="AutoShape 11"/>
          <p:cNvSpPr/>
          <p:nvPr/>
        </p:nvSpPr>
        <p:spPr>
          <a:xfrm>
            <a:off x="8128000" y="1524000"/>
            <a:ext cx="3556000" cy="4826000"/>
          </a:xfrm>
          <a:prstGeom prst="roundRect">
            <a:avLst>
              <a:gd name="adj" fmla="val 0"/>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8128000" y="1524000"/>
            <a:ext cx="3556000" cy="762000"/>
          </a:xfrm>
          <a:prstGeom prst="roundRect">
            <a:avLst>
              <a:gd name="adj" fmla="val 0"/>
            </a:avLst>
          </a:prstGeom>
          <a:solidFill>
            <a:srgbClr val="065F46">
              <a:alpha val="100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8255000" y="1651000"/>
            <a:ext cx="3302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复合索引 (Composite)</a:t>
            </a:r>
            <a:endParaRPr lang="en-US" sz="1100"/>
          </a:p>
        </p:txBody>
      </p:sp>
      <p:sp>
        <p:nvSpPr>
          <p:cNvPr id="14" name="AutoShape 14"/>
          <p:cNvSpPr/>
          <p:nvPr/>
        </p:nvSpPr>
        <p:spPr>
          <a:xfrm>
            <a:off x="8318500" y="2540000"/>
            <a:ext cx="3175000" cy="3810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065F46"/>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▍核心特点</a:t>
            </a:r>
            <a:endParaRPr lang="en-US" sz="1100"/>
          </a:p>
          <a:p>
            <a:pPr marL="0" indent="0" algn="l">
              <a:lnSpc>
                <a:spcPct val="125000"/>
              </a:lnSpc>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包含多个列的索引，列的顺序对查询性能影响至关重要。</a:t>
            </a:r>
            <a:endPar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5000"/>
              </a:lnSpc>
            </a:pPr>
            <a:r>
              <a:rPr lang="en-US" sz="1400" b="1" i="0" u="none" strike="noStrike">
                <a:solidFill>
                  <a:srgbClr val="065F46"/>
                </a:solidFill>
                <a:latin typeface="Noto Sans SC" panose="020B0200000000000000" charset="-122"/>
                <a:ea typeface="Noto Sans SC" panose="020B0200000000000000" charset="-122"/>
                <a:cs typeface="Noto Sans SC" panose="020B0200000000000000" charset="-122"/>
                <a:sym typeface="Noto Sans SC" panose="020B0200000000000000" charset="-122"/>
              </a:rPr>
              <a:t>▍设计原则</a:t>
            </a:r>
            <a:endParaRPr lang="en-US" sz="1400" b="1" i="0" u="none" strike="noStrike">
              <a:solidFill>
                <a:srgbClr val="065F4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5000"/>
              </a:lnSpc>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遵循最左前缀原则，高选择性列前置，等值条件列前置。</a:t>
            </a:r>
            <a:endPar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5000"/>
              </a:lnSpc>
            </a:pPr>
            <a:r>
              <a:rPr lang="en-US" sz="1400" b="1" i="0" u="none" strike="noStrike">
                <a:solidFill>
                  <a:srgbClr val="065F46"/>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▍核心优势</a:t>
            </a:r>
            <a:endParaRPr lang="en-US" sz="1400" b="1" i="0" u="none" strike="noStrike">
              <a:solidFill>
                <a:srgbClr val="065F4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5000"/>
              </a:lnSpc>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单索引支持多查询组合，可实现覆盖索引（减少回表IO）。</a:t>
            </a:r>
            <a:endPar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9906000" y="-762000"/>
            <a:ext cx="2794000" cy="2794000"/>
          </a:xfrm>
          <a:prstGeom prst="ellipse">
            <a:avLst/>
          </a:prstGeom>
          <a:solidFill>
            <a:srgbClr val="166534">
              <a:alpha val="6000"/>
            </a:srgbClr>
          </a:solidFill>
          <a:ln cap="flat" cmpd="sng">
            <a:solidFill>
              <a:srgbClr val="094C22">
                <a:alpha val="6000"/>
              </a:srgbClr>
            </a:solidFill>
            <a:prstDash val="solid"/>
            <a:round/>
          </a:ln>
        </p:spPr>
        <p:txBody>
          <a:bodyPr vert="horz" wrap="square" lIns="63500" tIns="63500" rIns="63500" bIns="63500" rtlCol="0" anchor="ctr"/>
          <a:lstStyle/>
          <a:p>
            <a:pPr algn="ctr">
              <a:defRPr/>
            </a:pPr>
          </a:p>
        </p:txBody>
      </p:sp>
      <p:sp>
        <p:nvSpPr>
          <p:cNvPr id="3" name="AutoShape 3"/>
          <p:cNvSpPr/>
          <p:nvPr/>
        </p:nvSpPr>
        <p:spPr>
          <a:xfrm>
            <a:off x="-635000" y="5080000"/>
            <a:ext cx="2286000" cy="2286000"/>
          </a:xfrm>
          <a:prstGeom prst="ellipse">
            <a:avLst/>
          </a:prstGeom>
          <a:solidFill>
            <a:srgbClr val="166534">
              <a:alpha val="6000"/>
            </a:srgbClr>
          </a:solidFill>
          <a:ln cap="flat" cmpd="sng">
            <a:solidFill>
              <a:srgbClr val="094C22">
                <a:alpha val="6000"/>
              </a:srgbClr>
            </a:solidFill>
            <a:prstDash val="solid"/>
            <a:round/>
          </a:ln>
        </p:spPr>
        <p:txBody>
          <a:bodyPr vert="horz" wrap="square" lIns="63500" tIns="63500" rIns="63500" bIns="63500" rtlCol="0" anchor="ctr"/>
          <a:lstStyle/>
          <a:p>
            <a:pPr algn="ctr">
              <a:defRPr/>
            </a:pPr>
          </a:p>
        </p:txBody>
      </p:sp>
      <p:sp>
        <p:nvSpPr>
          <p:cNvPr id="4" name="AutoShape 4"/>
          <p:cNvSpPr/>
          <p:nvPr/>
        </p:nvSpPr>
        <p:spPr>
          <a:xfrm>
            <a:off x="254000" y="381000"/>
            <a:ext cx="11684000" cy="762000"/>
          </a:xfrm>
          <a:prstGeom prst="rect">
            <a:avLst/>
          </a:prstGeom>
          <a:noFill/>
          <a:ln w="12700" cap="flat" cmpd="sng">
            <a:noFill/>
            <a:prstDash val="solid"/>
            <a:round/>
          </a:ln>
        </p:spPr>
        <p:txBody>
          <a:bodyPr vert="horz" wrap="square" lIns="0" tIns="0" rIns="0" bIns="0" rtlCol="0" anchor="ctr" anchorCtr="0"/>
          <a:lstStyle/>
          <a:p>
            <a:pPr marL="0" algn="l">
              <a:lnSpc>
                <a:spcPct val="125000"/>
              </a:lnSpc>
              <a:buSzTx/>
              <a:defRPr/>
            </a:pPr>
            <a:r>
              <a:rPr lang="en-US" sz="32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其他索引类型概览</a:t>
            </a:r>
            <a:endParaRPr lang="en-US" sz="3200" b="1">
              <a:solidFill>
                <a:srgbClr val="15803D"/>
              </a:solidFill>
              <a:latin typeface="Noto Sans SC" panose="020B0200000000000000" charset="-122"/>
              <a:ea typeface="Noto Sans SC" panose="020B0200000000000000" charset="-122"/>
              <a:cs typeface="Noto Sans SC" panose="020B0200000000000000" charset="-122"/>
            </a:endParaRPr>
          </a:p>
        </p:txBody>
      </p:sp>
      <p:sp>
        <p:nvSpPr>
          <p:cNvPr id="5" name="AutoShape 5"/>
          <p:cNvSpPr/>
          <p:nvPr/>
        </p:nvSpPr>
        <p:spPr>
          <a:xfrm>
            <a:off x="254000" y="1397000"/>
            <a:ext cx="2730500" cy="4445000"/>
          </a:xfrm>
          <a:prstGeom prst="roundRect">
            <a:avLst>
              <a:gd name="adj" fmla="val 0"/>
            </a:avLst>
          </a:prstGeom>
          <a:solidFill>
            <a:srgbClr val="F3F4F6">
              <a:alpha val="100000"/>
            </a:srgbClr>
          </a:solidFill>
          <a:ln cap="flat" cmpd="sng">
            <a:solidFill>
              <a:srgbClr val="C4CCDD">
                <a:alpha val="100000"/>
              </a:srgbClr>
            </a:solidFill>
            <a:prstDash val="solid"/>
            <a:round/>
          </a:ln>
        </p:spPr>
        <p:txBody>
          <a:bodyPr vert="horz" wrap="square" lIns="63500" tIns="63500" rIns="63500" bIns="63500" rtlCol="0" anchor="ctr"/>
          <a:lstStyle/>
          <a:p>
            <a:pPr algn="ctr">
              <a:defRPr/>
            </a:pPr>
          </a:p>
        </p:txBody>
      </p:sp>
      <p:sp>
        <p:nvSpPr>
          <p:cNvPr id="6" name="AutoShape 6"/>
          <p:cNvSpPr/>
          <p:nvPr/>
        </p:nvSpPr>
        <p:spPr>
          <a:xfrm>
            <a:off x="254000" y="1397000"/>
            <a:ext cx="2730500" cy="1016000"/>
          </a:xfrm>
          <a:prstGeom prst="roundRect">
            <a:avLst>
              <a:gd name="adj" fmla="val 0"/>
            </a:avLst>
          </a:prstGeom>
          <a:solidFill>
            <a:srgbClr val="166534">
              <a:alpha val="100000"/>
            </a:srgbClr>
          </a:solidFill>
          <a:ln cap="flat" cmpd="sng">
            <a:solidFill>
              <a:srgbClr val="094C22">
                <a:alpha val="100000"/>
              </a:srgbClr>
            </a:solidFill>
            <a:prstDash val="solid"/>
            <a:round/>
          </a:ln>
        </p:spPr>
        <p:txBody>
          <a:bodyPr vert="horz" wrap="square" lIns="63500" tIns="63500" rIns="63500" bIns="63500" rtlCol="0" anchor="ctr"/>
          <a:lstStyle/>
          <a:p>
            <a:pPr algn="ctr">
              <a:defRPr/>
            </a:pPr>
          </a:p>
        </p:txBody>
      </p:sp>
      <p:pic>
        <p:nvPicPr>
          <p:cNvPr id="7" name="Picture 7"/>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444500" y="1638300"/>
            <a:ext cx="406400" cy="406400"/>
          </a:xfrm>
          <a:prstGeom prst="rect">
            <a:avLst/>
          </a:prstGeom>
        </p:spPr>
      </p:pic>
      <p:sp>
        <p:nvSpPr>
          <p:cNvPr id="8" name="AutoShape 8"/>
          <p:cNvSpPr/>
          <p:nvPr/>
        </p:nvSpPr>
        <p:spPr>
          <a:xfrm>
            <a:off x="952500" y="1549400"/>
            <a:ext cx="1905000" cy="711200"/>
          </a:xfrm>
          <a:prstGeom prst="rect">
            <a:avLst/>
          </a:prstGeom>
          <a:noFill/>
          <a:ln w="12700" cap="flat" cmpd="sng">
            <a:noFill/>
            <a:prstDash val="solid"/>
            <a:round/>
          </a:ln>
        </p:spPr>
        <p:txBody>
          <a:bodyPr vert="horz" wrap="square" lIns="0" tIns="0" rIns="0" bIns="0" rtlCol="0" anchor="ctr" anchorCtr="0"/>
          <a:lstStyle/>
          <a:p>
            <a:pPr marL="0" indent="0" algn="l">
              <a:lnSpc>
                <a:spcPct val="92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反向键索引</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D1FAE5"/>
                </a:solidFill>
                <a:latin typeface="Noto Sans SC" panose="020B0200000000000000" charset="-122"/>
                <a:ea typeface="Noto Sans SC" panose="020B0200000000000000" charset="-122"/>
                <a:cs typeface="Noto Sans SC" panose="020B0200000000000000" charset="-122"/>
                <a:sym typeface="Noto Sans SC" panose="020B0200000000000000" charset="-122"/>
              </a:rPr>
              <a:t>Reverse Key Index</a:t>
            </a:r>
            <a:endParaRPr lang="en-US" sz="1100"/>
          </a:p>
        </p:txBody>
      </p:sp>
      <p:sp>
        <p:nvSpPr>
          <p:cNvPr id="9" name="AutoShape 9"/>
          <p:cNvSpPr/>
          <p:nvPr/>
        </p:nvSpPr>
        <p:spPr>
          <a:xfrm>
            <a:off x="381000" y="2667000"/>
            <a:ext cx="2476500" cy="2921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1" i="0" u="none" strike="noStrike">
                <a:solidFill>
                  <a:srgbClr val="166534"/>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核心机制：</a:t>
            </a: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将索引键值的字节顺序反转，打破数值的连续性，消除“热点块”。</a:t>
            </a:r>
            <a:endParaRPr lang="en-US" sz="1100"/>
          </a:p>
          <a:p>
            <a:pPr marL="0" indent="0" algn="l">
              <a:lnSpc>
                <a:spcPct val="117000"/>
              </a:lnSpc>
            </a:pPr>
            <a:r>
              <a:rPr lang="en-US" sz="1300" b="1" i="0" u="none" strike="noStrike">
                <a:solidFill>
                  <a:srgbClr val="166534"/>
                </a:solidFill>
                <a:latin typeface="Noto Sans SC" panose="020B0200000000000000" charset="-122"/>
                <a:ea typeface="Noto Sans SC" panose="020B0200000000000000" charset="-122"/>
                <a:cs typeface="Noto Sans SC" panose="020B0200000000000000" charset="-122"/>
                <a:sym typeface="Noto Sans SC" panose="020B0200000000000000" charset="-122"/>
              </a:rPr>
              <a:t>适用场景：</a:t>
            </a: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自增ID、序列值等单调递增列，解决并发写入时的右侧争用。</a:t>
            </a:r>
            <a:endPar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pPr>
            <a:r>
              <a:rPr lang="en-US" sz="1300" b="1" i="0" u="none" strike="noStrike">
                <a:solidFill>
                  <a:srgbClr val="166534"/>
                </a:solidFill>
                <a:latin typeface="Noto Sans SC" panose="020B0200000000000000" charset="-122"/>
                <a:ea typeface="Noto Sans SC" panose="020B0200000000000000" charset="-122"/>
                <a:cs typeface="Noto Sans SC" panose="020B0200000000000000" charset="-122"/>
                <a:sym typeface="Noto Sans SC" panose="020B0200000000000000" charset="-122"/>
              </a:rPr>
              <a:t>价值：</a:t>
            </a: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均衡索引块分布，避免单一索引块频繁分裂，提升写入吞吐量。</a:t>
            </a:r>
            <a:endPar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0" name="AutoShape 10"/>
          <p:cNvSpPr/>
          <p:nvPr/>
        </p:nvSpPr>
        <p:spPr>
          <a:xfrm>
            <a:off x="3149600" y="1397000"/>
            <a:ext cx="2730500" cy="4445000"/>
          </a:xfrm>
          <a:prstGeom prst="roundRect">
            <a:avLst>
              <a:gd name="adj" fmla="val 0"/>
            </a:avLst>
          </a:prstGeom>
          <a:solidFill>
            <a:srgbClr val="F3F4F6">
              <a:alpha val="100000"/>
            </a:srgbClr>
          </a:solidFill>
          <a:ln cap="flat" cmpd="sng">
            <a:solidFill>
              <a:srgbClr val="C4CCDD">
                <a:alpha val="100000"/>
              </a:srgbClr>
            </a:solidFill>
            <a:prstDash val="solid"/>
            <a:round/>
          </a:ln>
        </p:spPr>
        <p:txBody>
          <a:bodyPr vert="horz" wrap="square" lIns="63500" tIns="63500" rIns="63500" bIns="63500" rtlCol="0" anchor="ctr"/>
          <a:lstStyle/>
          <a:p>
            <a:pPr algn="ctr">
              <a:defRPr/>
            </a:pPr>
          </a:p>
        </p:txBody>
      </p:sp>
      <p:sp>
        <p:nvSpPr>
          <p:cNvPr id="11" name="AutoShape 11"/>
          <p:cNvSpPr/>
          <p:nvPr/>
        </p:nvSpPr>
        <p:spPr>
          <a:xfrm>
            <a:off x="3149600" y="1397000"/>
            <a:ext cx="2730500" cy="1016000"/>
          </a:xfrm>
          <a:prstGeom prst="roundRect">
            <a:avLst>
              <a:gd name="adj" fmla="val 0"/>
            </a:avLst>
          </a:prstGeom>
          <a:solidFill>
            <a:srgbClr val="166534">
              <a:alpha val="100000"/>
            </a:srgbClr>
          </a:solidFill>
          <a:ln cap="flat" cmpd="sng">
            <a:solidFill>
              <a:srgbClr val="094C22">
                <a:alpha val="100000"/>
              </a:srgbClr>
            </a:solidFill>
            <a:prstDash val="solid"/>
            <a:round/>
          </a:ln>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340100" y="1638300"/>
            <a:ext cx="406400" cy="406400"/>
          </a:xfrm>
          <a:prstGeom prst="rect">
            <a:avLst/>
          </a:prstGeom>
        </p:spPr>
      </p:pic>
      <p:sp>
        <p:nvSpPr>
          <p:cNvPr id="13" name="AutoShape 13"/>
          <p:cNvSpPr/>
          <p:nvPr/>
        </p:nvSpPr>
        <p:spPr>
          <a:xfrm>
            <a:off x="3848100" y="1549400"/>
            <a:ext cx="1905000" cy="711200"/>
          </a:xfrm>
          <a:prstGeom prst="rect">
            <a:avLst/>
          </a:prstGeom>
          <a:noFill/>
          <a:ln w="12700" cap="flat" cmpd="sng">
            <a:noFill/>
            <a:prstDash val="solid"/>
            <a:round/>
          </a:ln>
        </p:spPr>
        <p:txBody>
          <a:bodyPr vert="horz" wrap="square" lIns="0" tIns="0" rIns="0" bIns="0" rtlCol="0" anchor="ctr" anchorCtr="0"/>
          <a:lstStyle/>
          <a:p>
            <a:pPr marL="0" indent="0" algn="l">
              <a:lnSpc>
                <a:spcPct val="92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压缩索引</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D1FAE5"/>
                </a:solidFill>
                <a:latin typeface="Noto Sans SC" panose="020B0200000000000000" charset="-122"/>
                <a:ea typeface="Noto Sans SC" panose="020B0200000000000000" charset="-122"/>
                <a:cs typeface="Noto Sans SC" panose="020B0200000000000000" charset="-122"/>
                <a:sym typeface="Noto Sans SC" panose="020B0200000000000000" charset="-122"/>
              </a:rPr>
              <a:t>Compressed Index</a:t>
            </a:r>
            <a:endParaRPr lang="en-US" sz="1100"/>
          </a:p>
        </p:txBody>
      </p:sp>
      <p:sp>
        <p:nvSpPr>
          <p:cNvPr id="14" name="AutoShape 14"/>
          <p:cNvSpPr/>
          <p:nvPr/>
        </p:nvSpPr>
        <p:spPr>
          <a:xfrm>
            <a:off x="3276600" y="2667000"/>
            <a:ext cx="2476500" cy="2921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1" i="0" u="none" strike="noStrike">
                <a:solidFill>
                  <a:srgbClr val="166534"/>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核心机制：</a:t>
            </a: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对重复键值或公共前缀进行编码压缩，减少物理存储占用。</a:t>
            </a:r>
            <a:endParaRPr lang="en-US" sz="1100"/>
          </a:p>
          <a:p>
            <a:pPr marL="0" indent="0" algn="l">
              <a:lnSpc>
                <a:spcPct val="117000"/>
              </a:lnSpc>
            </a:pPr>
            <a:r>
              <a:rPr lang="en-US" sz="1300" b="1" i="0" u="none" strike="noStrike">
                <a:solidFill>
                  <a:srgbClr val="166534"/>
                </a:solidFill>
                <a:latin typeface="Noto Sans SC" panose="020B0200000000000000" charset="-122"/>
                <a:ea typeface="Noto Sans SC" panose="020B0200000000000000" charset="-122"/>
                <a:cs typeface="Noto Sans SC" panose="020B0200000000000000" charset="-122"/>
                <a:sym typeface="Noto Sans SC" panose="020B0200000000000000" charset="-122"/>
              </a:rPr>
              <a:t>适用场景：</a:t>
            </a: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性别、状态等低基数列，或长字符串、复合索引场景。</a:t>
            </a:r>
            <a:endPar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pPr>
            <a:r>
              <a:rPr lang="en-US" sz="1300" b="1" i="0" u="none" strike="noStrike">
                <a:solidFill>
                  <a:srgbClr val="166534"/>
                </a:solidFill>
                <a:latin typeface="Noto Sans SC" panose="020B0200000000000000" charset="-122"/>
                <a:ea typeface="Noto Sans SC" panose="020B0200000000000000" charset="-122"/>
                <a:cs typeface="Noto Sans SC" panose="020B0200000000000000" charset="-122"/>
                <a:sym typeface="Noto Sans SC" panose="020B0200000000000000" charset="-122"/>
              </a:rPr>
              <a:t>价值：</a:t>
            </a: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大幅节省内存与磁盘资源，降低I/O开销，提升缓存命中率。</a:t>
            </a:r>
            <a:endPar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5" name="AutoShape 15"/>
          <p:cNvSpPr/>
          <p:nvPr/>
        </p:nvSpPr>
        <p:spPr>
          <a:xfrm>
            <a:off x="6045200" y="1397000"/>
            <a:ext cx="2730500" cy="4445000"/>
          </a:xfrm>
          <a:prstGeom prst="roundRect">
            <a:avLst>
              <a:gd name="adj" fmla="val 0"/>
            </a:avLst>
          </a:prstGeom>
          <a:solidFill>
            <a:srgbClr val="F3F4F6">
              <a:alpha val="100000"/>
            </a:srgbClr>
          </a:solidFill>
          <a:ln cap="flat" cmpd="sng">
            <a:solidFill>
              <a:srgbClr val="C4CCDD">
                <a:alpha val="100000"/>
              </a:srgbClr>
            </a:solidFill>
            <a:prstDash val="solid"/>
            <a:round/>
          </a:ln>
        </p:spPr>
        <p:txBody>
          <a:bodyPr vert="horz" wrap="square" lIns="63500" tIns="63500" rIns="63500" bIns="63500" rtlCol="0" anchor="ctr"/>
          <a:lstStyle/>
          <a:p>
            <a:pPr algn="ctr">
              <a:defRPr/>
            </a:pPr>
          </a:p>
        </p:txBody>
      </p:sp>
      <p:sp>
        <p:nvSpPr>
          <p:cNvPr id="16" name="AutoShape 16"/>
          <p:cNvSpPr/>
          <p:nvPr/>
        </p:nvSpPr>
        <p:spPr>
          <a:xfrm>
            <a:off x="6045200" y="1397000"/>
            <a:ext cx="2730500" cy="1016000"/>
          </a:xfrm>
          <a:prstGeom prst="roundRect">
            <a:avLst>
              <a:gd name="adj" fmla="val 0"/>
            </a:avLst>
          </a:prstGeom>
          <a:solidFill>
            <a:srgbClr val="166534">
              <a:alpha val="100000"/>
            </a:srgbClr>
          </a:solidFill>
          <a:ln cap="flat" cmpd="sng">
            <a:solidFill>
              <a:srgbClr val="094C22">
                <a:alpha val="100000"/>
              </a:srgbClr>
            </a:solidFill>
            <a:prstDash val="solid"/>
            <a:round/>
          </a:ln>
        </p:spPr>
        <p:txBody>
          <a:bodyPr vert="horz" wrap="square" lIns="63500" tIns="63500" rIns="63500" bIns="63500" rtlCol="0" anchor="ctr"/>
          <a:lstStyle/>
          <a:p>
            <a:pPr algn="ctr">
              <a:defRPr/>
            </a:pPr>
          </a:p>
        </p:txBody>
      </p:sp>
      <p:pic>
        <p:nvPicPr>
          <p:cNvPr id="17" name="Picture 17"/>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235700" y="1638300"/>
            <a:ext cx="406400" cy="406400"/>
          </a:xfrm>
          <a:prstGeom prst="rect">
            <a:avLst/>
          </a:prstGeom>
        </p:spPr>
      </p:pic>
      <p:sp>
        <p:nvSpPr>
          <p:cNvPr id="18" name="AutoShape 18"/>
          <p:cNvSpPr/>
          <p:nvPr/>
        </p:nvSpPr>
        <p:spPr>
          <a:xfrm>
            <a:off x="6743700" y="1549400"/>
            <a:ext cx="1905000" cy="711200"/>
          </a:xfrm>
          <a:prstGeom prst="rect">
            <a:avLst/>
          </a:prstGeom>
          <a:noFill/>
          <a:ln w="12700" cap="flat" cmpd="sng">
            <a:noFill/>
            <a:prstDash val="solid"/>
            <a:round/>
          </a:ln>
        </p:spPr>
        <p:txBody>
          <a:bodyPr vert="horz" wrap="square" lIns="0" tIns="0" rIns="0" bIns="0" rtlCol="0" anchor="ctr" anchorCtr="0"/>
          <a:lstStyle/>
          <a:p>
            <a:pPr marL="0" indent="0" algn="l">
              <a:lnSpc>
                <a:spcPct val="92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分区索引</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D1FAE5"/>
                </a:solidFill>
                <a:latin typeface="Noto Sans SC" panose="020B0200000000000000" charset="-122"/>
                <a:ea typeface="Noto Sans SC" panose="020B0200000000000000" charset="-122"/>
                <a:cs typeface="Noto Sans SC" panose="020B0200000000000000" charset="-122"/>
                <a:sym typeface="Noto Sans SC" panose="020B0200000000000000" charset="-122"/>
              </a:rPr>
              <a:t>Partitioned Index</a:t>
            </a:r>
            <a:endParaRPr lang="en-US" sz="1100"/>
          </a:p>
        </p:txBody>
      </p:sp>
      <p:sp>
        <p:nvSpPr>
          <p:cNvPr id="19" name="AutoShape 19"/>
          <p:cNvSpPr/>
          <p:nvPr/>
        </p:nvSpPr>
        <p:spPr>
          <a:xfrm>
            <a:off x="6172200" y="2667000"/>
            <a:ext cx="2476500" cy="2921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1" i="0" u="none" strike="noStrike">
                <a:solidFill>
                  <a:srgbClr val="166534"/>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核心机制：</a:t>
            </a: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与分区表联动，分为本地索引（随表分区）和全局索引（跨分区）。</a:t>
            </a:r>
            <a:endParaRPr lang="en-US" sz="1100"/>
          </a:p>
          <a:p>
            <a:pPr marL="0" indent="0" algn="l">
              <a:lnSpc>
                <a:spcPct val="117000"/>
              </a:lnSpc>
            </a:pPr>
            <a:r>
              <a:rPr lang="en-US" sz="1300" b="1" i="0" u="none" strike="noStrike">
                <a:solidFill>
                  <a:srgbClr val="166534"/>
                </a:solidFill>
                <a:latin typeface="Noto Sans SC" panose="020B0200000000000000" charset="-122"/>
                <a:ea typeface="Noto Sans SC" panose="020B0200000000000000" charset="-122"/>
                <a:cs typeface="Noto Sans SC" panose="020B0200000000000000" charset="-122"/>
                <a:sym typeface="Noto Sans SC" panose="020B0200000000000000" charset="-122"/>
              </a:rPr>
              <a:t>适用场景：</a:t>
            </a: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TB级海量大表，按时间、地域或业务维度分区的表。</a:t>
            </a:r>
            <a:endPar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pPr>
            <a:r>
              <a:rPr lang="en-US" sz="1300" b="1" i="0" u="none" strike="noStrike">
                <a:solidFill>
                  <a:srgbClr val="166534"/>
                </a:solidFill>
                <a:latin typeface="Noto Sans SC" panose="020B0200000000000000" charset="-122"/>
                <a:ea typeface="Noto Sans SC" panose="020B0200000000000000" charset="-122"/>
                <a:cs typeface="Noto Sans SC" panose="020B0200000000000000" charset="-122"/>
                <a:sym typeface="Noto Sans SC" panose="020B0200000000000000" charset="-122"/>
              </a:rPr>
              <a:t>价值：</a:t>
            </a: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实现分区快速维护，查询时自动裁剪分区，故障恢复更高效。</a:t>
            </a:r>
            <a:endPar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0" name="AutoShape 20"/>
          <p:cNvSpPr/>
          <p:nvPr/>
        </p:nvSpPr>
        <p:spPr>
          <a:xfrm>
            <a:off x="8940800" y="1397000"/>
            <a:ext cx="2730500" cy="4445000"/>
          </a:xfrm>
          <a:prstGeom prst="roundRect">
            <a:avLst>
              <a:gd name="adj" fmla="val 0"/>
            </a:avLst>
          </a:prstGeom>
          <a:solidFill>
            <a:srgbClr val="F3F4F6">
              <a:alpha val="100000"/>
            </a:srgbClr>
          </a:solidFill>
          <a:ln cap="flat" cmpd="sng">
            <a:solidFill>
              <a:srgbClr val="C4CCDD">
                <a:alpha val="100000"/>
              </a:srgbClr>
            </a:solidFill>
            <a:prstDash val="solid"/>
            <a:round/>
          </a:ln>
        </p:spPr>
        <p:txBody>
          <a:bodyPr vert="horz" wrap="square" lIns="63500" tIns="63500" rIns="63500" bIns="63500" rtlCol="0" anchor="ctr"/>
          <a:lstStyle/>
          <a:p>
            <a:pPr algn="ctr">
              <a:defRPr/>
            </a:pPr>
          </a:p>
        </p:txBody>
      </p:sp>
      <p:sp>
        <p:nvSpPr>
          <p:cNvPr id="21" name="AutoShape 21"/>
          <p:cNvSpPr/>
          <p:nvPr/>
        </p:nvSpPr>
        <p:spPr>
          <a:xfrm>
            <a:off x="8940800" y="1397000"/>
            <a:ext cx="2730500" cy="1016000"/>
          </a:xfrm>
          <a:prstGeom prst="roundRect">
            <a:avLst>
              <a:gd name="adj" fmla="val 0"/>
            </a:avLst>
          </a:prstGeom>
          <a:solidFill>
            <a:srgbClr val="166534">
              <a:alpha val="100000"/>
            </a:srgbClr>
          </a:solidFill>
          <a:ln cap="flat" cmpd="sng">
            <a:solidFill>
              <a:srgbClr val="094C22">
                <a:alpha val="100000"/>
              </a:srgbClr>
            </a:solidFill>
            <a:prstDash val="solid"/>
            <a:round/>
          </a:ln>
        </p:spPr>
        <p:txBody>
          <a:bodyPr vert="horz" wrap="square" lIns="63500" tIns="63500" rIns="63500" bIns="63500" rtlCol="0" anchor="ctr"/>
          <a:lstStyle/>
          <a:p>
            <a:pPr algn="ctr">
              <a:defRPr/>
            </a:pPr>
          </a:p>
        </p:txBody>
      </p:sp>
      <p:pic>
        <p:nvPicPr>
          <p:cNvPr id="22" name="Picture 22"/>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131300" y="1638300"/>
            <a:ext cx="406400" cy="406400"/>
          </a:xfrm>
          <a:prstGeom prst="rect">
            <a:avLst/>
          </a:prstGeom>
        </p:spPr>
      </p:pic>
      <p:sp>
        <p:nvSpPr>
          <p:cNvPr id="23" name="AutoShape 23"/>
          <p:cNvSpPr/>
          <p:nvPr/>
        </p:nvSpPr>
        <p:spPr>
          <a:xfrm>
            <a:off x="9639300" y="1549400"/>
            <a:ext cx="1905000" cy="711200"/>
          </a:xfrm>
          <a:prstGeom prst="rect">
            <a:avLst/>
          </a:prstGeom>
          <a:noFill/>
          <a:ln w="12700" cap="flat" cmpd="sng">
            <a:noFill/>
            <a:prstDash val="solid"/>
            <a:round/>
          </a:ln>
        </p:spPr>
        <p:txBody>
          <a:bodyPr vert="horz" wrap="square" lIns="0" tIns="0" rIns="0" bIns="0" rtlCol="0" anchor="ctr" anchorCtr="0"/>
          <a:lstStyle/>
          <a:p>
            <a:pPr marL="0" indent="0" algn="l">
              <a:lnSpc>
                <a:spcPct val="92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函数索引扩展</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D1FAE5"/>
                </a:solidFill>
                <a:latin typeface="Noto Sans SC" panose="020B0200000000000000" charset="-122"/>
                <a:ea typeface="Noto Sans SC" panose="020B0200000000000000" charset="-122"/>
                <a:cs typeface="Noto Sans SC" panose="020B0200000000000000" charset="-122"/>
                <a:sym typeface="Noto Sans SC" panose="020B0200000000000000" charset="-122"/>
              </a:rPr>
              <a:t>Functional Extension</a:t>
            </a:r>
            <a:endParaRPr lang="en-US" sz="1100"/>
          </a:p>
        </p:txBody>
      </p:sp>
      <p:sp>
        <p:nvSpPr>
          <p:cNvPr id="24" name="AutoShape 24"/>
          <p:cNvSpPr/>
          <p:nvPr/>
        </p:nvSpPr>
        <p:spPr>
          <a:xfrm>
            <a:off x="9067800" y="2667000"/>
            <a:ext cx="2476500" cy="2921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1" i="0" u="none" strike="noStrike">
                <a:solidFill>
                  <a:srgbClr val="166534"/>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核心机制：</a:t>
            </a: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基于列的计算结果、虚拟列或复杂表达式创建索引。</a:t>
            </a:r>
            <a:endParaRPr lang="en-US" sz="1100"/>
          </a:p>
          <a:p>
            <a:pPr marL="0" indent="0" algn="l">
              <a:lnSpc>
                <a:spcPct val="117000"/>
              </a:lnSpc>
            </a:pPr>
            <a:r>
              <a:rPr lang="en-US" sz="1300" b="1" i="0" u="none" strike="noStrike">
                <a:solidFill>
                  <a:srgbClr val="166534"/>
                </a:solidFill>
                <a:latin typeface="Noto Sans SC" panose="020B0200000000000000" charset="-122"/>
                <a:ea typeface="Noto Sans SC" panose="020B0200000000000000" charset="-122"/>
                <a:cs typeface="Noto Sans SC" panose="020B0200000000000000" charset="-122"/>
                <a:sym typeface="Noto Sans SC" panose="020B0200000000000000" charset="-122"/>
              </a:rPr>
              <a:t>适用场景：</a:t>
            </a: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查询条件包含函数运算（如UPPER、JSON解析）的场景。</a:t>
            </a:r>
            <a:endPar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pPr>
            <a:r>
              <a:rPr lang="en-US" sz="1300" b="1" i="0" u="none" strike="noStrike">
                <a:solidFill>
                  <a:srgbClr val="166534"/>
                </a:solidFill>
                <a:latin typeface="Noto Sans SC" panose="020B0200000000000000" charset="-122"/>
                <a:ea typeface="Noto Sans SC" panose="020B0200000000000000" charset="-122"/>
                <a:cs typeface="Noto Sans SC" panose="020B0200000000000000" charset="-122"/>
                <a:sym typeface="Noto Sans SC" panose="020B0200000000000000" charset="-122"/>
              </a:rPr>
              <a:t>价值：</a:t>
            </a: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将计算开销前置，避免因列上的函数操作导致全表扫描。</a:t>
            </a:r>
            <a:endPar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5" name="AutoShape 25"/>
          <p:cNvSpPr/>
          <p:nvPr/>
        </p:nvSpPr>
        <p:spPr>
          <a:xfrm>
            <a:off x="254000" y="6121400"/>
            <a:ext cx="11430000" cy="508000"/>
          </a:xfrm>
          <a:prstGeom prst="roundRect">
            <a:avLst>
              <a:gd name="adj" fmla="val 0"/>
            </a:avLst>
          </a:prstGeom>
          <a:solidFill>
            <a:srgbClr val="166534">
              <a:alpha val="5000"/>
            </a:srgbClr>
          </a:solidFill>
          <a:ln cap="flat" cmpd="sng">
            <a:solidFill>
              <a:srgbClr val="094C22">
                <a:alpha val="5000"/>
              </a:srgbClr>
            </a:solidFill>
            <a:prstDash val="solid"/>
            <a:round/>
          </a:ln>
        </p:spPr>
        <p:txBody>
          <a:bodyPr vert="horz" wrap="square" lIns="63500" tIns="63500" rIns="63500" bIns="63500" rtlCol="0" anchor="ctr"/>
          <a:lstStyle/>
          <a:p>
            <a:pPr algn="ctr">
              <a:defRPr/>
            </a:pPr>
          </a:p>
        </p:txBody>
      </p:sp>
      <p:sp>
        <p:nvSpPr>
          <p:cNvPr id="26" name="AutoShape 26"/>
          <p:cNvSpPr/>
          <p:nvPr/>
        </p:nvSpPr>
        <p:spPr>
          <a:xfrm>
            <a:off x="381000" y="6197600"/>
            <a:ext cx="11176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66534"/>
                </a:solidFill>
                <a:latin typeface="Noto Sans SC" panose="020B0200000000000000" charset="-122"/>
                <a:ea typeface="Noto Sans SC" panose="020B0200000000000000" charset="-122"/>
                <a:cs typeface="Noto Sans SC" panose="020B0200000000000000" charset="-122"/>
                <a:sym typeface="Noto Sans SC" panose="020B0200000000000000" charset="-122"/>
              </a:rPr>
              <a:t>💡 设计原则：</a:t>
            </a: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没有“银弹”索引，需根据业务的写入模式、查询特征及数据分布，在性能与维护成本之间找到最佳平衡点。</a:t>
            </a:r>
            <a:endParaRPr lang="en-US" sz="11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3F4F6">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1397000"/>
            <a:ext cx="12192000" cy="292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2000" b="1" i="0" u="none" strike="noStrike">
                <a:solidFill>
                  <a:srgbClr val="166534">
                    <a:alpha val="12157"/>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03</a:t>
            </a:r>
            <a:endParaRPr lang="en-US" sz="1100"/>
          </a:p>
        </p:txBody>
      </p:sp>
      <p:sp>
        <p:nvSpPr>
          <p:cNvPr id="3" name="AutoShape 3"/>
          <p:cNvSpPr/>
          <p:nvPr/>
        </p:nvSpPr>
        <p:spPr>
          <a:xfrm>
            <a:off x="0" y="4445000"/>
            <a:ext cx="12192000" cy="1016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36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03 索引设计核心原则</a:t>
            </a:r>
            <a:endParaRPr lang="en-US" sz="1100"/>
          </a:p>
        </p:txBody>
      </p:sp>
      <p:sp>
        <p:nvSpPr>
          <p:cNvPr id="4" name="AutoShape 4"/>
          <p:cNvSpPr/>
          <p:nvPr/>
        </p:nvSpPr>
        <p:spPr>
          <a:xfrm>
            <a:off x="5588000" y="5689600"/>
            <a:ext cx="1016000" cy="76200"/>
          </a:xfrm>
          <a:prstGeom prst="roundRect">
            <a:avLst>
              <a:gd name="adj" fmla="val 0"/>
            </a:avLst>
          </a:prstGeom>
          <a:solidFill>
            <a:srgbClr val="166534">
              <a:alpha val="100000"/>
            </a:srgbClr>
          </a:solidFill>
          <a:ln w="25400" cap="flat" cmpd="sng">
            <a:noFill/>
            <a:prstDash val="solid"/>
            <a:round/>
          </a:ln>
        </p:spPr>
        <p:txBody>
          <a:bodyPr vert="horz" wrap="square" lIns="63500" tIns="63500" rIns="63500" bIns="63500" rtlCol="0" anchor="ctr"/>
          <a:lstStyle/>
          <a:p>
            <a:pPr algn="ctr">
              <a:defRPr/>
            </a:p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9525000" y="-1270000"/>
            <a:ext cx="3810000" cy="3810000"/>
          </a:xfrm>
          <a:prstGeom prst="ellipse">
            <a:avLst/>
          </a:prstGeom>
          <a:solidFill>
            <a:srgbClr val="3B82F6">
              <a:alpha val="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1016000" y="5080000"/>
            <a:ext cx="2540000" cy="2540000"/>
          </a:xfrm>
          <a:prstGeom prst="ellipse">
            <a:avLst/>
          </a:prstGeom>
          <a:solidFill>
            <a:srgbClr val="10B981">
              <a:alpha val="5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508000" y="508000"/>
            <a:ext cx="11430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索引选择性与基数分析</a:t>
            </a:r>
            <a:endParaRPr lang="en-US" sz="1100"/>
          </a:p>
        </p:txBody>
      </p:sp>
      <p:sp>
        <p:nvSpPr>
          <p:cNvPr id="5" name="AutoShape 5"/>
          <p:cNvSpPr/>
          <p:nvPr/>
        </p:nvSpPr>
        <p:spPr>
          <a:xfrm>
            <a:off x="508000" y="1524000"/>
            <a:ext cx="11176000" cy="1079500"/>
          </a:xfrm>
          <a:prstGeom prst="roundRect">
            <a:avLst>
              <a:gd name="adj" fmla="val 0"/>
            </a:avLst>
          </a:prstGeom>
          <a:solidFill>
            <a:srgbClr val="3B82F6">
              <a:alpha val="8000"/>
            </a:srgbClr>
          </a:solidFill>
          <a:ln w="12700" cap="flat" cmpd="sng">
            <a:solidFill>
              <a:srgbClr val="3B82F6">
                <a:alpha val="20000"/>
              </a:srgbClr>
            </a:solidFill>
            <a:prstDash val="solid"/>
            <a:round/>
          </a:ln>
        </p:spPr>
        <p:txBody>
          <a:bodyPr vert="horz" wrap="square" lIns="63500" tIns="63500" rIns="63500" bIns="63500" rtlCol="0" anchor="ctr"/>
          <a:lstStyle/>
          <a:p>
            <a:pPr algn="ctr">
              <a:defRPr/>
            </a:pPr>
          </a:p>
        </p:txBody>
      </p:sp>
      <p:sp>
        <p:nvSpPr>
          <p:cNvPr id="6" name="AutoShape 6"/>
          <p:cNvSpPr/>
          <p:nvPr/>
        </p:nvSpPr>
        <p:spPr>
          <a:xfrm>
            <a:off x="635000" y="1676400"/>
            <a:ext cx="10922000" cy="825500"/>
          </a:xfrm>
          <a:prstGeom prst="rect">
            <a:avLst/>
          </a:prstGeom>
          <a:noFill/>
          <a:ln w="12700" cap="flat" cmpd="sng">
            <a:noFill/>
            <a:prstDash val="solid"/>
            <a:round/>
          </a:ln>
        </p:spPr>
        <p:txBody>
          <a:bodyPr vert="horz" wrap="square" lIns="0" tIns="0" rIns="0" bIns="0" rtlCol="0" anchor="ctr" anchorCtr="0"/>
          <a:lstStyle/>
          <a:p>
            <a:pPr marL="0" indent="0" algn="ctr">
              <a:lnSpc>
                <a:spcPct val="100000"/>
              </a:lnSpc>
              <a:defRPr/>
            </a:pPr>
            <a:r>
              <a:rPr lang="en-US" sz="2000" b="1" i="0" u="none" strike="noStrike">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核心公式：选择性 = ( 不同值数量(Distinct Values) / 总行数(Total Rows) ) × 100%</a:t>
            </a:r>
            <a:endParaRPr lang="en-US" sz="1100"/>
          </a:p>
        </p:txBody>
      </p:sp>
      <p:sp>
        <p:nvSpPr>
          <p:cNvPr id="7" name="AutoShape 7"/>
          <p:cNvSpPr/>
          <p:nvPr/>
        </p:nvSpPr>
        <p:spPr>
          <a:xfrm>
            <a:off x="508000" y="2921000"/>
            <a:ext cx="3556000" cy="2921000"/>
          </a:xfrm>
          <a:prstGeom prst="roundRect">
            <a:avLst>
              <a:gd name="adj" fmla="val 0"/>
            </a:avLst>
          </a:prstGeom>
          <a:solidFill>
            <a:srgbClr val="10B981">
              <a:alpha val="6000"/>
            </a:srgbClr>
          </a:solidFill>
          <a:ln w="12700" cap="flat" cmpd="sng">
            <a:solidFill>
              <a:srgbClr val="10B981">
                <a:alpha val="20000"/>
              </a:srgbClr>
            </a:solidFill>
            <a:prstDash val="solid"/>
            <a:round/>
          </a:ln>
        </p:spPr>
        <p:txBody>
          <a:bodyPr vert="horz" wrap="square" lIns="63500" tIns="63500" rIns="63500" bIns="63500" rtlCol="0" anchor="ctr"/>
          <a:lstStyle/>
          <a:p>
            <a:pPr algn="ctr">
              <a:defRPr/>
            </a:pPr>
          </a:p>
        </p:txBody>
      </p:sp>
      <p:sp>
        <p:nvSpPr>
          <p:cNvPr id="8" name="AutoShape 8"/>
          <p:cNvSpPr/>
          <p:nvPr/>
        </p:nvSpPr>
        <p:spPr>
          <a:xfrm>
            <a:off x="508000" y="2921000"/>
            <a:ext cx="3556000" cy="508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98500" y="3175000"/>
            <a:ext cx="406400" cy="406400"/>
          </a:xfrm>
          <a:prstGeom prst="rect">
            <a:avLst/>
          </a:prstGeom>
        </p:spPr>
      </p:pic>
      <p:sp>
        <p:nvSpPr>
          <p:cNvPr id="10" name="AutoShape 10"/>
          <p:cNvSpPr/>
          <p:nvPr/>
        </p:nvSpPr>
        <p:spPr>
          <a:xfrm>
            <a:off x="1206500" y="3200400"/>
            <a:ext cx="254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0B981"/>
                </a:solidFill>
                <a:latin typeface="Noto Sans SC" panose="020B0200000000000000" charset="-122"/>
                <a:ea typeface="Noto Sans SC" panose="020B0200000000000000" charset="-122"/>
                <a:cs typeface="Noto Sans SC" panose="020B0200000000000000" charset="-122"/>
                <a:sym typeface="Noto Sans SC" panose="020B0200000000000000" charset="-122"/>
              </a:rPr>
              <a:t>01 高选择性</a:t>
            </a:r>
            <a:endParaRPr lang="en-US" sz="1100"/>
          </a:p>
        </p:txBody>
      </p:sp>
      <p:sp>
        <p:nvSpPr>
          <p:cNvPr id="11" name="AutoShape 11"/>
          <p:cNvSpPr/>
          <p:nvPr/>
        </p:nvSpPr>
        <p:spPr>
          <a:xfrm>
            <a:off x="698500" y="3683000"/>
            <a:ext cx="3175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阈值：接近 100% (基数极高)</a:t>
            </a:r>
            <a:endParaRPr lang="en-US" sz="1100"/>
          </a:p>
        </p:txBody>
      </p:sp>
      <p:sp>
        <p:nvSpPr>
          <p:cNvPr id="12" name="AutoShape 12"/>
          <p:cNvSpPr/>
          <p:nvPr/>
        </p:nvSpPr>
        <p:spPr>
          <a:xfrm>
            <a:off x="698500" y="4127500"/>
            <a:ext cx="3175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典型场景：主键 ID、唯一约束列。B+树索引在此场景下效率最佳，能迅速过滤数据并定位到单行记录，极大降低数据库IO开销。</a:t>
            </a:r>
            <a:endParaRPr lang="en-US" sz="1100"/>
          </a:p>
        </p:txBody>
      </p:sp>
      <p:sp>
        <p:nvSpPr>
          <p:cNvPr id="13" name="AutoShape 13"/>
          <p:cNvSpPr/>
          <p:nvPr/>
        </p:nvSpPr>
        <p:spPr>
          <a:xfrm>
            <a:off x="4318000" y="2921000"/>
            <a:ext cx="3556000" cy="2921000"/>
          </a:xfrm>
          <a:prstGeom prst="roundRect">
            <a:avLst>
              <a:gd name="adj" fmla="val 0"/>
            </a:avLst>
          </a:prstGeom>
          <a:solidFill>
            <a:srgbClr val="F59E0B">
              <a:alpha val="6000"/>
            </a:srgbClr>
          </a:solidFill>
          <a:ln w="12700" cap="flat" cmpd="sng">
            <a:solidFill>
              <a:srgbClr val="F59E0B">
                <a:alpha val="20000"/>
              </a:srgbClr>
            </a:solidFill>
            <a:prstDash val="solid"/>
            <a:round/>
          </a:ln>
        </p:spPr>
        <p:txBody>
          <a:bodyPr vert="horz" wrap="square" lIns="63500" tIns="63500" rIns="63500" bIns="63500" rtlCol="0" anchor="ctr"/>
          <a:lstStyle/>
          <a:p>
            <a:pPr algn="ctr">
              <a:defRPr/>
            </a:pPr>
          </a:p>
        </p:txBody>
      </p:sp>
      <p:sp>
        <p:nvSpPr>
          <p:cNvPr id="14" name="AutoShape 14"/>
          <p:cNvSpPr/>
          <p:nvPr/>
        </p:nvSpPr>
        <p:spPr>
          <a:xfrm>
            <a:off x="4318000" y="2921000"/>
            <a:ext cx="3556000" cy="50800"/>
          </a:xfrm>
          <a:prstGeom prst="roundRect">
            <a:avLst>
              <a:gd name="adj" fmla="val 0"/>
            </a:avLst>
          </a:prstGeom>
          <a:solidFill>
            <a:srgbClr val="F59E0B">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508500" y="3175000"/>
            <a:ext cx="406400" cy="406400"/>
          </a:xfrm>
          <a:prstGeom prst="rect">
            <a:avLst/>
          </a:prstGeom>
        </p:spPr>
      </p:pic>
      <p:sp>
        <p:nvSpPr>
          <p:cNvPr id="16" name="AutoShape 16"/>
          <p:cNvSpPr/>
          <p:nvPr/>
        </p:nvSpPr>
        <p:spPr>
          <a:xfrm>
            <a:off x="5016500" y="3200400"/>
            <a:ext cx="254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59E0B"/>
                </a:solidFill>
                <a:latin typeface="Noto Sans SC" panose="020B0200000000000000" charset="-122"/>
                <a:ea typeface="Noto Sans SC" panose="020B0200000000000000" charset="-122"/>
                <a:cs typeface="Noto Sans SC" panose="020B0200000000000000" charset="-122"/>
                <a:sym typeface="Noto Sans SC" panose="020B0200000000000000" charset="-122"/>
              </a:rPr>
              <a:t>02 低选择性</a:t>
            </a:r>
            <a:endParaRPr lang="en-US" sz="1100"/>
          </a:p>
        </p:txBody>
      </p:sp>
      <p:sp>
        <p:nvSpPr>
          <p:cNvPr id="17" name="AutoShape 17"/>
          <p:cNvSpPr/>
          <p:nvPr/>
        </p:nvSpPr>
        <p:spPr>
          <a:xfrm>
            <a:off x="4508500" y="3683000"/>
            <a:ext cx="3175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阈值：低于 10% (基数极低)</a:t>
            </a:r>
            <a:endParaRPr lang="en-US" sz="1100"/>
          </a:p>
        </p:txBody>
      </p:sp>
      <p:sp>
        <p:nvSpPr>
          <p:cNvPr id="18" name="AutoShape 18"/>
          <p:cNvSpPr/>
          <p:nvPr/>
        </p:nvSpPr>
        <p:spPr>
          <a:xfrm>
            <a:off x="4508500" y="4127500"/>
            <a:ext cx="3175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典型场景：性别、状态码、类型字段。普通B树索引可能失效（效率不如全表扫描），建议使用位图索引(Bitmap Index)或全表扫描。</a:t>
            </a:r>
            <a:endParaRPr lang="en-US" sz="1100"/>
          </a:p>
        </p:txBody>
      </p:sp>
      <p:sp>
        <p:nvSpPr>
          <p:cNvPr id="19" name="AutoShape 19"/>
          <p:cNvSpPr/>
          <p:nvPr/>
        </p:nvSpPr>
        <p:spPr>
          <a:xfrm>
            <a:off x="8128000" y="2921000"/>
            <a:ext cx="3556000" cy="2921000"/>
          </a:xfrm>
          <a:prstGeom prst="roundRect">
            <a:avLst>
              <a:gd name="adj" fmla="val 0"/>
            </a:avLst>
          </a:prstGeom>
          <a:solidFill>
            <a:srgbClr val="3B82F6">
              <a:alpha val="6000"/>
            </a:srgbClr>
          </a:solidFill>
          <a:ln w="12700" cap="flat" cmpd="sng">
            <a:solidFill>
              <a:srgbClr val="3B82F6">
                <a:alpha val="20000"/>
              </a:srgbClr>
            </a:solidFill>
            <a:prstDash val="solid"/>
            <a:round/>
          </a:ln>
        </p:spPr>
        <p:txBody>
          <a:bodyPr vert="horz" wrap="square" lIns="63500" tIns="63500" rIns="63500" bIns="63500" rtlCol="0" anchor="ctr"/>
          <a:lstStyle/>
          <a:p>
            <a:pPr algn="ctr">
              <a:defRPr/>
            </a:pPr>
          </a:p>
        </p:txBody>
      </p:sp>
      <p:sp>
        <p:nvSpPr>
          <p:cNvPr id="20" name="AutoShape 20"/>
          <p:cNvSpPr/>
          <p:nvPr/>
        </p:nvSpPr>
        <p:spPr>
          <a:xfrm>
            <a:off x="8128000" y="2921000"/>
            <a:ext cx="3556000" cy="50800"/>
          </a:xfrm>
          <a:prstGeom prst="roundRect">
            <a:avLst>
              <a:gd name="adj" fmla="val 0"/>
            </a:avLst>
          </a:prstGeom>
          <a:solidFill>
            <a:srgbClr val="3B82F6">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1" name="Picture 21"/>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318500" y="3175000"/>
            <a:ext cx="406400" cy="406400"/>
          </a:xfrm>
          <a:prstGeom prst="rect">
            <a:avLst/>
          </a:prstGeom>
        </p:spPr>
      </p:pic>
      <p:sp>
        <p:nvSpPr>
          <p:cNvPr id="22" name="AutoShape 22"/>
          <p:cNvSpPr/>
          <p:nvPr/>
        </p:nvSpPr>
        <p:spPr>
          <a:xfrm>
            <a:off x="8826500" y="3200400"/>
            <a:ext cx="254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B82F6"/>
                </a:solidFill>
                <a:latin typeface="Noto Sans SC" panose="020B0200000000000000" charset="-122"/>
                <a:ea typeface="Noto Sans SC" panose="020B0200000000000000" charset="-122"/>
                <a:cs typeface="Noto Sans SC" panose="020B0200000000000000" charset="-122"/>
                <a:sym typeface="Noto Sans SC" panose="020B0200000000000000" charset="-122"/>
              </a:rPr>
              <a:t>03 聚簇因子</a:t>
            </a:r>
            <a:endParaRPr lang="en-US" sz="1100"/>
          </a:p>
        </p:txBody>
      </p:sp>
      <p:sp>
        <p:nvSpPr>
          <p:cNvPr id="23" name="AutoShape 23"/>
          <p:cNvSpPr/>
          <p:nvPr/>
        </p:nvSpPr>
        <p:spPr>
          <a:xfrm>
            <a:off x="8318500" y="3683000"/>
            <a:ext cx="3175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衡量：索引逻辑顺序 vs 物理存储</a:t>
            </a:r>
            <a:endParaRPr lang="en-US" sz="1100"/>
          </a:p>
        </p:txBody>
      </p:sp>
      <p:sp>
        <p:nvSpPr>
          <p:cNvPr id="24" name="AutoShape 24"/>
          <p:cNvSpPr/>
          <p:nvPr/>
        </p:nvSpPr>
        <p:spPr>
          <a:xfrm>
            <a:off x="8318500" y="4127500"/>
            <a:ext cx="3175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数值越低，代表索引顺序与数据物理存储顺序越匹配。低聚簇因子意味着范围扫描时，数据库能以更少的随机IO读取更多数据。</a:t>
            </a:r>
            <a:endParaRPr lang="en-US" sz="1100"/>
          </a:p>
        </p:txBody>
      </p:sp>
      <p:sp>
        <p:nvSpPr>
          <p:cNvPr id="25" name="AutoShape 25"/>
          <p:cNvSpPr/>
          <p:nvPr/>
        </p:nvSpPr>
        <p:spPr>
          <a:xfrm>
            <a:off x="508000" y="6032500"/>
            <a:ext cx="11176000" cy="457200"/>
          </a:xfrm>
          <a:prstGeom prst="roundRect">
            <a:avLst>
              <a:gd name="adj" fmla="val 0"/>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p>
        </p:txBody>
      </p:sp>
      <p:sp>
        <p:nvSpPr>
          <p:cNvPr id="26" name="AutoShape 26"/>
          <p:cNvSpPr/>
          <p:nvPr/>
        </p:nvSpPr>
        <p:spPr>
          <a:xfrm>
            <a:off x="635000" y="6134100"/>
            <a:ext cx="10922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 优化启示：</a:t>
            </a: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不要盲目建索引，需根据字段的基数特征（高/低选择性）及聚簇因子来评估索引的有效性。</a:t>
            </a:r>
            <a:endParaRPr lang="en-US" sz="11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0" y="-1270000"/>
            <a:ext cx="3810000" cy="3810000"/>
          </a:xfrm>
          <a:prstGeom prst="ellipse">
            <a:avLst/>
          </a:prstGeom>
          <a:solidFill>
            <a:srgbClr val="0D766E">
              <a:alpha val="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1016000" y="5080000"/>
            <a:ext cx="2540000" cy="2540000"/>
          </a:xfrm>
          <a:prstGeom prst="ellipse">
            <a:avLst/>
          </a:prstGeom>
          <a:solidFill>
            <a:srgbClr val="0D766E">
              <a:alpha val="5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508000" y="508000"/>
            <a:ext cx="11176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0D766E"/>
                </a:solidFill>
                <a:latin typeface="Noto Sans SC" panose="020B0200000000000000" charset="-122"/>
                <a:ea typeface="Noto Sans SC" panose="020B0200000000000000" charset="-122"/>
                <a:cs typeface="Noto Sans SC" panose="020B0200000000000000" charset="-122"/>
                <a:sym typeface="Noto Sans SC" panose="020B0200000000000000" charset="-122"/>
              </a:rPr>
              <a:t>复合索引设计黄金法则</a:t>
            </a:r>
            <a:endParaRPr lang="en-US" sz="1100"/>
          </a:p>
        </p:txBody>
      </p:sp>
      <p:sp>
        <p:nvSpPr>
          <p:cNvPr id="5" name="AutoShape 5"/>
          <p:cNvSpPr/>
          <p:nvPr/>
        </p:nvSpPr>
        <p:spPr>
          <a:xfrm>
            <a:off x="508000" y="1651000"/>
            <a:ext cx="3556000" cy="1968500"/>
          </a:xfrm>
          <a:prstGeom prst="roundRect">
            <a:avLst>
              <a:gd name="adj" fmla="val 0"/>
            </a:avLst>
          </a:prstGeom>
          <a:solidFill>
            <a:srgbClr val="0D766E">
              <a:alpha val="6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508000" y="1651000"/>
            <a:ext cx="76200" cy="1968500"/>
          </a:xfrm>
          <a:prstGeom prst="roundRect">
            <a:avLst>
              <a:gd name="adj" fmla="val 0"/>
            </a:avLst>
          </a:prstGeom>
          <a:solidFill>
            <a:srgbClr val="0D766E">
              <a:alpha val="10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736600" y="1841500"/>
            <a:ext cx="635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0D766E"/>
                </a:solidFill>
                <a:latin typeface="Noto Sans SC" panose="020B0200000000000000" charset="-122"/>
                <a:ea typeface="Noto Sans SC" panose="020B0200000000000000" charset="-122"/>
                <a:cs typeface="Noto Sans SC" panose="020B0200000000000000" charset="-122"/>
                <a:sym typeface="Noto Sans SC" panose="020B0200000000000000" charset="-122"/>
              </a:rPr>
              <a:t>01</a:t>
            </a:r>
            <a:endParaRPr lang="en-US" sz="1100"/>
          </a:p>
        </p:txBody>
      </p:sp>
      <p:pic>
        <p:nvPicPr>
          <p:cNvPr id="8" name="Picture 8"/>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3556000" y="1879600"/>
            <a:ext cx="279400" cy="279400"/>
          </a:xfrm>
          <a:prstGeom prst="rect">
            <a:avLst/>
          </a:prstGeom>
        </p:spPr>
      </p:pic>
      <p:sp>
        <p:nvSpPr>
          <p:cNvPr id="9" name="AutoShape 9"/>
          <p:cNvSpPr/>
          <p:nvPr/>
        </p:nvSpPr>
        <p:spPr>
          <a:xfrm>
            <a:off x="1397000" y="1879600"/>
            <a:ext cx="2286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700" b="1" i="0" u="none" strike="noStrike">
                <a:solidFill>
                  <a:srgbClr val="1A4D47"/>
                </a:solidFill>
                <a:latin typeface="Noto Sans SC" panose="020B0200000000000000" charset="-122"/>
                <a:ea typeface="Noto Sans SC" panose="020B0200000000000000" charset="-122"/>
                <a:cs typeface="Noto Sans SC" panose="020B0200000000000000" charset="-122"/>
                <a:sym typeface="Noto Sans SC" panose="020B0200000000000000" charset="-122"/>
              </a:rPr>
              <a:t>最左前缀原则</a:t>
            </a:r>
            <a:endParaRPr lang="en-US" sz="1100"/>
          </a:p>
        </p:txBody>
      </p:sp>
      <p:sp>
        <p:nvSpPr>
          <p:cNvPr id="10" name="AutoShape 10"/>
          <p:cNvSpPr/>
          <p:nvPr/>
        </p:nvSpPr>
        <p:spPr>
          <a:xfrm>
            <a:off x="736600" y="2413000"/>
            <a:ext cx="3175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查询条件必须包含索引的前导列，索引才能被有效利用。不满足字段顺序将导致索引失效，退化为全表扫描。</a:t>
            </a:r>
            <a:endParaRPr lang="en-US" sz="1100"/>
          </a:p>
        </p:txBody>
      </p:sp>
      <p:sp>
        <p:nvSpPr>
          <p:cNvPr id="11" name="AutoShape 11"/>
          <p:cNvSpPr/>
          <p:nvPr/>
        </p:nvSpPr>
        <p:spPr>
          <a:xfrm>
            <a:off x="4318000" y="1651000"/>
            <a:ext cx="3556000" cy="1968500"/>
          </a:xfrm>
          <a:prstGeom prst="roundRect">
            <a:avLst>
              <a:gd name="adj" fmla="val 0"/>
            </a:avLst>
          </a:prstGeom>
          <a:solidFill>
            <a:srgbClr val="0D766E">
              <a:alpha val="6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4318000" y="1651000"/>
            <a:ext cx="76200" cy="1968500"/>
          </a:xfrm>
          <a:prstGeom prst="roundRect">
            <a:avLst>
              <a:gd name="adj" fmla="val 0"/>
            </a:avLst>
          </a:prstGeom>
          <a:solidFill>
            <a:srgbClr val="0D766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4546600" y="1841500"/>
            <a:ext cx="635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0D766E"/>
                </a:solidFill>
                <a:latin typeface="Noto Sans SC" panose="020B0200000000000000" charset="-122"/>
                <a:ea typeface="Noto Sans SC" panose="020B0200000000000000" charset="-122"/>
                <a:cs typeface="Noto Sans SC" panose="020B0200000000000000" charset="-122"/>
                <a:sym typeface="Noto Sans SC" panose="020B0200000000000000" charset="-122"/>
              </a:rPr>
              <a:t>02</a:t>
            </a:r>
            <a:endParaRPr lang="en-US" sz="1100"/>
          </a:p>
        </p:txBody>
      </p:sp>
      <p:pic>
        <p:nvPicPr>
          <p:cNvPr id="14" name="Picture 14"/>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366000" y="1879600"/>
            <a:ext cx="279400" cy="279400"/>
          </a:xfrm>
          <a:prstGeom prst="rect">
            <a:avLst/>
          </a:prstGeom>
        </p:spPr>
      </p:pic>
      <p:sp>
        <p:nvSpPr>
          <p:cNvPr id="15" name="AutoShape 15"/>
          <p:cNvSpPr/>
          <p:nvPr/>
        </p:nvSpPr>
        <p:spPr>
          <a:xfrm>
            <a:off x="5207000" y="1879600"/>
            <a:ext cx="2286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700" b="1" i="0" u="none" strike="noStrike">
                <a:solidFill>
                  <a:srgbClr val="1A4D47"/>
                </a:solidFill>
                <a:latin typeface="Noto Sans SC" panose="020B0200000000000000" charset="-122"/>
                <a:ea typeface="Noto Sans SC" panose="020B0200000000000000" charset="-122"/>
                <a:cs typeface="Noto Sans SC" panose="020B0200000000000000" charset="-122"/>
                <a:sym typeface="Noto Sans SC" panose="020B0200000000000000" charset="-122"/>
              </a:rPr>
              <a:t>选择性优先原则</a:t>
            </a:r>
            <a:endParaRPr lang="en-US" sz="1100"/>
          </a:p>
        </p:txBody>
      </p:sp>
      <p:sp>
        <p:nvSpPr>
          <p:cNvPr id="16" name="AutoShape 16"/>
          <p:cNvSpPr/>
          <p:nvPr/>
        </p:nvSpPr>
        <p:spPr>
          <a:xfrm>
            <a:off x="4546600" y="2413000"/>
            <a:ext cx="3175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将高选择性（区分度大、基数高）的列置于索引前列，能快速过滤掉大量无关数据，显著缩小扫描范围，提升效率。</a:t>
            </a:r>
            <a:endParaRPr lang="en-US" sz="1100"/>
          </a:p>
        </p:txBody>
      </p:sp>
      <p:sp>
        <p:nvSpPr>
          <p:cNvPr id="17" name="AutoShape 17"/>
          <p:cNvSpPr/>
          <p:nvPr/>
        </p:nvSpPr>
        <p:spPr>
          <a:xfrm>
            <a:off x="8128000" y="1651000"/>
            <a:ext cx="3556000" cy="1968500"/>
          </a:xfrm>
          <a:prstGeom prst="roundRect">
            <a:avLst>
              <a:gd name="adj" fmla="val 0"/>
            </a:avLst>
          </a:prstGeom>
          <a:solidFill>
            <a:srgbClr val="0D766E">
              <a:alpha val="6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nvSpPr>
        <p:spPr>
          <a:xfrm>
            <a:off x="8128000" y="1651000"/>
            <a:ext cx="76200" cy="1968500"/>
          </a:xfrm>
          <a:prstGeom prst="roundRect">
            <a:avLst>
              <a:gd name="adj" fmla="val 0"/>
            </a:avLst>
          </a:prstGeom>
          <a:solidFill>
            <a:srgbClr val="0D766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9" name="AutoShape 19"/>
          <p:cNvSpPr/>
          <p:nvPr/>
        </p:nvSpPr>
        <p:spPr>
          <a:xfrm>
            <a:off x="8356600" y="1841500"/>
            <a:ext cx="635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0D766E"/>
                </a:solidFill>
                <a:latin typeface="Noto Sans SC" panose="020B0200000000000000" charset="-122"/>
                <a:ea typeface="Noto Sans SC" panose="020B0200000000000000" charset="-122"/>
                <a:cs typeface="Noto Sans SC" panose="020B0200000000000000" charset="-122"/>
                <a:sym typeface="Noto Sans SC" panose="020B0200000000000000" charset="-122"/>
              </a:rPr>
              <a:t>03</a:t>
            </a:r>
            <a:endParaRPr lang="en-US" sz="1100"/>
          </a:p>
        </p:txBody>
      </p:sp>
      <p:pic>
        <p:nvPicPr>
          <p:cNvPr id="20" name="Picture 20"/>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1176000" y="1879600"/>
            <a:ext cx="279400" cy="279400"/>
          </a:xfrm>
          <a:prstGeom prst="rect">
            <a:avLst/>
          </a:prstGeom>
        </p:spPr>
      </p:pic>
      <p:sp>
        <p:nvSpPr>
          <p:cNvPr id="21" name="AutoShape 21"/>
          <p:cNvSpPr/>
          <p:nvPr/>
        </p:nvSpPr>
        <p:spPr>
          <a:xfrm>
            <a:off x="9017000" y="1879600"/>
            <a:ext cx="2286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700" b="1" i="0" u="none" strike="noStrike">
                <a:solidFill>
                  <a:srgbClr val="1A4D47"/>
                </a:solidFill>
                <a:latin typeface="Noto Sans SC" panose="020B0200000000000000" charset="-122"/>
                <a:ea typeface="Noto Sans SC" panose="020B0200000000000000" charset="-122"/>
                <a:cs typeface="Noto Sans SC" panose="020B0200000000000000" charset="-122"/>
                <a:sym typeface="Noto Sans SC" panose="020B0200000000000000" charset="-122"/>
              </a:rPr>
              <a:t>等值条件前置原则</a:t>
            </a:r>
            <a:endParaRPr lang="en-US" sz="1100"/>
          </a:p>
        </p:txBody>
      </p:sp>
      <p:sp>
        <p:nvSpPr>
          <p:cNvPr id="22" name="AutoShape 22"/>
          <p:cNvSpPr/>
          <p:nvPr/>
        </p:nvSpPr>
        <p:spPr>
          <a:xfrm>
            <a:off x="8356600" y="2413000"/>
            <a:ext cx="3175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优先放置等值查询列（=、IN），再放置范围查询列（&gt;、&lt;、BETWEEN）。利用索引的有序性先精准定位，再高效筛选。</a:t>
            </a:r>
            <a:endParaRPr lang="en-US" sz="1100"/>
          </a:p>
        </p:txBody>
      </p:sp>
      <p:sp>
        <p:nvSpPr>
          <p:cNvPr id="23" name="AutoShape 23"/>
          <p:cNvSpPr/>
          <p:nvPr/>
        </p:nvSpPr>
        <p:spPr>
          <a:xfrm>
            <a:off x="508000" y="4064000"/>
            <a:ext cx="5461000" cy="2032000"/>
          </a:xfrm>
          <a:prstGeom prst="roundRect">
            <a:avLst>
              <a:gd name="adj" fmla="val 0"/>
            </a:avLst>
          </a:prstGeom>
          <a:solidFill>
            <a:srgbClr val="0D766E">
              <a:alpha val="6000"/>
            </a:srgbClr>
          </a:solidFill>
          <a:ln w="25400" cap="flat" cmpd="sng">
            <a:noFill/>
            <a:prstDash val="solid"/>
            <a:round/>
          </a:ln>
        </p:spPr>
        <p:txBody>
          <a:bodyPr vert="horz" wrap="square" lIns="63500" tIns="63500" rIns="63500" bIns="63500" rtlCol="0" anchor="ctr"/>
          <a:lstStyle/>
          <a:p>
            <a:pPr algn="ctr">
              <a:defRPr/>
            </a:pPr>
          </a:p>
        </p:txBody>
      </p:sp>
      <p:sp>
        <p:nvSpPr>
          <p:cNvPr id="24" name="AutoShape 24"/>
          <p:cNvSpPr/>
          <p:nvPr/>
        </p:nvSpPr>
        <p:spPr>
          <a:xfrm>
            <a:off x="508000" y="4064000"/>
            <a:ext cx="76200" cy="2032000"/>
          </a:xfrm>
          <a:prstGeom prst="roundRect">
            <a:avLst>
              <a:gd name="adj" fmla="val 0"/>
            </a:avLst>
          </a:prstGeom>
          <a:solidFill>
            <a:srgbClr val="0D766E">
              <a:alpha val="100000"/>
            </a:srgbClr>
          </a:solidFill>
          <a:ln w="25400" cap="flat" cmpd="sng">
            <a:noFill/>
            <a:prstDash val="solid"/>
            <a:round/>
          </a:ln>
        </p:spPr>
        <p:txBody>
          <a:bodyPr vert="horz" wrap="square" lIns="63500" tIns="63500" rIns="63500" bIns="63500" rtlCol="0" anchor="ctr"/>
          <a:lstStyle/>
          <a:p>
            <a:pPr algn="ctr">
              <a:defRPr/>
            </a:pPr>
          </a:p>
        </p:txBody>
      </p:sp>
      <p:sp>
        <p:nvSpPr>
          <p:cNvPr id="25" name="AutoShape 25"/>
          <p:cNvSpPr/>
          <p:nvPr/>
        </p:nvSpPr>
        <p:spPr>
          <a:xfrm>
            <a:off x="736600" y="4254500"/>
            <a:ext cx="635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0D766E"/>
                </a:solidFill>
                <a:latin typeface="Noto Sans SC" panose="020B0200000000000000" charset="-122"/>
                <a:ea typeface="Noto Sans SC" panose="020B0200000000000000" charset="-122"/>
                <a:cs typeface="Noto Sans SC" panose="020B0200000000000000" charset="-122"/>
                <a:sym typeface="Noto Sans SC" panose="020B0200000000000000" charset="-122"/>
              </a:rPr>
              <a:t>04</a:t>
            </a:r>
            <a:endParaRPr lang="en-US" sz="1100"/>
          </a:p>
        </p:txBody>
      </p:sp>
      <p:pic>
        <p:nvPicPr>
          <p:cNvPr id="26" name="Picture 26"/>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397500" y="4292600"/>
            <a:ext cx="279400" cy="279400"/>
          </a:xfrm>
          <a:prstGeom prst="rect">
            <a:avLst/>
          </a:prstGeom>
        </p:spPr>
      </p:pic>
      <p:sp>
        <p:nvSpPr>
          <p:cNvPr id="27" name="AutoShape 27"/>
          <p:cNvSpPr/>
          <p:nvPr/>
        </p:nvSpPr>
        <p:spPr>
          <a:xfrm>
            <a:off x="1397000" y="4292600"/>
            <a:ext cx="3556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700" b="1" i="0" u="none" strike="noStrike">
                <a:solidFill>
                  <a:srgbClr val="1A4D47"/>
                </a:solidFill>
                <a:latin typeface="Noto Sans SC" panose="020B0200000000000000" charset="-122"/>
                <a:ea typeface="Noto Sans SC" panose="020B0200000000000000" charset="-122"/>
                <a:cs typeface="Noto Sans SC" panose="020B0200000000000000" charset="-122"/>
                <a:sym typeface="Noto Sans SC" panose="020B0200000000000000" charset="-122"/>
              </a:rPr>
              <a:t>避免过度索引原则</a:t>
            </a:r>
            <a:endParaRPr lang="en-US" sz="1100"/>
          </a:p>
        </p:txBody>
      </p:sp>
      <p:sp>
        <p:nvSpPr>
          <p:cNvPr id="28" name="AutoShape 28"/>
          <p:cNvSpPr/>
          <p:nvPr/>
        </p:nvSpPr>
        <p:spPr>
          <a:xfrm>
            <a:off x="736600" y="4826000"/>
            <a:ext cx="50165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索引虽加速查询，但会显著增加写入（INSERT/UPDATE/DELETE）的维护成本与磁盘空间开销。需根据实际业务的查询频率进行权衡，避免冗余索引。</a:t>
            </a:r>
            <a:endParaRPr lang="en-US" sz="1100"/>
          </a:p>
        </p:txBody>
      </p:sp>
      <p:sp>
        <p:nvSpPr>
          <p:cNvPr id="29" name="AutoShape 29"/>
          <p:cNvSpPr/>
          <p:nvPr/>
        </p:nvSpPr>
        <p:spPr>
          <a:xfrm>
            <a:off x="6223000" y="4064000"/>
            <a:ext cx="5461000" cy="2032000"/>
          </a:xfrm>
          <a:prstGeom prst="roundRect">
            <a:avLst>
              <a:gd name="adj" fmla="val 0"/>
            </a:avLst>
          </a:prstGeom>
          <a:solidFill>
            <a:srgbClr val="0D766E">
              <a:alpha val="6000"/>
            </a:srgbClr>
          </a:solidFill>
          <a:ln w="25400" cap="flat" cmpd="sng">
            <a:noFill/>
            <a:prstDash val="solid"/>
            <a:round/>
          </a:ln>
        </p:spPr>
        <p:txBody>
          <a:bodyPr vert="horz" wrap="square" lIns="63500" tIns="63500" rIns="63500" bIns="63500" rtlCol="0" anchor="ctr"/>
          <a:lstStyle/>
          <a:p>
            <a:pPr algn="ctr">
              <a:defRPr/>
            </a:pPr>
          </a:p>
        </p:txBody>
      </p:sp>
      <p:sp>
        <p:nvSpPr>
          <p:cNvPr id="30" name="AutoShape 30"/>
          <p:cNvSpPr/>
          <p:nvPr/>
        </p:nvSpPr>
        <p:spPr>
          <a:xfrm>
            <a:off x="6223000" y="4064000"/>
            <a:ext cx="76200" cy="2032000"/>
          </a:xfrm>
          <a:prstGeom prst="roundRect">
            <a:avLst>
              <a:gd name="adj" fmla="val 0"/>
            </a:avLst>
          </a:prstGeom>
          <a:solidFill>
            <a:srgbClr val="0D766E">
              <a:alpha val="100000"/>
            </a:srgbClr>
          </a:solidFill>
          <a:ln w="25400" cap="flat" cmpd="sng">
            <a:noFill/>
            <a:prstDash val="solid"/>
            <a:round/>
          </a:ln>
        </p:spPr>
        <p:txBody>
          <a:bodyPr vert="horz" wrap="square" lIns="63500" tIns="63500" rIns="63500" bIns="63500" rtlCol="0" anchor="ctr"/>
          <a:lstStyle/>
          <a:p>
            <a:pPr algn="ctr">
              <a:defRPr/>
            </a:pPr>
          </a:p>
        </p:txBody>
      </p:sp>
      <p:sp>
        <p:nvSpPr>
          <p:cNvPr id="31" name="AutoShape 31"/>
          <p:cNvSpPr/>
          <p:nvPr/>
        </p:nvSpPr>
        <p:spPr>
          <a:xfrm>
            <a:off x="6451600" y="4254500"/>
            <a:ext cx="635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0D766E"/>
                </a:solidFill>
                <a:latin typeface="Noto Sans SC" panose="020B0200000000000000" charset="-122"/>
                <a:ea typeface="Noto Sans SC" panose="020B0200000000000000" charset="-122"/>
                <a:cs typeface="Noto Sans SC" panose="020B0200000000000000" charset="-122"/>
                <a:sym typeface="Noto Sans SC" panose="020B0200000000000000" charset="-122"/>
              </a:rPr>
              <a:t>05</a:t>
            </a:r>
            <a:endParaRPr lang="en-US" sz="1100"/>
          </a:p>
        </p:txBody>
      </p:sp>
      <p:pic>
        <p:nvPicPr>
          <p:cNvPr id="32" name="Picture 32"/>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1112500" y="4292600"/>
            <a:ext cx="279400" cy="279400"/>
          </a:xfrm>
          <a:prstGeom prst="rect">
            <a:avLst/>
          </a:prstGeom>
        </p:spPr>
      </p:pic>
      <p:sp>
        <p:nvSpPr>
          <p:cNvPr id="33" name="AutoShape 33"/>
          <p:cNvSpPr/>
          <p:nvPr/>
        </p:nvSpPr>
        <p:spPr>
          <a:xfrm>
            <a:off x="7112000" y="4292600"/>
            <a:ext cx="3556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700" b="1" i="0" u="none" strike="noStrike">
                <a:solidFill>
                  <a:srgbClr val="1A4D47"/>
                </a:solidFill>
                <a:latin typeface="Noto Sans SC" panose="020B0200000000000000" charset="-122"/>
                <a:ea typeface="Noto Sans SC" panose="020B0200000000000000" charset="-122"/>
                <a:cs typeface="Noto Sans SC" panose="020B0200000000000000" charset="-122"/>
                <a:sym typeface="Noto Sans SC" panose="020B0200000000000000" charset="-122"/>
              </a:rPr>
              <a:t>覆盖索引极致优化</a:t>
            </a:r>
            <a:endParaRPr lang="en-US" sz="1100"/>
          </a:p>
        </p:txBody>
      </p:sp>
      <p:sp>
        <p:nvSpPr>
          <p:cNvPr id="34" name="AutoShape 34"/>
          <p:cNvSpPr/>
          <p:nvPr/>
        </p:nvSpPr>
        <p:spPr>
          <a:xfrm>
            <a:off x="6451600" y="4826000"/>
            <a:ext cx="50165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设计包含查询所需全部字段的“宽索引”，实现“索引覆盖”。查询结果直接从索引中获取，避免回表查询磁盘，这是数据库性能优化中最显著的手段之一。</a:t>
            </a:r>
            <a:endParaRPr lang="en-US" sz="11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9FAFB">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0" y="-1270000"/>
            <a:ext cx="3810000" cy="3810000"/>
          </a:xfrm>
          <a:prstGeom prst="ellipse">
            <a:avLst/>
          </a:prstGeom>
          <a:solidFill>
            <a:srgbClr val="22C55E">
              <a:alpha val="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1270000" y="5080000"/>
            <a:ext cx="3175000" cy="3175000"/>
          </a:xfrm>
          <a:prstGeom prst="ellipse">
            <a:avLst/>
          </a:prstGeom>
          <a:solidFill>
            <a:srgbClr val="EF4444">
              <a:alpha val="5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508000" y="508000"/>
            <a:ext cx="11176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索引创建最佳实践</a:t>
            </a:r>
            <a:endParaRPr lang="en-US" sz="3200" b="1">
              <a:solidFill>
                <a:srgbClr val="15803D"/>
              </a:solidFill>
              <a:latin typeface="Noto Sans SC" panose="020B0200000000000000" charset="-122"/>
              <a:ea typeface="Noto Sans SC" panose="020B0200000000000000" charset="-122"/>
              <a:cs typeface="Noto Sans SC" panose="020B0200000000000000" charset="-122"/>
            </a:endParaR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08000" y="1524000"/>
            <a:ext cx="406400" cy="406400"/>
          </a:xfrm>
          <a:prstGeom prst="rect">
            <a:avLst/>
          </a:prstGeom>
        </p:spPr>
      </p:pic>
      <p:sp>
        <p:nvSpPr>
          <p:cNvPr id="6" name="AutoShape 6"/>
          <p:cNvSpPr/>
          <p:nvPr/>
        </p:nvSpPr>
        <p:spPr>
          <a:xfrm>
            <a:off x="1016000" y="1524000"/>
            <a:ext cx="4826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推荐做法 (DOs)</a:t>
            </a:r>
            <a:endParaRPr lang="en-US" sz="1100"/>
          </a:p>
        </p:txBody>
      </p:sp>
      <p:sp>
        <p:nvSpPr>
          <p:cNvPr id="7" name="AutoShape 7"/>
          <p:cNvSpPr/>
          <p:nvPr/>
        </p:nvSpPr>
        <p:spPr>
          <a:xfrm>
            <a:off x="508000" y="2159000"/>
            <a:ext cx="5334000" cy="787400"/>
          </a:xfrm>
          <a:prstGeom prst="roundRect">
            <a:avLst>
              <a:gd name="adj" fmla="val 0"/>
            </a:avLst>
          </a:prstGeom>
          <a:solidFill>
            <a:srgbClr val="DCFCE7">
              <a:alpha val="40000"/>
            </a:srgbClr>
          </a:solidFill>
          <a:ln w="12700" cap="flat" cmpd="sng">
            <a:solidFill>
              <a:srgbClr val="BBF7D0">
                <a:alpha val="100000"/>
              </a:srgbClr>
            </a:solidFill>
            <a:prstDash val="solid"/>
            <a:round/>
          </a:ln>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98500" y="2311400"/>
            <a:ext cx="254000" cy="254000"/>
          </a:xfrm>
          <a:prstGeom prst="rect">
            <a:avLst/>
          </a:prstGeom>
        </p:spPr>
      </p:pic>
      <p:sp>
        <p:nvSpPr>
          <p:cNvPr id="9" name="AutoShape 9"/>
          <p:cNvSpPr/>
          <p:nvPr/>
        </p:nvSpPr>
        <p:spPr>
          <a:xfrm>
            <a:off x="1079500" y="2235200"/>
            <a:ext cx="4699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5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聚焦核心查询列</a:t>
            </a: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：为 WHERE、JOIN、排序及分组的核心列创建索引，直击查询性能瓶颈。</a:t>
            </a:r>
            <a:endParaRPr lang="en-US" sz="1100"/>
          </a:p>
        </p:txBody>
      </p:sp>
      <p:sp>
        <p:nvSpPr>
          <p:cNvPr id="10" name="AutoShape 10"/>
          <p:cNvSpPr/>
          <p:nvPr/>
        </p:nvSpPr>
        <p:spPr>
          <a:xfrm>
            <a:off x="508000" y="3022600"/>
            <a:ext cx="5334000" cy="787400"/>
          </a:xfrm>
          <a:prstGeom prst="roundRect">
            <a:avLst>
              <a:gd name="adj" fmla="val 0"/>
            </a:avLst>
          </a:prstGeom>
          <a:solidFill>
            <a:srgbClr val="DCFCE7">
              <a:alpha val="40000"/>
            </a:srgbClr>
          </a:solidFill>
          <a:ln w="12700" cap="flat" cmpd="sng">
            <a:solidFill>
              <a:srgbClr val="BBF7D0">
                <a:alpha val="100000"/>
              </a:srgbClr>
            </a:solidFill>
            <a:prstDash val="solid"/>
            <a:round/>
          </a:ln>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98500" y="3175000"/>
            <a:ext cx="254000" cy="254000"/>
          </a:xfrm>
          <a:prstGeom prst="rect">
            <a:avLst/>
          </a:prstGeom>
        </p:spPr>
      </p:pic>
      <p:sp>
        <p:nvSpPr>
          <p:cNvPr id="12" name="AutoShape 12"/>
          <p:cNvSpPr/>
          <p:nvPr/>
        </p:nvSpPr>
        <p:spPr>
          <a:xfrm>
            <a:off x="1079500" y="3098800"/>
            <a:ext cx="4699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5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优先使用复合索引</a:t>
            </a: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：多条件查询时，遵循“最左前缀”原则构建复合索引，效率优于多个单列索引。</a:t>
            </a:r>
            <a:endParaRPr lang="en-US" sz="1100"/>
          </a:p>
        </p:txBody>
      </p:sp>
      <p:sp>
        <p:nvSpPr>
          <p:cNvPr id="13" name="AutoShape 13"/>
          <p:cNvSpPr/>
          <p:nvPr/>
        </p:nvSpPr>
        <p:spPr>
          <a:xfrm>
            <a:off x="508000" y="3886200"/>
            <a:ext cx="5334000" cy="787400"/>
          </a:xfrm>
          <a:prstGeom prst="roundRect">
            <a:avLst>
              <a:gd name="adj" fmla="val 0"/>
            </a:avLst>
          </a:prstGeom>
          <a:solidFill>
            <a:srgbClr val="DCFCE7">
              <a:alpha val="40000"/>
            </a:srgbClr>
          </a:solidFill>
          <a:ln w="12700" cap="flat" cmpd="sng">
            <a:solidFill>
              <a:srgbClr val="BBF7D0">
                <a:alpha val="100000"/>
              </a:srgbClr>
            </a:solidFill>
            <a:prstDash val="solid"/>
            <a:round/>
          </a:ln>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98500" y="4038600"/>
            <a:ext cx="254000" cy="254000"/>
          </a:xfrm>
          <a:prstGeom prst="rect">
            <a:avLst/>
          </a:prstGeom>
        </p:spPr>
      </p:pic>
      <p:sp>
        <p:nvSpPr>
          <p:cNvPr id="15" name="AutoShape 15"/>
          <p:cNvSpPr/>
          <p:nvPr/>
        </p:nvSpPr>
        <p:spPr>
          <a:xfrm>
            <a:off x="1079500" y="3962400"/>
            <a:ext cx="4699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5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覆盖索引避免回表</a:t>
            </a: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：设计包含所有查询字段的覆盖索引，彻底消除通过主键二次回表的性能开销。</a:t>
            </a:r>
            <a:endParaRPr lang="en-US" sz="1100"/>
          </a:p>
        </p:txBody>
      </p:sp>
      <p:sp>
        <p:nvSpPr>
          <p:cNvPr id="16" name="AutoShape 16"/>
          <p:cNvSpPr/>
          <p:nvPr/>
        </p:nvSpPr>
        <p:spPr>
          <a:xfrm>
            <a:off x="508000" y="4749800"/>
            <a:ext cx="5334000" cy="787400"/>
          </a:xfrm>
          <a:prstGeom prst="roundRect">
            <a:avLst>
              <a:gd name="adj" fmla="val 0"/>
            </a:avLst>
          </a:prstGeom>
          <a:solidFill>
            <a:srgbClr val="DCFCE7">
              <a:alpha val="40000"/>
            </a:srgbClr>
          </a:solidFill>
          <a:ln w="12700" cap="flat" cmpd="sng">
            <a:solidFill>
              <a:srgbClr val="BBF7D0">
                <a:alpha val="100000"/>
              </a:srgbClr>
            </a:solidFill>
            <a:prstDash val="solid"/>
            <a:round/>
          </a:ln>
        </p:spPr>
        <p:txBody>
          <a:bodyPr vert="horz" wrap="square" lIns="63500" tIns="63500" rIns="63500" bIns="63500" rtlCol="0" anchor="ctr"/>
          <a:lstStyle/>
          <a:p>
            <a:pPr algn="ctr">
              <a:defRPr/>
            </a:pPr>
          </a:p>
        </p:txBody>
      </p:sp>
      <p:pic>
        <p:nvPicPr>
          <p:cNvPr id="17" name="Picture 17"/>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98500" y="4902200"/>
            <a:ext cx="254000" cy="254000"/>
          </a:xfrm>
          <a:prstGeom prst="rect">
            <a:avLst/>
          </a:prstGeom>
        </p:spPr>
      </p:pic>
      <p:sp>
        <p:nvSpPr>
          <p:cNvPr id="18" name="AutoShape 18"/>
          <p:cNvSpPr/>
          <p:nvPr/>
        </p:nvSpPr>
        <p:spPr>
          <a:xfrm>
            <a:off x="1079500" y="4826000"/>
            <a:ext cx="4699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5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定期清理冗余索引</a:t>
            </a: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：利用数据库工具分析索引使用频率，及时删除长期未被调用的无效索引。</a:t>
            </a:r>
            <a:endParaRPr lang="en-US" sz="1100"/>
          </a:p>
        </p:txBody>
      </p:sp>
      <p:sp>
        <p:nvSpPr>
          <p:cNvPr id="19" name="AutoShape 19"/>
          <p:cNvSpPr/>
          <p:nvPr/>
        </p:nvSpPr>
        <p:spPr>
          <a:xfrm>
            <a:off x="508000" y="5486400"/>
            <a:ext cx="5334000" cy="787400"/>
          </a:xfrm>
          <a:prstGeom prst="roundRect">
            <a:avLst>
              <a:gd name="adj" fmla="val 0"/>
            </a:avLst>
          </a:prstGeom>
          <a:solidFill>
            <a:srgbClr val="DCFCE7">
              <a:alpha val="40000"/>
            </a:srgbClr>
          </a:solidFill>
          <a:ln w="12700" cap="flat" cmpd="sng">
            <a:solidFill>
              <a:srgbClr val="BBF7D0">
                <a:alpha val="100000"/>
              </a:srgbClr>
            </a:solidFill>
            <a:prstDash val="solid"/>
            <a:round/>
          </a:ln>
        </p:spPr>
        <p:txBody>
          <a:bodyPr vert="horz" wrap="square" lIns="63500" tIns="63500" rIns="63500" bIns="63500" rtlCol="0" anchor="ctr"/>
          <a:lstStyle/>
          <a:p>
            <a:pPr algn="ctr">
              <a:defRPr/>
            </a:pPr>
          </a:p>
        </p:txBody>
      </p:sp>
      <p:pic>
        <p:nvPicPr>
          <p:cNvPr id="20" name="Picture 20"/>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98500" y="5638800"/>
            <a:ext cx="254000" cy="254000"/>
          </a:xfrm>
          <a:prstGeom prst="rect">
            <a:avLst/>
          </a:prstGeom>
        </p:spPr>
      </p:pic>
      <p:sp>
        <p:nvSpPr>
          <p:cNvPr id="21" name="AutoShape 21"/>
          <p:cNvSpPr/>
          <p:nvPr/>
        </p:nvSpPr>
        <p:spPr>
          <a:xfrm>
            <a:off x="1079500" y="5562600"/>
            <a:ext cx="4699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5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批量操作后重建索引</a:t>
            </a: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：在大批量数据导入或更新后，重建索引以消除碎片，恢复索引结构的紧凑性。</a:t>
            </a:r>
            <a:endParaRPr lang="en-US" sz="1100"/>
          </a:p>
        </p:txBody>
      </p:sp>
      <p:pic>
        <p:nvPicPr>
          <p:cNvPr id="22" name="Picture 2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350000" y="1524000"/>
            <a:ext cx="406400" cy="406400"/>
          </a:xfrm>
          <a:prstGeom prst="rect">
            <a:avLst/>
          </a:prstGeom>
        </p:spPr>
      </p:pic>
      <p:sp>
        <p:nvSpPr>
          <p:cNvPr id="23" name="AutoShape 23"/>
          <p:cNvSpPr/>
          <p:nvPr/>
        </p:nvSpPr>
        <p:spPr>
          <a:xfrm>
            <a:off x="6858000" y="1524000"/>
            <a:ext cx="4826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EF4444"/>
                </a:solidFill>
                <a:latin typeface="Noto Sans SC" panose="020B0200000000000000" charset="-122"/>
                <a:ea typeface="Noto Sans SC" panose="020B0200000000000000" charset="-122"/>
                <a:cs typeface="Noto Sans SC" panose="020B0200000000000000" charset="-122"/>
                <a:sym typeface="Noto Sans SC" panose="020B0200000000000000" charset="-122"/>
              </a:rPr>
              <a:t>避免做法 (DON'Ts)</a:t>
            </a:r>
            <a:endParaRPr lang="en-US" sz="1100"/>
          </a:p>
        </p:txBody>
      </p:sp>
      <p:sp>
        <p:nvSpPr>
          <p:cNvPr id="24" name="AutoShape 24"/>
          <p:cNvSpPr/>
          <p:nvPr/>
        </p:nvSpPr>
        <p:spPr>
          <a:xfrm>
            <a:off x="6350000" y="2159000"/>
            <a:ext cx="5334000" cy="787400"/>
          </a:xfrm>
          <a:prstGeom prst="roundRect">
            <a:avLst>
              <a:gd name="adj" fmla="val 0"/>
            </a:avLst>
          </a:prstGeom>
          <a:solidFill>
            <a:srgbClr val="FEE2E2">
              <a:alpha val="40000"/>
            </a:srgbClr>
          </a:solidFill>
          <a:ln w="12700" cap="flat" cmpd="sng">
            <a:solidFill>
              <a:srgbClr val="FECACA">
                <a:alpha val="100000"/>
              </a:srgbClr>
            </a:solidFill>
            <a:prstDash val="solid"/>
            <a:round/>
          </a:ln>
        </p:spPr>
        <p:txBody>
          <a:bodyPr vert="horz" wrap="square" lIns="63500" tIns="63500" rIns="63500" bIns="63500" rtlCol="0" anchor="ctr"/>
          <a:lstStyle/>
          <a:p>
            <a:pPr algn="ctr">
              <a:defRPr/>
            </a:pPr>
          </a:p>
        </p:txBody>
      </p:sp>
      <p:pic>
        <p:nvPicPr>
          <p:cNvPr id="25" name="Picture 25"/>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540500" y="2311400"/>
            <a:ext cx="254000" cy="254000"/>
          </a:xfrm>
          <a:prstGeom prst="rect">
            <a:avLst/>
          </a:prstGeom>
        </p:spPr>
      </p:pic>
      <p:sp>
        <p:nvSpPr>
          <p:cNvPr id="26" name="AutoShape 26"/>
          <p:cNvSpPr/>
          <p:nvPr/>
        </p:nvSpPr>
        <p:spPr>
          <a:xfrm>
            <a:off x="6921500" y="2235200"/>
            <a:ext cx="4699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500" b="1" i="0" u="none" strike="noStrike">
                <a:solidFill>
                  <a:srgbClr val="B91C1C"/>
                </a:solidFill>
                <a:latin typeface="Noto Sans SC" panose="020B0200000000000000" charset="-122"/>
                <a:ea typeface="Noto Sans SC" panose="020B0200000000000000" charset="-122"/>
                <a:cs typeface="Noto Sans SC" panose="020B0200000000000000" charset="-122"/>
                <a:sym typeface="Noto Sans SC" panose="020B0200000000000000" charset="-122"/>
              </a:rPr>
              <a:t>切勿为所有列建索引</a:t>
            </a: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：索引并非越多越好，过多的索引会显著拖慢 INSERT、UPDATE 和 DELETE 的写入速度。</a:t>
            </a:r>
            <a:endParaRPr lang="en-US" sz="1100"/>
          </a:p>
        </p:txBody>
      </p:sp>
      <p:sp>
        <p:nvSpPr>
          <p:cNvPr id="27" name="AutoShape 27"/>
          <p:cNvSpPr/>
          <p:nvPr/>
        </p:nvSpPr>
        <p:spPr>
          <a:xfrm>
            <a:off x="6350000" y="3022600"/>
            <a:ext cx="5334000" cy="787400"/>
          </a:xfrm>
          <a:prstGeom prst="roundRect">
            <a:avLst>
              <a:gd name="adj" fmla="val 0"/>
            </a:avLst>
          </a:prstGeom>
          <a:solidFill>
            <a:srgbClr val="FEE2E2">
              <a:alpha val="40000"/>
            </a:srgbClr>
          </a:solidFill>
          <a:ln w="12700" cap="flat" cmpd="sng">
            <a:solidFill>
              <a:srgbClr val="FECACA">
                <a:alpha val="100000"/>
              </a:srgbClr>
            </a:solidFill>
            <a:prstDash val="solid"/>
            <a:round/>
          </a:ln>
        </p:spPr>
        <p:txBody>
          <a:bodyPr vert="horz" wrap="square" lIns="63500" tIns="63500" rIns="63500" bIns="63500" rtlCol="0" anchor="ctr"/>
          <a:lstStyle/>
          <a:p>
            <a:pPr algn="ctr">
              <a:defRPr/>
            </a:pPr>
          </a:p>
        </p:txBody>
      </p:sp>
      <p:pic>
        <p:nvPicPr>
          <p:cNvPr id="28" name="Picture 28"/>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540500" y="3175000"/>
            <a:ext cx="254000" cy="254000"/>
          </a:xfrm>
          <a:prstGeom prst="rect">
            <a:avLst/>
          </a:prstGeom>
        </p:spPr>
      </p:pic>
      <p:sp>
        <p:nvSpPr>
          <p:cNvPr id="29" name="AutoShape 29"/>
          <p:cNvSpPr/>
          <p:nvPr/>
        </p:nvSpPr>
        <p:spPr>
          <a:xfrm>
            <a:off x="6921500" y="3098800"/>
            <a:ext cx="4699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500" b="1" i="0" u="none" strike="noStrike">
                <a:solidFill>
                  <a:srgbClr val="B91C1C"/>
                </a:solidFill>
                <a:latin typeface="Noto Sans SC" panose="020B0200000000000000" charset="-122"/>
                <a:ea typeface="Noto Sans SC" panose="020B0200000000000000" charset="-122"/>
                <a:cs typeface="Noto Sans SC" panose="020B0200000000000000" charset="-122"/>
                <a:sym typeface="Noto Sans SC" panose="020B0200000000000000" charset="-122"/>
              </a:rPr>
              <a:t>小表拒绝过度索引</a:t>
            </a: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：对于数据量极少的表（如配置表），全表扫描的IO开销通常低于索引查找的成本。</a:t>
            </a:r>
            <a:endParaRPr lang="en-US" sz="1100"/>
          </a:p>
        </p:txBody>
      </p:sp>
      <p:sp>
        <p:nvSpPr>
          <p:cNvPr id="30" name="AutoShape 30"/>
          <p:cNvSpPr/>
          <p:nvPr/>
        </p:nvSpPr>
        <p:spPr>
          <a:xfrm>
            <a:off x="6350000" y="3886200"/>
            <a:ext cx="5334000" cy="787400"/>
          </a:xfrm>
          <a:prstGeom prst="roundRect">
            <a:avLst>
              <a:gd name="adj" fmla="val 0"/>
            </a:avLst>
          </a:prstGeom>
          <a:solidFill>
            <a:srgbClr val="FEE2E2">
              <a:alpha val="40000"/>
            </a:srgbClr>
          </a:solidFill>
          <a:ln w="12700" cap="flat" cmpd="sng">
            <a:solidFill>
              <a:srgbClr val="FECACA">
                <a:alpha val="100000"/>
              </a:srgbClr>
            </a:solidFill>
            <a:prstDash val="solid"/>
            <a:round/>
          </a:ln>
        </p:spPr>
        <p:txBody>
          <a:bodyPr vert="horz" wrap="square" lIns="63500" tIns="63500" rIns="63500" bIns="63500" rtlCol="0" anchor="ctr"/>
          <a:lstStyle/>
          <a:p>
            <a:pPr algn="ctr">
              <a:defRPr/>
            </a:pPr>
          </a:p>
        </p:txBody>
      </p:sp>
      <p:pic>
        <p:nvPicPr>
          <p:cNvPr id="31" name="Picture 31"/>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540500" y="4038600"/>
            <a:ext cx="254000" cy="254000"/>
          </a:xfrm>
          <a:prstGeom prst="rect">
            <a:avLst/>
          </a:prstGeom>
        </p:spPr>
      </p:pic>
      <p:sp>
        <p:nvSpPr>
          <p:cNvPr id="32" name="AutoShape 32"/>
          <p:cNvSpPr/>
          <p:nvPr/>
        </p:nvSpPr>
        <p:spPr>
          <a:xfrm>
            <a:off x="6921500" y="3962400"/>
            <a:ext cx="4699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500" b="1" i="0" u="none" strike="noStrike">
                <a:solidFill>
                  <a:srgbClr val="B91C1C"/>
                </a:solidFill>
                <a:latin typeface="Noto Sans SC" panose="020B0200000000000000" charset="-122"/>
                <a:ea typeface="Noto Sans SC" panose="020B0200000000000000" charset="-122"/>
                <a:cs typeface="Noto Sans SC" panose="020B0200000000000000" charset="-122"/>
                <a:sym typeface="Noto Sans SC" panose="020B0200000000000000" charset="-122"/>
              </a:rPr>
              <a:t>高频更新列慎用索引</a:t>
            </a: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：频繁变更的列上建立索引，会导致每次数据修改都需维护索引树，增加大量写锁开销。</a:t>
            </a:r>
            <a:endParaRPr lang="en-US" sz="1100"/>
          </a:p>
        </p:txBody>
      </p:sp>
      <p:sp>
        <p:nvSpPr>
          <p:cNvPr id="33" name="AutoShape 33"/>
          <p:cNvSpPr/>
          <p:nvPr/>
        </p:nvSpPr>
        <p:spPr>
          <a:xfrm>
            <a:off x="6350000" y="4749800"/>
            <a:ext cx="5334000" cy="787400"/>
          </a:xfrm>
          <a:prstGeom prst="roundRect">
            <a:avLst>
              <a:gd name="adj" fmla="val 0"/>
            </a:avLst>
          </a:prstGeom>
          <a:solidFill>
            <a:srgbClr val="FEE2E2">
              <a:alpha val="40000"/>
            </a:srgbClr>
          </a:solidFill>
          <a:ln w="12700" cap="flat" cmpd="sng">
            <a:solidFill>
              <a:srgbClr val="FECACA">
                <a:alpha val="100000"/>
              </a:srgbClr>
            </a:solidFill>
            <a:prstDash val="solid"/>
            <a:round/>
          </a:ln>
        </p:spPr>
        <p:txBody>
          <a:bodyPr vert="horz" wrap="square" lIns="63500" tIns="63500" rIns="63500" bIns="63500" rtlCol="0" anchor="ctr"/>
          <a:lstStyle/>
          <a:p>
            <a:pPr algn="ctr">
              <a:defRPr/>
            </a:pPr>
          </a:p>
        </p:txBody>
      </p:sp>
      <p:pic>
        <p:nvPicPr>
          <p:cNvPr id="34" name="Picture 34"/>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540500" y="4902200"/>
            <a:ext cx="254000" cy="254000"/>
          </a:xfrm>
          <a:prstGeom prst="rect">
            <a:avLst/>
          </a:prstGeom>
        </p:spPr>
      </p:pic>
      <p:sp>
        <p:nvSpPr>
          <p:cNvPr id="35" name="AutoShape 35"/>
          <p:cNvSpPr/>
          <p:nvPr/>
        </p:nvSpPr>
        <p:spPr>
          <a:xfrm>
            <a:off x="6921500" y="4826000"/>
            <a:ext cx="4699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500" b="1" i="0" u="none" strike="noStrike">
                <a:solidFill>
                  <a:srgbClr val="B91C1C"/>
                </a:solidFill>
                <a:latin typeface="Noto Sans SC" panose="020B0200000000000000" charset="-122"/>
                <a:ea typeface="Noto Sans SC" panose="020B0200000000000000" charset="-122"/>
                <a:cs typeface="Noto Sans SC" panose="020B0200000000000000" charset="-122"/>
                <a:sym typeface="Noto Sans SC" panose="020B0200000000000000" charset="-122"/>
              </a:rPr>
              <a:t>避免索引列上做运算</a:t>
            </a: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：在 WHERE 条件中对索引列直接使用函数或算术运算，会导致索引失效，触发全表扫描。</a:t>
            </a:r>
            <a:endParaRPr lang="en-US" sz="1100"/>
          </a:p>
        </p:txBody>
      </p:sp>
      <p:sp>
        <p:nvSpPr>
          <p:cNvPr id="36" name="AutoShape 36"/>
          <p:cNvSpPr/>
          <p:nvPr/>
        </p:nvSpPr>
        <p:spPr>
          <a:xfrm>
            <a:off x="6350000" y="5486400"/>
            <a:ext cx="5334000" cy="787400"/>
          </a:xfrm>
          <a:prstGeom prst="roundRect">
            <a:avLst>
              <a:gd name="adj" fmla="val 0"/>
            </a:avLst>
          </a:prstGeom>
          <a:solidFill>
            <a:srgbClr val="FEE2E2">
              <a:alpha val="40000"/>
            </a:srgbClr>
          </a:solidFill>
          <a:ln w="12700" cap="flat" cmpd="sng">
            <a:solidFill>
              <a:srgbClr val="FECACA">
                <a:alpha val="100000"/>
              </a:srgbClr>
            </a:solidFill>
            <a:prstDash val="solid"/>
            <a:round/>
          </a:ln>
        </p:spPr>
        <p:txBody>
          <a:bodyPr vert="horz" wrap="square" lIns="63500" tIns="63500" rIns="63500" bIns="63500" rtlCol="0" anchor="ctr"/>
          <a:lstStyle/>
          <a:p>
            <a:pPr algn="ctr">
              <a:defRPr/>
            </a:pPr>
          </a:p>
        </p:txBody>
      </p:sp>
      <p:pic>
        <p:nvPicPr>
          <p:cNvPr id="37" name="Picture 37"/>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540500" y="5638800"/>
            <a:ext cx="254000" cy="254000"/>
          </a:xfrm>
          <a:prstGeom prst="rect">
            <a:avLst/>
          </a:prstGeom>
        </p:spPr>
      </p:pic>
      <p:sp>
        <p:nvSpPr>
          <p:cNvPr id="38" name="AutoShape 38"/>
          <p:cNvSpPr/>
          <p:nvPr/>
        </p:nvSpPr>
        <p:spPr>
          <a:xfrm>
            <a:off x="6921500" y="5562600"/>
            <a:ext cx="4699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500" b="1" i="0" u="none" strike="noStrike">
                <a:solidFill>
                  <a:srgbClr val="B91C1C"/>
                </a:solidFill>
                <a:latin typeface="Noto Sans SC" panose="020B0200000000000000" charset="-122"/>
                <a:ea typeface="Noto Sans SC" panose="020B0200000000000000" charset="-122"/>
                <a:cs typeface="Noto Sans SC" panose="020B0200000000000000" charset="-122"/>
                <a:sym typeface="Noto Sans SC" panose="020B0200000000000000" charset="-122"/>
              </a:rPr>
              <a:t>杜绝功能重复的索引</a:t>
            </a: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：避免创建列顺序或类型完全重叠的重复索引（如同一列的普通索引和唯一索引）。</a:t>
            </a:r>
            <a:endParaRPr lang="en-US" sz="11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5F5F7">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1270000"/>
            <a:ext cx="12192000" cy="2794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0000" b="1" i="0" u="none" strike="noStrike">
                <a:solidFill>
                  <a:srgbClr val="166534">
                    <a:alpha val="12157"/>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04</a:t>
            </a:r>
            <a:endParaRPr lang="en-US" sz="1100"/>
          </a:p>
        </p:txBody>
      </p:sp>
      <p:sp>
        <p:nvSpPr>
          <p:cNvPr id="4" name="AutoShape 4"/>
          <p:cNvSpPr/>
          <p:nvPr/>
        </p:nvSpPr>
        <p:spPr>
          <a:xfrm>
            <a:off x="0" y="4762500"/>
            <a:ext cx="12192000" cy="889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36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04 索引优化实战技巧</a:t>
            </a:r>
            <a:endParaRPr lang="en-US" sz="1100"/>
          </a:p>
        </p:txBody>
      </p:sp>
      <p:sp>
        <p:nvSpPr>
          <p:cNvPr id="5" name="AutoShape 5"/>
          <p:cNvSpPr/>
          <p:nvPr/>
        </p:nvSpPr>
        <p:spPr>
          <a:xfrm>
            <a:off x="5715000" y="5969000"/>
            <a:ext cx="762000" cy="50800"/>
          </a:xfrm>
          <a:prstGeom prst="roundRect">
            <a:avLst>
              <a:gd name="adj" fmla="val 0"/>
            </a:avLst>
          </a:prstGeom>
          <a:solidFill>
            <a:srgbClr val="166534">
              <a:alpha val="100000"/>
            </a:srgbClr>
          </a:solidFill>
          <a:ln w="25400" cap="flat" cmpd="sng">
            <a:noFill/>
            <a:prstDash val="solid"/>
            <a:round/>
          </a:ln>
        </p:spPr>
        <p:txBody>
          <a:bodyPr vert="horz" wrap="square" lIns="63500" tIns="63500" rIns="63500" bIns="63500" rtlCol="0" anchor="ctr"/>
          <a:lstStyle/>
          <a:p>
            <a:pPr algn="ctr">
              <a:defRPr/>
            </a:p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8FAFC">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9525000" y="-1270000"/>
            <a:ext cx="3810000" cy="3810000"/>
          </a:xfrm>
          <a:prstGeom prst="ellipse">
            <a:avLst/>
          </a:prstGeom>
          <a:solidFill>
            <a:srgbClr val="3B82F6">
              <a:alpha val="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1016000" y="5080000"/>
            <a:ext cx="2540000" cy="2540000"/>
          </a:xfrm>
          <a:prstGeom prst="ellipse">
            <a:avLst/>
          </a:prstGeom>
          <a:solidFill>
            <a:srgbClr val="10B981">
              <a:alpha val="5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508000" y="508000"/>
            <a:ext cx="11176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0F172A"/>
                </a:solidFill>
                <a:latin typeface="Noto Sans SC" panose="020B0200000000000000" charset="-122"/>
                <a:ea typeface="Noto Sans SC" panose="020B0200000000000000" charset="-122"/>
                <a:cs typeface="Noto Sans SC" panose="020B0200000000000000" charset="-122"/>
                <a:sym typeface="Noto Sans SC" panose="020B0200000000000000" charset="-122"/>
              </a:rPr>
              <a:t>索引重建与维护优化</a:t>
            </a:r>
            <a:endParaRPr lang="en-US" sz="1100"/>
          </a:p>
        </p:txBody>
      </p:sp>
      <p:sp>
        <p:nvSpPr>
          <p:cNvPr id="5" name="AutoShape 5"/>
          <p:cNvSpPr/>
          <p:nvPr/>
        </p:nvSpPr>
        <p:spPr>
          <a:xfrm>
            <a:off x="508000" y="1524000"/>
            <a:ext cx="5461000" cy="2222500"/>
          </a:xfrm>
          <a:prstGeom prst="roundRect">
            <a:avLst>
              <a:gd name="adj" fmla="val 0"/>
            </a:avLst>
          </a:prstGeom>
          <a:solidFill>
            <a:srgbClr val="FFFFFF">
              <a:alpha val="100000"/>
            </a:srgbClr>
          </a:solidFill>
          <a:ln w="12700" cap="flat" cmpd="sng">
            <a:solidFill>
              <a:srgbClr val="E2E8F0">
                <a:alpha val="100000"/>
              </a:srgbClr>
            </a:solid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62000" y="1841500"/>
            <a:ext cx="508000" cy="508000"/>
          </a:xfrm>
          <a:prstGeom prst="rect">
            <a:avLst/>
          </a:prstGeom>
        </p:spPr>
      </p:pic>
      <p:sp>
        <p:nvSpPr>
          <p:cNvPr id="7" name="AutoShape 7"/>
          <p:cNvSpPr/>
          <p:nvPr/>
        </p:nvSpPr>
        <p:spPr>
          <a:xfrm>
            <a:off x="1460500" y="1879600"/>
            <a:ext cx="4191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B82F6"/>
                </a:solidFill>
                <a:latin typeface="Noto Sans SC" panose="020B0200000000000000" charset="-122"/>
                <a:ea typeface="Noto Sans SC" panose="020B0200000000000000" charset="-122"/>
                <a:cs typeface="Noto Sans SC" panose="020B0200000000000000" charset="-122"/>
                <a:sym typeface="Noto Sans SC" panose="020B0200000000000000" charset="-122"/>
              </a:rPr>
              <a:t>01 索引重建 (Rebuild)</a:t>
            </a:r>
            <a:endParaRPr lang="en-US" sz="1100"/>
          </a:p>
        </p:txBody>
      </p:sp>
      <p:sp>
        <p:nvSpPr>
          <p:cNvPr id="8" name="AutoShape 8"/>
          <p:cNvSpPr/>
          <p:nvPr/>
        </p:nvSpPr>
        <p:spPr>
          <a:xfrm>
            <a:off x="762000" y="2476500"/>
            <a:ext cx="4953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rPr>
              <a:t>适用于碎片严重、大量数据删除或表空间迁移场景。使用 ONLINE 关键字可避免锁表，保障业务连续性。</a:t>
            </a:r>
            <a:endParaRPr lang="en-US" sz="1100"/>
          </a:p>
        </p:txBody>
      </p:sp>
      <p:sp>
        <p:nvSpPr>
          <p:cNvPr id="9" name="AutoShape 9"/>
          <p:cNvSpPr/>
          <p:nvPr/>
        </p:nvSpPr>
        <p:spPr>
          <a:xfrm>
            <a:off x="762000" y="3238500"/>
            <a:ext cx="4953000" cy="406400"/>
          </a:xfrm>
          <a:prstGeom prst="roundRect">
            <a:avLst>
              <a:gd name="adj" fmla="val 0"/>
            </a:avLst>
          </a:prstGeom>
          <a:solidFill>
            <a:srgbClr val="3B82F6">
              <a:alpha val="10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825500" y="3302000"/>
            <a:ext cx="4826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1E3A8A"/>
                </a:solidFill>
                <a:latin typeface="Consolas" panose="020B0609020204030204"/>
                <a:ea typeface="Consolas" panose="020B0609020204030204"/>
                <a:cs typeface="Consolas" panose="020B0609020204030204"/>
                <a:sym typeface="Consolas" panose="020B0609020204030204"/>
              </a:rPr>
              <a:t>ALTER INDEX idx_name REBUILD [ONLINE];</a:t>
            </a:r>
            <a:endParaRPr lang="en-US" sz="1100"/>
          </a:p>
        </p:txBody>
      </p:sp>
      <p:sp>
        <p:nvSpPr>
          <p:cNvPr id="11" name="AutoShape 11"/>
          <p:cNvSpPr/>
          <p:nvPr/>
        </p:nvSpPr>
        <p:spPr>
          <a:xfrm>
            <a:off x="6223000" y="1524000"/>
            <a:ext cx="5461000" cy="2222500"/>
          </a:xfrm>
          <a:prstGeom prst="roundRect">
            <a:avLst>
              <a:gd name="adj" fmla="val 0"/>
            </a:avLst>
          </a:prstGeom>
          <a:solidFill>
            <a:srgbClr val="FFFFFF">
              <a:alpha val="100000"/>
            </a:srgbClr>
          </a:solidFill>
          <a:ln w="12700" cap="flat" cmpd="sng">
            <a:solidFill>
              <a:srgbClr val="E2E8F0">
                <a:alpha val="100000"/>
              </a:srgbClr>
            </a:solidFill>
            <a:prstDash val="solid"/>
            <a:round/>
          </a:ln>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477000" y="1841500"/>
            <a:ext cx="508000" cy="508000"/>
          </a:xfrm>
          <a:prstGeom prst="rect">
            <a:avLst/>
          </a:prstGeom>
        </p:spPr>
      </p:pic>
      <p:sp>
        <p:nvSpPr>
          <p:cNvPr id="13" name="AutoShape 13"/>
          <p:cNvSpPr/>
          <p:nvPr/>
        </p:nvSpPr>
        <p:spPr>
          <a:xfrm>
            <a:off x="7175500" y="1879600"/>
            <a:ext cx="4191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0B981"/>
                </a:solidFill>
                <a:latin typeface="Noto Sans SC" panose="020B0200000000000000" charset="-122"/>
                <a:ea typeface="Noto Sans SC" panose="020B0200000000000000" charset="-122"/>
                <a:cs typeface="Noto Sans SC" panose="020B0200000000000000" charset="-122"/>
                <a:sym typeface="Noto Sans SC" panose="020B0200000000000000" charset="-122"/>
              </a:rPr>
              <a:t>02 索引合并 (Coalesce)</a:t>
            </a:r>
            <a:endParaRPr lang="en-US" sz="1100"/>
          </a:p>
        </p:txBody>
      </p:sp>
      <p:sp>
        <p:nvSpPr>
          <p:cNvPr id="14" name="AutoShape 14"/>
          <p:cNvSpPr/>
          <p:nvPr/>
        </p:nvSpPr>
        <p:spPr>
          <a:xfrm>
            <a:off x="6477000" y="2476500"/>
            <a:ext cx="4953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rPr>
              <a:t>轻量级维护操作，合并叶子节点中的空闲空间，无需创建新索引段，CPU与I/O资源消耗极低，适合日常优化。</a:t>
            </a:r>
            <a:endParaRPr lang="en-US" sz="1100"/>
          </a:p>
        </p:txBody>
      </p:sp>
      <p:sp>
        <p:nvSpPr>
          <p:cNvPr id="15" name="AutoShape 15"/>
          <p:cNvSpPr/>
          <p:nvPr/>
        </p:nvSpPr>
        <p:spPr>
          <a:xfrm>
            <a:off x="6477000" y="3238500"/>
            <a:ext cx="4953000" cy="406400"/>
          </a:xfrm>
          <a:prstGeom prst="roundRect">
            <a:avLst>
              <a:gd name="adj" fmla="val 0"/>
            </a:avLst>
          </a:prstGeom>
          <a:solidFill>
            <a:srgbClr val="10B981">
              <a:alpha val="10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6540500" y="3302000"/>
            <a:ext cx="4826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064E3B"/>
                </a:solidFill>
                <a:latin typeface="Consolas" panose="020B0609020204030204"/>
                <a:ea typeface="Consolas" panose="020B0609020204030204"/>
                <a:cs typeface="Consolas" panose="020B0609020204030204"/>
                <a:sym typeface="Consolas" panose="020B0609020204030204"/>
              </a:rPr>
              <a:t>ALTER INDEX idx_name COALESCE;</a:t>
            </a:r>
            <a:endParaRPr lang="en-US" sz="1100"/>
          </a:p>
        </p:txBody>
      </p:sp>
      <p:sp>
        <p:nvSpPr>
          <p:cNvPr id="17" name="AutoShape 17"/>
          <p:cNvSpPr/>
          <p:nvPr/>
        </p:nvSpPr>
        <p:spPr>
          <a:xfrm>
            <a:off x="508000" y="4000500"/>
            <a:ext cx="5461000" cy="2222500"/>
          </a:xfrm>
          <a:prstGeom prst="roundRect">
            <a:avLst>
              <a:gd name="adj" fmla="val 0"/>
            </a:avLst>
          </a:prstGeom>
          <a:solidFill>
            <a:srgbClr val="FFFFFF">
              <a:alpha val="100000"/>
            </a:srgbClr>
          </a:solidFill>
          <a:ln w="12700" cap="flat" cmpd="sng">
            <a:solidFill>
              <a:srgbClr val="E2E8F0">
                <a:alpha val="100000"/>
              </a:srgbClr>
            </a:solidFill>
            <a:prstDash val="solid"/>
            <a:round/>
          </a:ln>
        </p:spPr>
        <p:txBody>
          <a:bodyPr vert="horz" wrap="square" lIns="63500" tIns="63500" rIns="63500" bIns="63500" rtlCol="0" anchor="ctr"/>
          <a:lstStyle/>
          <a:p>
            <a:pPr algn="ctr">
              <a:defRPr/>
            </a:pPr>
          </a:p>
        </p:txBody>
      </p:sp>
      <p:pic>
        <p:nvPicPr>
          <p:cNvPr id="18" name="Picture 18"/>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62000" y="4318000"/>
            <a:ext cx="508000" cy="508000"/>
          </a:xfrm>
          <a:prstGeom prst="rect">
            <a:avLst/>
          </a:prstGeom>
        </p:spPr>
      </p:pic>
      <p:sp>
        <p:nvSpPr>
          <p:cNvPr id="19" name="AutoShape 19"/>
          <p:cNvSpPr/>
          <p:nvPr/>
        </p:nvSpPr>
        <p:spPr>
          <a:xfrm>
            <a:off x="1460500" y="4356100"/>
            <a:ext cx="4191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59E0B"/>
                </a:solidFill>
                <a:latin typeface="Noto Sans SC" panose="020B0200000000000000" charset="-122"/>
                <a:ea typeface="Noto Sans SC" panose="020B0200000000000000" charset="-122"/>
                <a:cs typeface="Noto Sans SC" panose="020B0200000000000000" charset="-122"/>
                <a:sym typeface="Noto Sans SC" panose="020B0200000000000000" charset="-122"/>
              </a:rPr>
              <a:t>03 统计信息收集与更新</a:t>
            </a:r>
            <a:endParaRPr lang="en-US" sz="1100"/>
          </a:p>
        </p:txBody>
      </p:sp>
      <p:sp>
        <p:nvSpPr>
          <p:cNvPr id="20" name="AutoShape 20"/>
          <p:cNvSpPr/>
          <p:nvPr/>
        </p:nvSpPr>
        <p:spPr>
          <a:xfrm>
            <a:off x="762000" y="4953000"/>
            <a:ext cx="4953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rPr>
              <a:t>确保CBO优化器拥有最新的数据分布快照。定期收集可避免因统计过旧导致的执行计划偏差，是性能调优的基础。</a:t>
            </a:r>
            <a:endParaRPr lang="en-US" sz="1100"/>
          </a:p>
        </p:txBody>
      </p:sp>
      <p:sp>
        <p:nvSpPr>
          <p:cNvPr id="21" name="AutoShape 21"/>
          <p:cNvSpPr/>
          <p:nvPr/>
        </p:nvSpPr>
        <p:spPr>
          <a:xfrm>
            <a:off x="762000" y="5715000"/>
            <a:ext cx="4953000" cy="406400"/>
          </a:xfrm>
          <a:prstGeom prst="roundRect">
            <a:avLst>
              <a:gd name="adj" fmla="val 0"/>
            </a:avLst>
          </a:prstGeom>
          <a:solidFill>
            <a:srgbClr val="F59E0B">
              <a:alpha val="10000"/>
            </a:srgbClr>
          </a:solidFill>
          <a:ln w="25400" cap="flat" cmpd="sng">
            <a:noFill/>
            <a:prstDash val="solid"/>
            <a:round/>
          </a:ln>
        </p:spPr>
        <p:txBody>
          <a:bodyPr vert="horz" wrap="square" lIns="63500" tIns="63500" rIns="63500" bIns="63500" rtlCol="0" anchor="ctr"/>
          <a:lstStyle/>
          <a:p>
            <a:pPr algn="ctr">
              <a:defRPr/>
            </a:pPr>
          </a:p>
        </p:txBody>
      </p:sp>
      <p:sp>
        <p:nvSpPr>
          <p:cNvPr id="22" name="AutoShape 22"/>
          <p:cNvSpPr/>
          <p:nvPr/>
        </p:nvSpPr>
        <p:spPr>
          <a:xfrm>
            <a:off x="825500" y="5778500"/>
            <a:ext cx="4826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78350F"/>
                </a:solidFill>
                <a:latin typeface="Consolas" panose="020B0609020204030204"/>
                <a:ea typeface="Consolas" panose="020B0609020204030204"/>
                <a:cs typeface="Consolas" panose="020B0609020204030204"/>
                <a:sym typeface="Consolas" panose="020B0609020204030204"/>
              </a:rPr>
              <a:t>DBMS_STATS.GATHER_INDEX_STATS('SCHEMA','IDX_NAME');</a:t>
            </a:r>
            <a:endParaRPr lang="en-US" sz="1100"/>
          </a:p>
        </p:txBody>
      </p:sp>
      <p:sp>
        <p:nvSpPr>
          <p:cNvPr id="23" name="AutoShape 23"/>
          <p:cNvSpPr/>
          <p:nvPr/>
        </p:nvSpPr>
        <p:spPr>
          <a:xfrm>
            <a:off x="6223000" y="4000500"/>
            <a:ext cx="5461000" cy="2222500"/>
          </a:xfrm>
          <a:prstGeom prst="roundRect">
            <a:avLst>
              <a:gd name="adj" fmla="val 0"/>
            </a:avLst>
          </a:prstGeom>
          <a:solidFill>
            <a:srgbClr val="FFFFFF">
              <a:alpha val="100000"/>
            </a:srgbClr>
          </a:solidFill>
          <a:ln w="12700" cap="flat" cmpd="sng">
            <a:solidFill>
              <a:srgbClr val="E2E8F0">
                <a:alpha val="100000"/>
              </a:srgbClr>
            </a:solidFill>
            <a:prstDash val="solid"/>
            <a:round/>
          </a:ln>
        </p:spPr>
        <p:txBody>
          <a:bodyPr vert="horz" wrap="square" lIns="63500" tIns="63500" rIns="63500" bIns="63500" rtlCol="0" anchor="ctr"/>
          <a:lstStyle/>
          <a:p>
            <a:pPr algn="ctr">
              <a:defRPr/>
            </a:pPr>
          </a:p>
        </p:txBody>
      </p:sp>
      <p:pic>
        <p:nvPicPr>
          <p:cNvPr id="24" name="Picture 24"/>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77000" y="4318000"/>
            <a:ext cx="508000" cy="508000"/>
          </a:xfrm>
          <a:prstGeom prst="rect">
            <a:avLst/>
          </a:prstGeom>
        </p:spPr>
      </p:pic>
      <p:sp>
        <p:nvSpPr>
          <p:cNvPr id="25" name="AutoShape 25"/>
          <p:cNvSpPr/>
          <p:nvPr/>
        </p:nvSpPr>
        <p:spPr>
          <a:xfrm>
            <a:off x="7175500" y="4356100"/>
            <a:ext cx="4191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8B5CF6"/>
                </a:solidFill>
                <a:latin typeface="Noto Sans SC" panose="020B0200000000000000" charset="-122"/>
                <a:ea typeface="Noto Sans SC" panose="020B0200000000000000" charset="-122"/>
                <a:cs typeface="Noto Sans SC" panose="020B0200000000000000" charset="-122"/>
                <a:sym typeface="Noto Sans SC" panose="020B0200000000000000" charset="-122"/>
              </a:rPr>
              <a:t>04 碎片状态诊断与监控</a:t>
            </a:r>
            <a:endParaRPr lang="en-US" sz="1100"/>
          </a:p>
        </p:txBody>
      </p:sp>
      <p:sp>
        <p:nvSpPr>
          <p:cNvPr id="26" name="AutoShape 26"/>
          <p:cNvSpPr/>
          <p:nvPr/>
        </p:nvSpPr>
        <p:spPr>
          <a:xfrm>
            <a:off x="6477000" y="4953000"/>
            <a:ext cx="4953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通过分析数据字典视图，关注索引高度(Height)、空间使用率(PCT_USED)及已删除行占比，科学决策维护时机。</a:t>
            </a:r>
            <a:endParaRPr lang="en-US" sz="1100"/>
          </a:p>
        </p:txBody>
      </p:sp>
      <p:sp>
        <p:nvSpPr>
          <p:cNvPr id="27" name="AutoShape 27"/>
          <p:cNvSpPr/>
          <p:nvPr/>
        </p:nvSpPr>
        <p:spPr>
          <a:xfrm>
            <a:off x="6477000" y="5715000"/>
            <a:ext cx="4953000" cy="406400"/>
          </a:xfrm>
          <a:prstGeom prst="roundRect">
            <a:avLst>
              <a:gd name="adj" fmla="val 0"/>
            </a:avLst>
          </a:prstGeom>
          <a:solidFill>
            <a:srgbClr val="8B5CF6">
              <a:alpha val="10000"/>
            </a:srgbClr>
          </a:solidFill>
          <a:ln w="25400" cap="flat" cmpd="sng">
            <a:noFill/>
            <a:prstDash val="solid"/>
            <a:round/>
          </a:ln>
        </p:spPr>
        <p:txBody>
          <a:bodyPr vert="horz" wrap="square" lIns="63500" tIns="63500" rIns="63500" bIns="63500" rtlCol="0" anchor="ctr"/>
          <a:lstStyle/>
          <a:p>
            <a:pPr algn="ctr">
              <a:defRPr/>
            </a:pPr>
          </a:p>
        </p:txBody>
      </p:sp>
      <p:sp>
        <p:nvSpPr>
          <p:cNvPr id="28" name="AutoShape 28"/>
          <p:cNvSpPr/>
          <p:nvPr/>
        </p:nvSpPr>
        <p:spPr>
          <a:xfrm>
            <a:off x="6540500" y="5778500"/>
            <a:ext cx="4826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4C1D95"/>
                </a:solidFill>
                <a:latin typeface="Consolas" panose="020B0609020204030204"/>
                <a:ea typeface="Consolas" panose="020B0609020204030204"/>
                <a:cs typeface="Consolas" panose="020B0609020204030204"/>
                <a:sym typeface="Consolas" panose="020B0609020204030204"/>
              </a:rPr>
              <a:t>SELECT height, pct_used, del_lf_rows FROM INDEX_STATS;</a:t>
            </a:r>
            <a:endParaRPr lang="en-US" sz="11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3F4F6">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9525000" y="-1270000"/>
            <a:ext cx="3810000" cy="3810000"/>
          </a:xfrm>
          <a:prstGeom prst="ellipse">
            <a:avLst/>
          </a:prstGeom>
          <a:solidFill>
            <a:srgbClr val="15803D">
              <a:alpha val="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1016000" y="4826000"/>
            <a:ext cx="2540000" cy="2540000"/>
          </a:xfrm>
          <a:prstGeom prst="ellipse">
            <a:avLst/>
          </a:prstGeom>
          <a:solidFill>
            <a:srgbClr val="15803D">
              <a:alpha val="5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0" y="1524000"/>
            <a:ext cx="12192000" cy="2540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0000" b="1" i="0" u="none" strike="noStrike">
                <a:solidFill>
                  <a:srgbClr val="15803D">
                    <a:alpha val="12157"/>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05</a:t>
            </a:r>
            <a:endParaRPr lang="en-US" sz="1100"/>
          </a:p>
        </p:txBody>
      </p:sp>
      <p:sp>
        <p:nvSpPr>
          <p:cNvPr id="5" name="AutoShape 5"/>
          <p:cNvSpPr/>
          <p:nvPr/>
        </p:nvSpPr>
        <p:spPr>
          <a:xfrm>
            <a:off x="0" y="4318000"/>
            <a:ext cx="12192000" cy="889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36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常见误区与最佳实践</a:t>
            </a:r>
            <a:endParaRPr lang="en-US" sz="1100"/>
          </a:p>
        </p:txBody>
      </p:sp>
      <p:sp>
        <p:nvSpPr>
          <p:cNvPr id="6" name="AutoShape 6"/>
          <p:cNvSpPr/>
          <p:nvPr/>
        </p:nvSpPr>
        <p:spPr>
          <a:xfrm>
            <a:off x="5588000" y="5397500"/>
            <a:ext cx="1016000" cy="50800"/>
          </a:xfrm>
          <a:prstGeom prst="roundRect">
            <a:avLst>
              <a:gd name="adj" fmla="val 0"/>
            </a:avLst>
          </a:prstGeom>
          <a:solidFill>
            <a:srgbClr val="15803D">
              <a:alpha val="100000"/>
            </a:srgbClr>
          </a:solidFill>
          <a:ln w="25400" cap="flat" cmpd="sng">
            <a:noFill/>
            <a:prstDash val="solid"/>
            <a:round/>
          </a:ln>
        </p:spPr>
        <p:txBody>
          <a:bodyPr vert="horz" wrap="square" lIns="63500" tIns="63500" rIns="63500" bIns="63500" rtlCol="0" anchor="ctr"/>
          <a:lstStyle/>
          <a:p>
            <a:pPr algn="ctr">
              <a:defRPr/>
            </a:p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8F9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9525000" y="-1270000"/>
            <a:ext cx="3810000" cy="3810000"/>
          </a:xfrm>
          <a:prstGeom prst="ellipse">
            <a:avLst/>
          </a:prstGeom>
          <a:solidFill>
            <a:srgbClr val="2B6CB0">
              <a:alpha val="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1016000" y="5080000"/>
            <a:ext cx="2540000" cy="2540000"/>
          </a:xfrm>
          <a:prstGeom prst="ellipse">
            <a:avLst/>
          </a:prstGeom>
          <a:solidFill>
            <a:srgbClr val="4299E1">
              <a:alpha val="5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508000" y="508000"/>
            <a:ext cx="11176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索引设计的常见误区</a:t>
            </a:r>
            <a:endParaRPr lang="en-US" sz="1100"/>
          </a:p>
        </p:txBody>
      </p:sp>
      <p:sp>
        <p:nvSpPr>
          <p:cNvPr id="5" name="AutoShape 5"/>
          <p:cNvSpPr/>
          <p:nvPr/>
        </p:nvSpPr>
        <p:spPr>
          <a:xfrm>
            <a:off x="508000" y="1524000"/>
            <a:ext cx="3556000" cy="2095500"/>
          </a:xfrm>
          <a:prstGeom prst="roundRect">
            <a:avLst>
              <a:gd name="adj" fmla="val 0"/>
            </a:avLst>
          </a:prstGeom>
          <a:solidFill>
            <a:srgbClr val="FFFFFF">
              <a:alpha val="100000"/>
            </a:srgbClr>
          </a:solidFill>
          <a:ln w="12700" cap="flat" cmpd="sng">
            <a:solidFill>
              <a:srgbClr val="E2E8F0">
                <a:alpha val="100000"/>
              </a:srgbClr>
            </a:solidFill>
            <a:prstDash val="solid"/>
            <a:round/>
          </a:ln>
        </p:spPr>
        <p:txBody>
          <a:bodyPr vert="horz" wrap="square" lIns="63500" tIns="63500" rIns="63500" bIns="63500" rtlCol="0" anchor="ctr"/>
          <a:lstStyle/>
          <a:p>
            <a:pPr algn="ctr">
              <a:defRPr/>
            </a:pPr>
          </a:p>
        </p:txBody>
      </p:sp>
      <p:sp>
        <p:nvSpPr>
          <p:cNvPr id="6" name="AutoShape 6"/>
          <p:cNvSpPr/>
          <p:nvPr/>
        </p:nvSpPr>
        <p:spPr>
          <a:xfrm>
            <a:off x="698500" y="1714500"/>
            <a:ext cx="635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4299E1"/>
                </a:solidFill>
                <a:latin typeface="Noto Sans SC" panose="020B0200000000000000" charset="-122"/>
                <a:ea typeface="Noto Sans SC" panose="020B0200000000000000" charset="-122"/>
                <a:cs typeface="Noto Sans SC" panose="020B0200000000000000" charset="-122"/>
                <a:sym typeface="Noto Sans SC" panose="020B0200000000000000" charset="-122"/>
              </a:rPr>
              <a:t>01</a:t>
            </a:r>
            <a:endParaRPr lang="en-US" sz="1100"/>
          </a:p>
        </p:txBody>
      </p:sp>
      <p:sp>
        <p:nvSpPr>
          <p:cNvPr id="7" name="AutoShape 7"/>
          <p:cNvSpPr/>
          <p:nvPr/>
        </p:nvSpPr>
        <p:spPr>
          <a:xfrm>
            <a:off x="1333500" y="1752600"/>
            <a:ext cx="254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索引越多越好？</a:t>
            </a:r>
            <a:endParaRPr lang="en-US" sz="1100"/>
          </a:p>
        </p:txBody>
      </p:sp>
      <p:cxnSp>
        <p:nvCxnSpPr>
          <p:cNvPr id="8" name="Connector 8"/>
          <p:cNvCxnSpPr/>
          <p:nvPr/>
        </p:nvCxnSpPr>
        <p:spPr>
          <a:xfrm rot="-13750">
            <a:off x="698513" y="2279650"/>
            <a:ext cx="3175000" cy="12700"/>
          </a:xfrm>
          <a:prstGeom prst="line">
            <a:avLst/>
          </a:prstGeom>
          <a:solidFill>
            <a:srgbClr val="DEE0E3">
              <a:alpha val="100000"/>
            </a:srgbClr>
          </a:solidFill>
          <a:ln w="12700" cap="flat" cmpd="sng">
            <a:solidFill>
              <a:srgbClr val="EDF2F7">
                <a:alpha val="100000"/>
              </a:srgbClr>
            </a:solidFill>
            <a:prstDash val="solid"/>
            <a:round/>
            <a:headEnd type="none" w="med" len="med"/>
            <a:tailEnd type="none" w="med" len="med"/>
          </a:ln>
        </p:spPr>
      </p:cxnSp>
      <p:sp>
        <p:nvSpPr>
          <p:cNvPr id="9" name="AutoShape 9"/>
          <p:cNvSpPr/>
          <p:nvPr/>
        </p:nvSpPr>
        <p:spPr>
          <a:xfrm>
            <a:off x="698500" y="2413000"/>
            <a:ext cx="3175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200" b="0" i="0" u="none" strike="noStrike">
                <a:solidFill>
                  <a:srgbClr val="718096"/>
                </a:solidFill>
                <a:latin typeface="Noto Sans SC" panose="020B0200000000000000" charset="-122"/>
                <a:ea typeface="Noto Sans SC" panose="020B0200000000000000" charset="-122"/>
                <a:cs typeface="Noto Sans SC" panose="020B0200000000000000" charset="-122"/>
                <a:sym typeface="Noto Sans SC" panose="020B0200000000000000" charset="-122"/>
              </a:rPr>
              <a:t>误区：认为索引能解决所有性能问题，越多越安全，写入开销可忽略不计。</a:t>
            </a:r>
            <a:endParaRPr lang="en-US" sz="1100"/>
          </a:p>
        </p:txBody>
      </p:sp>
      <p:sp>
        <p:nvSpPr>
          <p:cNvPr id="10" name="AutoShape 10"/>
          <p:cNvSpPr/>
          <p:nvPr/>
        </p:nvSpPr>
        <p:spPr>
          <a:xfrm>
            <a:off x="698500" y="2984500"/>
            <a:ext cx="3175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200" b="1" i="0" u="none" strike="noStrike">
                <a:solidFill>
                  <a:srgbClr val="2B6CB0"/>
                </a:solidFill>
                <a:latin typeface="Noto Sans SC" panose="020B0200000000000000" charset="-122"/>
                <a:ea typeface="Noto Sans SC" panose="020B0200000000000000" charset="-122"/>
                <a:cs typeface="Noto Sans SC" panose="020B0200000000000000" charset="-122"/>
                <a:sym typeface="Noto Sans SC" panose="020B0200000000000000" charset="-122"/>
              </a:rPr>
              <a:t>真相：写入操作会因索引增加IO开销，过多索引反而拖慢写入性能，需按需创建。</a:t>
            </a:r>
            <a:endParaRPr lang="en-US" sz="1100"/>
          </a:p>
        </p:txBody>
      </p:sp>
      <p:sp>
        <p:nvSpPr>
          <p:cNvPr id="11" name="AutoShape 11"/>
          <p:cNvSpPr/>
          <p:nvPr/>
        </p:nvSpPr>
        <p:spPr>
          <a:xfrm>
            <a:off x="4318000" y="1524000"/>
            <a:ext cx="3556000" cy="2095500"/>
          </a:xfrm>
          <a:prstGeom prst="roundRect">
            <a:avLst>
              <a:gd name="adj" fmla="val 0"/>
            </a:avLst>
          </a:prstGeom>
          <a:solidFill>
            <a:srgbClr val="FFFFFF">
              <a:alpha val="100000"/>
            </a:srgbClr>
          </a:solidFill>
          <a:ln w="12700" cap="flat" cmpd="sng">
            <a:solidFill>
              <a:srgbClr val="E2E8F0">
                <a:alpha val="100000"/>
              </a:srgbClr>
            </a:solidFill>
            <a:prstDash val="solid"/>
            <a:round/>
          </a:ln>
        </p:spPr>
        <p:txBody>
          <a:bodyPr vert="horz" wrap="square" lIns="63500" tIns="63500" rIns="63500" bIns="63500" rtlCol="0" anchor="ctr"/>
          <a:lstStyle/>
          <a:p>
            <a:pPr algn="ctr">
              <a:defRPr/>
            </a:pPr>
          </a:p>
        </p:txBody>
      </p:sp>
      <p:sp>
        <p:nvSpPr>
          <p:cNvPr id="12" name="AutoShape 12"/>
          <p:cNvSpPr/>
          <p:nvPr/>
        </p:nvSpPr>
        <p:spPr>
          <a:xfrm>
            <a:off x="4508500" y="1714500"/>
            <a:ext cx="635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4299E1"/>
                </a:solidFill>
                <a:latin typeface="Noto Sans SC" panose="020B0200000000000000" charset="-122"/>
                <a:ea typeface="Noto Sans SC" panose="020B0200000000000000" charset="-122"/>
                <a:cs typeface="Noto Sans SC" panose="020B0200000000000000" charset="-122"/>
                <a:sym typeface="Noto Sans SC" panose="020B0200000000000000" charset="-122"/>
              </a:rPr>
              <a:t>02</a:t>
            </a:r>
            <a:endParaRPr lang="en-US" sz="1100"/>
          </a:p>
        </p:txBody>
      </p:sp>
      <p:sp>
        <p:nvSpPr>
          <p:cNvPr id="13" name="AutoShape 13"/>
          <p:cNvSpPr/>
          <p:nvPr/>
        </p:nvSpPr>
        <p:spPr>
          <a:xfrm>
            <a:off x="5143500" y="1752600"/>
            <a:ext cx="254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索引优于全表扫描？</a:t>
            </a:r>
            <a:endParaRPr lang="en-US" sz="1100"/>
          </a:p>
        </p:txBody>
      </p:sp>
      <p:cxnSp>
        <p:nvCxnSpPr>
          <p:cNvPr id="14" name="Connector 14"/>
          <p:cNvCxnSpPr/>
          <p:nvPr/>
        </p:nvCxnSpPr>
        <p:spPr>
          <a:xfrm rot="-13750">
            <a:off x="4508513" y="2279650"/>
            <a:ext cx="3175000" cy="12700"/>
          </a:xfrm>
          <a:prstGeom prst="line">
            <a:avLst/>
          </a:prstGeom>
          <a:solidFill>
            <a:srgbClr val="DEE0E3">
              <a:alpha val="100000"/>
            </a:srgbClr>
          </a:solidFill>
          <a:ln w="12700" cap="flat" cmpd="sng">
            <a:solidFill>
              <a:srgbClr val="EDF2F7">
                <a:alpha val="100000"/>
              </a:srgbClr>
            </a:solidFill>
            <a:prstDash val="solid"/>
            <a:round/>
            <a:headEnd type="none" w="med" len="med"/>
            <a:tailEnd type="none" w="med" len="med"/>
          </a:ln>
        </p:spPr>
      </p:cxnSp>
      <p:sp>
        <p:nvSpPr>
          <p:cNvPr id="15" name="AutoShape 15"/>
          <p:cNvSpPr/>
          <p:nvPr/>
        </p:nvSpPr>
        <p:spPr>
          <a:xfrm>
            <a:off x="4508500" y="2413000"/>
            <a:ext cx="3175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200" b="0" i="0" u="none" strike="noStrike">
                <a:solidFill>
                  <a:srgbClr val="718096"/>
                </a:solidFill>
                <a:latin typeface="Noto Sans SC" panose="020B0200000000000000" charset="-122"/>
                <a:ea typeface="Noto Sans SC" panose="020B0200000000000000" charset="-122"/>
                <a:cs typeface="Noto Sans SC" panose="020B0200000000000000" charset="-122"/>
                <a:sym typeface="Noto Sans SC" panose="020B0200000000000000" charset="-122"/>
              </a:rPr>
              <a:t>误区：迷信索引，认为任何查询走索引都是最优解，忽略数据量级的影响。</a:t>
            </a:r>
            <a:endParaRPr lang="en-US" sz="1100"/>
          </a:p>
        </p:txBody>
      </p:sp>
      <p:sp>
        <p:nvSpPr>
          <p:cNvPr id="16" name="AutoShape 16"/>
          <p:cNvSpPr/>
          <p:nvPr/>
        </p:nvSpPr>
        <p:spPr>
          <a:xfrm>
            <a:off x="4508500" y="2984500"/>
            <a:ext cx="3175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200" b="1" i="0" u="none" strike="noStrike">
                <a:solidFill>
                  <a:srgbClr val="2B6CB0"/>
                </a:solidFill>
                <a:latin typeface="Noto Sans SC" panose="020B0200000000000000" charset="-122"/>
                <a:ea typeface="Noto Sans SC" panose="020B0200000000000000" charset="-122"/>
                <a:cs typeface="Noto Sans SC" panose="020B0200000000000000" charset="-122"/>
                <a:sym typeface="Noto Sans SC" panose="020B0200000000000000" charset="-122"/>
              </a:rPr>
              <a:t>真相：当返回量超表数据的20%-30%时，全表扫描的顺序IO效率更高。</a:t>
            </a:r>
            <a:endParaRPr lang="en-US" sz="1100"/>
          </a:p>
        </p:txBody>
      </p:sp>
      <p:sp>
        <p:nvSpPr>
          <p:cNvPr id="17" name="AutoShape 17"/>
          <p:cNvSpPr/>
          <p:nvPr/>
        </p:nvSpPr>
        <p:spPr>
          <a:xfrm>
            <a:off x="8128000" y="1524000"/>
            <a:ext cx="3556000" cy="2095500"/>
          </a:xfrm>
          <a:prstGeom prst="roundRect">
            <a:avLst>
              <a:gd name="adj" fmla="val 0"/>
            </a:avLst>
          </a:prstGeom>
          <a:solidFill>
            <a:srgbClr val="FFFFFF">
              <a:alpha val="100000"/>
            </a:srgbClr>
          </a:solidFill>
          <a:ln w="12700" cap="flat" cmpd="sng">
            <a:solidFill>
              <a:srgbClr val="E2E8F0">
                <a:alpha val="100000"/>
              </a:srgbClr>
            </a:solidFill>
            <a:prstDash val="solid"/>
            <a:round/>
          </a:ln>
        </p:spPr>
        <p:txBody>
          <a:bodyPr vert="horz" wrap="square" lIns="63500" tIns="63500" rIns="63500" bIns="63500" rtlCol="0" anchor="ctr"/>
          <a:lstStyle/>
          <a:p>
            <a:pPr algn="ctr">
              <a:defRPr/>
            </a:pPr>
          </a:p>
        </p:txBody>
      </p:sp>
      <p:sp>
        <p:nvSpPr>
          <p:cNvPr id="18" name="AutoShape 18"/>
          <p:cNvSpPr/>
          <p:nvPr/>
        </p:nvSpPr>
        <p:spPr>
          <a:xfrm>
            <a:off x="8318500" y="1714500"/>
            <a:ext cx="635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4299E1"/>
                </a:solidFill>
                <a:latin typeface="Noto Sans SC" panose="020B0200000000000000" charset="-122"/>
                <a:ea typeface="Noto Sans SC" panose="020B0200000000000000" charset="-122"/>
                <a:cs typeface="Noto Sans SC" panose="020B0200000000000000" charset="-122"/>
                <a:sym typeface="Noto Sans SC" panose="020B0200000000000000" charset="-122"/>
              </a:rPr>
              <a:t>03</a:t>
            </a:r>
            <a:endParaRPr lang="en-US" sz="1100"/>
          </a:p>
        </p:txBody>
      </p:sp>
      <p:sp>
        <p:nvSpPr>
          <p:cNvPr id="19" name="AutoShape 19"/>
          <p:cNvSpPr/>
          <p:nvPr/>
        </p:nvSpPr>
        <p:spPr>
          <a:xfrm>
            <a:off x="8953500" y="1752600"/>
            <a:ext cx="254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所有列都要建索引？</a:t>
            </a:r>
            <a:endParaRPr lang="en-US" sz="1100"/>
          </a:p>
        </p:txBody>
      </p:sp>
      <p:cxnSp>
        <p:nvCxnSpPr>
          <p:cNvPr id="20" name="Connector 20"/>
          <p:cNvCxnSpPr/>
          <p:nvPr/>
        </p:nvCxnSpPr>
        <p:spPr>
          <a:xfrm rot="-13750">
            <a:off x="8318513" y="2279650"/>
            <a:ext cx="3175000" cy="12700"/>
          </a:xfrm>
          <a:prstGeom prst="line">
            <a:avLst/>
          </a:prstGeom>
          <a:solidFill>
            <a:srgbClr val="DEE0E3">
              <a:alpha val="100000"/>
            </a:srgbClr>
          </a:solidFill>
          <a:ln w="12700" cap="flat" cmpd="sng">
            <a:solidFill>
              <a:srgbClr val="EDF2F7">
                <a:alpha val="100000"/>
              </a:srgbClr>
            </a:solidFill>
            <a:prstDash val="solid"/>
            <a:round/>
            <a:headEnd type="none" w="med" len="med"/>
            <a:tailEnd type="none" w="med" len="med"/>
          </a:ln>
        </p:spPr>
      </p:cxnSp>
      <p:sp>
        <p:nvSpPr>
          <p:cNvPr id="21" name="AutoShape 21"/>
          <p:cNvSpPr/>
          <p:nvPr/>
        </p:nvSpPr>
        <p:spPr>
          <a:xfrm>
            <a:off x="8318500" y="2413000"/>
            <a:ext cx="3175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200" b="0" i="0" u="none" strike="noStrike">
                <a:solidFill>
                  <a:srgbClr val="718096"/>
                </a:solidFill>
                <a:latin typeface="Noto Sans SC" panose="020B0200000000000000" charset="-122"/>
                <a:ea typeface="Noto Sans SC" panose="020B0200000000000000" charset="-122"/>
                <a:cs typeface="Noto Sans SC" panose="020B0200000000000000" charset="-122"/>
                <a:sym typeface="Noto Sans SC" panose="020B0200000000000000" charset="-122"/>
              </a:rPr>
              <a:t>误区：为表中每一列都单独创建索引，以防万一，不考虑列的实际用途。</a:t>
            </a:r>
            <a:endParaRPr lang="en-US" sz="1100"/>
          </a:p>
        </p:txBody>
      </p:sp>
      <p:sp>
        <p:nvSpPr>
          <p:cNvPr id="22" name="AutoShape 22"/>
          <p:cNvSpPr/>
          <p:nvPr/>
        </p:nvSpPr>
        <p:spPr>
          <a:xfrm>
            <a:off x="8318500" y="2984500"/>
            <a:ext cx="3175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200" b="1" i="0" u="none" strike="noStrike">
                <a:solidFill>
                  <a:srgbClr val="2B6CB0"/>
                </a:solidFill>
                <a:latin typeface="Noto Sans SC" panose="020B0200000000000000" charset="-122"/>
                <a:ea typeface="Noto Sans SC" panose="020B0200000000000000" charset="-122"/>
                <a:cs typeface="Noto Sans SC" panose="020B0200000000000000" charset="-122"/>
                <a:sym typeface="Noto Sans SC" panose="020B0200000000000000" charset="-122"/>
              </a:rPr>
              <a:t>真相：低选择性列（如性别）的索引过滤性差，优化器会忽略且浪费资源。</a:t>
            </a:r>
            <a:endParaRPr lang="en-US" sz="1100"/>
          </a:p>
        </p:txBody>
      </p:sp>
      <p:sp>
        <p:nvSpPr>
          <p:cNvPr id="23" name="AutoShape 23"/>
          <p:cNvSpPr/>
          <p:nvPr/>
        </p:nvSpPr>
        <p:spPr>
          <a:xfrm>
            <a:off x="508000" y="3937000"/>
            <a:ext cx="5461000" cy="2286000"/>
          </a:xfrm>
          <a:prstGeom prst="roundRect">
            <a:avLst>
              <a:gd name="adj" fmla="val 0"/>
            </a:avLst>
          </a:prstGeom>
          <a:solidFill>
            <a:srgbClr val="FFFFFF">
              <a:alpha val="100000"/>
            </a:srgbClr>
          </a:solidFill>
          <a:ln w="12700" cap="flat" cmpd="sng">
            <a:solidFill>
              <a:srgbClr val="E2E8F0">
                <a:alpha val="100000"/>
              </a:srgbClr>
            </a:solidFill>
            <a:prstDash val="solid"/>
            <a:round/>
          </a:ln>
        </p:spPr>
        <p:txBody>
          <a:bodyPr vert="horz" wrap="square" lIns="63500" tIns="63500" rIns="63500" bIns="63500" rtlCol="0" anchor="ctr"/>
          <a:lstStyle/>
          <a:p>
            <a:pPr algn="ctr">
              <a:defRPr/>
            </a:pPr>
          </a:p>
        </p:txBody>
      </p:sp>
      <p:sp>
        <p:nvSpPr>
          <p:cNvPr id="24" name="AutoShape 24"/>
          <p:cNvSpPr/>
          <p:nvPr/>
        </p:nvSpPr>
        <p:spPr>
          <a:xfrm>
            <a:off x="698500" y="4127500"/>
            <a:ext cx="635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4299E1"/>
                </a:solidFill>
                <a:latin typeface="Noto Sans SC" panose="020B0200000000000000" charset="-122"/>
                <a:ea typeface="Noto Sans SC" panose="020B0200000000000000" charset="-122"/>
                <a:cs typeface="Noto Sans SC" panose="020B0200000000000000" charset="-122"/>
                <a:sym typeface="Noto Sans SC" panose="020B0200000000000000" charset="-122"/>
              </a:rPr>
              <a:t>04</a:t>
            </a:r>
            <a:endParaRPr lang="en-US" sz="1100"/>
          </a:p>
        </p:txBody>
      </p:sp>
      <p:sp>
        <p:nvSpPr>
          <p:cNvPr id="25" name="AutoShape 25"/>
          <p:cNvSpPr/>
          <p:nvPr/>
        </p:nvSpPr>
        <p:spPr>
          <a:xfrm>
            <a:off x="1333500" y="4165600"/>
            <a:ext cx="431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索引永远不会失效？</a:t>
            </a:r>
            <a:endParaRPr lang="en-US" sz="1100"/>
          </a:p>
        </p:txBody>
      </p:sp>
      <p:cxnSp>
        <p:nvCxnSpPr>
          <p:cNvPr id="26" name="Connector 26"/>
          <p:cNvCxnSpPr/>
          <p:nvPr/>
        </p:nvCxnSpPr>
        <p:spPr>
          <a:xfrm rot="-8594">
            <a:off x="698508" y="4692650"/>
            <a:ext cx="5080000" cy="12700"/>
          </a:xfrm>
          <a:prstGeom prst="line">
            <a:avLst/>
          </a:prstGeom>
          <a:solidFill>
            <a:srgbClr val="DEE0E3">
              <a:alpha val="100000"/>
            </a:srgbClr>
          </a:solidFill>
          <a:ln w="12700" cap="flat" cmpd="sng">
            <a:solidFill>
              <a:srgbClr val="EDF2F7">
                <a:alpha val="100000"/>
              </a:srgbClr>
            </a:solidFill>
            <a:prstDash val="solid"/>
            <a:round/>
            <a:headEnd type="none" w="med" len="med"/>
            <a:tailEnd type="none" w="med" len="med"/>
          </a:ln>
        </p:spPr>
      </p:cxnSp>
      <p:sp>
        <p:nvSpPr>
          <p:cNvPr id="27" name="AutoShape 27"/>
          <p:cNvSpPr/>
          <p:nvPr/>
        </p:nvSpPr>
        <p:spPr>
          <a:xfrm>
            <a:off x="698500" y="4826000"/>
            <a:ext cx="50165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200" b="0" i="0" u="none" strike="noStrike">
                <a:solidFill>
                  <a:srgbClr val="718096"/>
                </a:solidFill>
                <a:latin typeface="Noto Sans SC" panose="020B0200000000000000" charset="-122"/>
                <a:ea typeface="Noto Sans SC" panose="020B0200000000000000" charset="-122"/>
                <a:cs typeface="Noto Sans SC" panose="020B0200000000000000" charset="-122"/>
                <a:sym typeface="Noto Sans SC" panose="020B0200000000000000" charset="-122"/>
              </a:rPr>
              <a:t>误区：认为创建索引后就一劳永逸，随意编写SQL也能保证走索引查询。</a:t>
            </a:r>
            <a:endParaRPr lang="en-US" sz="1100"/>
          </a:p>
        </p:txBody>
      </p:sp>
      <p:sp>
        <p:nvSpPr>
          <p:cNvPr id="28" name="AutoShape 28"/>
          <p:cNvSpPr/>
          <p:nvPr/>
        </p:nvSpPr>
        <p:spPr>
          <a:xfrm>
            <a:off x="698500" y="5397500"/>
            <a:ext cx="50165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200" b="1" i="0" u="none" strike="noStrike">
                <a:solidFill>
                  <a:srgbClr val="2B6CB0"/>
                </a:solidFill>
                <a:latin typeface="Noto Sans SC" panose="020B0200000000000000" charset="-122"/>
                <a:ea typeface="Noto Sans SC" panose="020B0200000000000000" charset="-122"/>
                <a:cs typeface="Noto Sans SC" panose="020B0200000000000000" charset="-122"/>
                <a:sym typeface="Noto Sans SC" panose="020B0200000000000000" charset="-122"/>
              </a:rPr>
              <a:t>真相：使用SELECT *、前模糊查询(like '%x')、字段类型隐式转换或在索引列上使用函数，都会导致索引失效，需关注执行计划。</a:t>
            </a:r>
            <a:endParaRPr lang="en-US" sz="1100"/>
          </a:p>
        </p:txBody>
      </p:sp>
      <p:sp>
        <p:nvSpPr>
          <p:cNvPr id="29" name="AutoShape 29"/>
          <p:cNvSpPr/>
          <p:nvPr/>
        </p:nvSpPr>
        <p:spPr>
          <a:xfrm>
            <a:off x="6223000" y="3937000"/>
            <a:ext cx="5461000" cy="2286000"/>
          </a:xfrm>
          <a:prstGeom prst="roundRect">
            <a:avLst>
              <a:gd name="adj" fmla="val 0"/>
            </a:avLst>
          </a:prstGeom>
          <a:solidFill>
            <a:srgbClr val="FFFFFF">
              <a:alpha val="100000"/>
            </a:srgbClr>
          </a:solidFill>
          <a:ln w="12700" cap="flat" cmpd="sng">
            <a:solidFill>
              <a:srgbClr val="E2E8F0">
                <a:alpha val="100000"/>
              </a:srgbClr>
            </a:solidFill>
            <a:prstDash val="solid"/>
            <a:round/>
          </a:ln>
        </p:spPr>
        <p:txBody>
          <a:bodyPr vert="horz" wrap="square" lIns="63500" tIns="63500" rIns="63500" bIns="63500" rtlCol="0" anchor="ctr"/>
          <a:lstStyle/>
          <a:p>
            <a:pPr algn="ctr">
              <a:defRPr/>
            </a:pPr>
          </a:p>
        </p:txBody>
      </p:sp>
      <p:sp>
        <p:nvSpPr>
          <p:cNvPr id="30" name="AutoShape 30"/>
          <p:cNvSpPr/>
          <p:nvPr/>
        </p:nvSpPr>
        <p:spPr>
          <a:xfrm>
            <a:off x="6413500" y="4127500"/>
            <a:ext cx="635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4299E1"/>
                </a:solidFill>
                <a:latin typeface="Noto Sans SC" panose="020B0200000000000000" charset="-122"/>
                <a:ea typeface="Noto Sans SC" panose="020B0200000000000000" charset="-122"/>
                <a:cs typeface="Noto Sans SC" panose="020B0200000000000000" charset="-122"/>
                <a:sym typeface="Noto Sans SC" panose="020B0200000000000000" charset="-122"/>
              </a:rPr>
              <a:t>05</a:t>
            </a:r>
            <a:endParaRPr lang="en-US" sz="1100"/>
          </a:p>
        </p:txBody>
      </p:sp>
      <p:sp>
        <p:nvSpPr>
          <p:cNvPr id="31" name="AutoShape 31"/>
          <p:cNvSpPr/>
          <p:nvPr/>
        </p:nvSpPr>
        <p:spPr>
          <a:xfrm>
            <a:off x="7048500" y="4165600"/>
            <a:ext cx="431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重建索引百利而无一害？</a:t>
            </a:r>
            <a:endParaRPr lang="en-US" sz="1100"/>
          </a:p>
        </p:txBody>
      </p:sp>
      <p:cxnSp>
        <p:nvCxnSpPr>
          <p:cNvPr id="32" name="Connector 32"/>
          <p:cNvCxnSpPr/>
          <p:nvPr/>
        </p:nvCxnSpPr>
        <p:spPr>
          <a:xfrm rot="-8594">
            <a:off x="6413508" y="4692650"/>
            <a:ext cx="5080000" cy="12700"/>
          </a:xfrm>
          <a:prstGeom prst="line">
            <a:avLst/>
          </a:prstGeom>
          <a:solidFill>
            <a:srgbClr val="DEE0E3">
              <a:alpha val="100000"/>
            </a:srgbClr>
          </a:solidFill>
          <a:ln w="12700" cap="flat" cmpd="sng">
            <a:solidFill>
              <a:srgbClr val="EDF2F7">
                <a:alpha val="100000"/>
              </a:srgbClr>
            </a:solidFill>
            <a:prstDash val="solid"/>
            <a:round/>
            <a:headEnd type="none" w="med" len="med"/>
            <a:tailEnd type="none" w="med" len="med"/>
          </a:ln>
        </p:spPr>
      </p:cxnSp>
      <p:sp>
        <p:nvSpPr>
          <p:cNvPr id="33" name="AutoShape 33"/>
          <p:cNvSpPr/>
          <p:nvPr/>
        </p:nvSpPr>
        <p:spPr>
          <a:xfrm>
            <a:off x="6413500" y="4826000"/>
            <a:ext cx="50165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200" b="0" i="0" u="none" strike="noStrike">
                <a:solidFill>
                  <a:srgbClr val="718096"/>
                </a:solidFill>
                <a:latin typeface="Noto Sans SC" panose="020B0200000000000000" charset="-122"/>
                <a:ea typeface="Noto Sans SC" panose="020B0200000000000000" charset="-122"/>
                <a:cs typeface="Noto Sans SC" panose="020B0200000000000000" charset="-122"/>
                <a:sym typeface="Noto Sans SC" panose="020B0200000000000000" charset="-122"/>
              </a:rPr>
              <a:t>误区：认为定期重建索引是维护的万能良药，操作越频繁数据库越健康。</a:t>
            </a:r>
            <a:endParaRPr lang="en-US" sz="1100"/>
          </a:p>
        </p:txBody>
      </p:sp>
      <p:sp>
        <p:nvSpPr>
          <p:cNvPr id="34" name="AutoShape 34"/>
          <p:cNvSpPr/>
          <p:nvPr/>
        </p:nvSpPr>
        <p:spPr>
          <a:xfrm>
            <a:off x="6413500" y="5397500"/>
            <a:ext cx="50165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200" b="1" i="0" u="none" strike="noStrike">
                <a:solidFill>
                  <a:srgbClr val="2B6CB0"/>
                </a:solidFill>
                <a:latin typeface="Noto Sans SC" panose="020B0200000000000000" charset="-122"/>
                <a:ea typeface="Noto Sans SC" panose="020B0200000000000000" charset="-122"/>
                <a:cs typeface="Noto Sans SC" panose="020B0200000000000000" charset="-122"/>
                <a:sym typeface="Noto Sans SC" panose="020B0200000000000000" charset="-122"/>
              </a:rPr>
              <a:t>真相：仅碎片率过高或统计信息过时才需重建。频繁重建会锁表影响业务，且低碎片下重建收益极低，甚至会产生额外开销。</a:t>
            </a:r>
            <a:endParaRPr lang="en-US" sz="11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8F9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635000" y="-635000"/>
            <a:ext cx="2540000" cy="2540000"/>
          </a:xfrm>
          <a:prstGeom prst="ellipse">
            <a:avLst/>
          </a:prstGeom>
          <a:solidFill>
            <a:srgbClr val="15803D">
              <a:alpha val="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10160000" y="5080000"/>
            <a:ext cx="3810000" cy="3810000"/>
          </a:xfrm>
          <a:prstGeom prst="ellipse">
            <a:avLst/>
          </a:prstGeom>
          <a:solidFill>
            <a:srgbClr val="2563EB">
              <a:alpha val="5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508000" y="508000"/>
            <a:ext cx="12192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索引优化检查清单</a:t>
            </a:r>
            <a:endParaRPr lang="en-US" sz="1100"/>
          </a:p>
        </p:txBody>
      </p:sp>
      <p:sp>
        <p:nvSpPr>
          <p:cNvPr id="5" name="AutoShape 5"/>
          <p:cNvSpPr/>
          <p:nvPr/>
        </p:nvSpPr>
        <p:spPr>
          <a:xfrm>
            <a:off x="508000" y="1524000"/>
            <a:ext cx="5397500" cy="4064000"/>
          </a:xfrm>
          <a:prstGeom prst="roundRect">
            <a:avLst>
              <a:gd name="adj" fmla="val 0"/>
            </a:avLst>
          </a:prstGeom>
          <a:solidFill>
            <a:srgbClr val="15803D">
              <a:alpha val="6000"/>
            </a:srgbClr>
          </a:solidFill>
          <a:ln w="12700" cap="flat" cmpd="sng">
            <a:solidFill>
              <a:srgbClr val="15803D">
                <a:alpha val="15000"/>
              </a:srgbClr>
            </a:solidFill>
            <a:prstDash val="solid"/>
            <a:round/>
          </a:ln>
        </p:spPr>
        <p:txBody>
          <a:bodyPr vert="horz" wrap="square" lIns="63500" tIns="63500" rIns="63500" bIns="63500" rtlCol="0" anchor="ctr"/>
          <a:lstStyle/>
          <a:p>
            <a:pPr algn="ctr">
              <a:defRPr/>
            </a:pPr>
          </a:p>
        </p:txBody>
      </p:sp>
      <p:sp>
        <p:nvSpPr>
          <p:cNvPr id="6" name="AutoShape 6"/>
          <p:cNvSpPr/>
          <p:nvPr/>
        </p:nvSpPr>
        <p:spPr>
          <a:xfrm>
            <a:off x="762000" y="1778000"/>
            <a:ext cx="48895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01 设计阶段：从源头把控质量</a:t>
            </a:r>
            <a:endParaRPr lang="en-US" sz="1100"/>
          </a:p>
        </p:txBody>
      </p:sp>
      <p:cxnSp>
        <p:nvCxnSpPr>
          <p:cNvPr id="7" name="Connector 7"/>
          <p:cNvCxnSpPr/>
          <p:nvPr/>
        </p:nvCxnSpPr>
        <p:spPr>
          <a:xfrm rot="-8929">
            <a:off x="762008" y="2343150"/>
            <a:ext cx="4889500" cy="12700"/>
          </a:xfrm>
          <a:prstGeom prst="line">
            <a:avLst/>
          </a:prstGeom>
          <a:solidFill>
            <a:srgbClr val="DEE0E3">
              <a:alpha val="100000"/>
            </a:srgbClr>
          </a:solidFill>
          <a:ln w="12700" cap="flat" cmpd="sng">
            <a:solidFill>
              <a:srgbClr val="15803D">
                <a:alpha val="20000"/>
              </a:srgbClr>
            </a:solidFill>
            <a:prstDash val="solid"/>
            <a:round/>
            <a:headEnd type="none" w="med" len="med"/>
            <a:tailEnd type="none" w="med" len="med"/>
          </a:ln>
        </p:spPr>
      </p:cxnSp>
      <p:pic>
        <p:nvPicPr>
          <p:cNvPr id="8" name="Picture 8"/>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62000" y="2603500"/>
            <a:ext cx="279400" cy="279400"/>
          </a:xfrm>
          <a:prstGeom prst="rect">
            <a:avLst/>
          </a:prstGeom>
        </p:spPr>
      </p:pic>
      <p:sp>
        <p:nvSpPr>
          <p:cNvPr id="9" name="AutoShape 9"/>
          <p:cNvSpPr/>
          <p:nvPr/>
        </p:nvSpPr>
        <p:spPr>
          <a:xfrm>
            <a:off x="1168400" y="2565400"/>
            <a:ext cx="4635500" cy="4572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识别高频查询与核心SQL，锁定业务访问最频繁的路径</a:t>
            </a:r>
            <a:endParaRPr lang="en-US" sz="1100"/>
          </a:p>
        </p:txBody>
      </p:sp>
      <p:pic>
        <p:nvPicPr>
          <p:cNvPr id="10" name="Picture 10"/>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62000" y="3238500"/>
            <a:ext cx="279400" cy="279400"/>
          </a:xfrm>
          <a:prstGeom prst="rect">
            <a:avLst/>
          </a:prstGeom>
        </p:spPr>
      </p:pic>
      <p:sp>
        <p:nvSpPr>
          <p:cNvPr id="11" name="AutoShape 11"/>
          <p:cNvSpPr/>
          <p:nvPr/>
        </p:nvSpPr>
        <p:spPr>
          <a:xfrm>
            <a:off x="1168400" y="3200400"/>
            <a:ext cx="4635500" cy="4572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拆解 WHERE/JOIN/ORDER BY 条件，精准定位需索引的字段</a:t>
            </a:r>
            <a:endParaRPr lang="en-US" sz="1100"/>
          </a:p>
        </p:txBody>
      </p:sp>
      <p:pic>
        <p:nvPicPr>
          <p:cNvPr id="12" name="Picture 12"/>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62000" y="3873500"/>
            <a:ext cx="279400" cy="279400"/>
          </a:xfrm>
          <a:prstGeom prst="rect">
            <a:avLst/>
          </a:prstGeom>
        </p:spPr>
      </p:pic>
      <p:sp>
        <p:nvSpPr>
          <p:cNvPr id="13" name="AutoShape 13"/>
          <p:cNvSpPr/>
          <p:nvPr/>
        </p:nvSpPr>
        <p:spPr>
          <a:xfrm>
            <a:off x="1168400" y="3835400"/>
            <a:ext cx="4635500" cy="4572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评估字段的选择性与基数，避免对低区分度列创建索引</a:t>
            </a:r>
            <a:endParaRPr lang="en-US" sz="1100"/>
          </a:p>
        </p:txBody>
      </p:sp>
      <p:pic>
        <p:nvPicPr>
          <p:cNvPr id="14" name="Picture 1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62000" y="4508500"/>
            <a:ext cx="279400" cy="279400"/>
          </a:xfrm>
          <a:prstGeom prst="rect">
            <a:avLst/>
          </a:prstGeom>
        </p:spPr>
      </p:pic>
      <p:sp>
        <p:nvSpPr>
          <p:cNvPr id="15" name="AutoShape 15"/>
          <p:cNvSpPr/>
          <p:nvPr/>
        </p:nvSpPr>
        <p:spPr>
          <a:xfrm>
            <a:off x="1168400" y="4470400"/>
            <a:ext cx="4635500" cy="4572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优先设计复合索引，严格遵循“最左前缀”原则优化组合</a:t>
            </a:r>
            <a:endParaRPr lang="en-US" sz="1100"/>
          </a:p>
        </p:txBody>
      </p:sp>
      <p:pic>
        <p:nvPicPr>
          <p:cNvPr id="16" name="Picture 16"/>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62000" y="5143500"/>
            <a:ext cx="279400" cy="279400"/>
          </a:xfrm>
          <a:prstGeom prst="rect">
            <a:avLst/>
          </a:prstGeom>
        </p:spPr>
      </p:pic>
      <p:sp>
        <p:nvSpPr>
          <p:cNvPr id="17" name="AutoShape 17"/>
          <p:cNvSpPr/>
          <p:nvPr/>
        </p:nvSpPr>
        <p:spPr>
          <a:xfrm>
            <a:off x="1168400" y="5105400"/>
            <a:ext cx="4635500" cy="4572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评估覆盖索引可行性，减少回表查询，直接在索引中返回结果</a:t>
            </a:r>
            <a:endParaRPr lang="en-US" sz="1100"/>
          </a:p>
        </p:txBody>
      </p:sp>
      <p:sp>
        <p:nvSpPr>
          <p:cNvPr id="18" name="AutoShape 18"/>
          <p:cNvSpPr/>
          <p:nvPr/>
        </p:nvSpPr>
        <p:spPr>
          <a:xfrm>
            <a:off x="6286500" y="1524000"/>
            <a:ext cx="5397500" cy="4064000"/>
          </a:xfrm>
          <a:prstGeom prst="roundRect">
            <a:avLst>
              <a:gd name="adj" fmla="val 0"/>
            </a:avLst>
          </a:prstGeom>
          <a:solidFill>
            <a:srgbClr val="2563EB">
              <a:alpha val="6000"/>
            </a:srgbClr>
          </a:solidFill>
          <a:ln w="12700" cap="flat" cmpd="sng">
            <a:solidFill>
              <a:srgbClr val="2563EB">
                <a:alpha val="15000"/>
              </a:srgbClr>
            </a:solidFill>
            <a:prstDash val="solid"/>
            <a:round/>
          </a:ln>
        </p:spPr>
        <p:txBody>
          <a:bodyPr vert="horz" wrap="square" lIns="63500" tIns="63500" rIns="63500" bIns="63500" rtlCol="0" anchor="ctr"/>
          <a:lstStyle/>
          <a:p>
            <a:pPr algn="ctr">
              <a:defRPr/>
            </a:pPr>
          </a:p>
        </p:txBody>
      </p:sp>
      <p:sp>
        <p:nvSpPr>
          <p:cNvPr id="19" name="AutoShape 19"/>
          <p:cNvSpPr/>
          <p:nvPr/>
        </p:nvSpPr>
        <p:spPr>
          <a:xfrm>
            <a:off x="6540500" y="1778000"/>
            <a:ext cx="48895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02 运维阶段：全生命周期管理</a:t>
            </a:r>
            <a:endParaRPr lang="en-US" sz="1100"/>
          </a:p>
        </p:txBody>
      </p:sp>
      <p:cxnSp>
        <p:nvCxnSpPr>
          <p:cNvPr id="20" name="Connector 20"/>
          <p:cNvCxnSpPr/>
          <p:nvPr/>
        </p:nvCxnSpPr>
        <p:spPr>
          <a:xfrm rot="-8929">
            <a:off x="6540508" y="2343150"/>
            <a:ext cx="4889500" cy="12700"/>
          </a:xfrm>
          <a:prstGeom prst="line">
            <a:avLst/>
          </a:prstGeom>
          <a:solidFill>
            <a:srgbClr val="DEE0E3">
              <a:alpha val="100000"/>
            </a:srgbClr>
          </a:solidFill>
          <a:ln w="12700" cap="flat" cmpd="sng">
            <a:solidFill>
              <a:srgbClr val="2563EB">
                <a:alpha val="20000"/>
              </a:srgbClr>
            </a:solidFill>
            <a:prstDash val="solid"/>
            <a:round/>
            <a:headEnd type="none" w="med" len="med"/>
            <a:tailEnd type="none" w="med" len="med"/>
          </a:ln>
        </p:spPr>
      </p:cxnSp>
      <p:pic>
        <p:nvPicPr>
          <p:cNvPr id="21" name="Picture 21"/>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540500" y="2603500"/>
            <a:ext cx="279400" cy="279400"/>
          </a:xfrm>
          <a:prstGeom prst="rect">
            <a:avLst/>
          </a:prstGeom>
        </p:spPr>
      </p:pic>
      <p:sp>
        <p:nvSpPr>
          <p:cNvPr id="22" name="AutoShape 22"/>
          <p:cNvSpPr/>
          <p:nvPr/>
        </p:nvSpPr>
        <p:spPr>
          <a:xfrm>
            <a:off x="6946900" y="2565400"/>
            <a:ext cx="4635500" cy="4572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定期监控索引使用状态，识别从未被查询命中的冗余索引</a:t>
            </a:r>
            <a:endParaRPr lang="en-US" sz="1100"/>
          </a:p>
        </p:txBody>
      </p:sp>
      <p:pic>
        <p:nvPicPr>
          <p:cNvPr id="23" name="Picture 23"/>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540500" y="3238500"/>
            <a:ext cx="279400" cy="279400"/>
          </a:xfrm>
          <a:prstGeom prst="rect">
            <a:avLst/>
          </a:prstGeom>
        </p:spPr>
      </p:pic>
      <p:sp>
        <p:nvSpPr>
          <p:cNvPr id="24" name="AutoShape 24"/>
          <p:cNvSpPr/>
          <p:nvPr/>
        </p:nvSpPr>
        <p:spPr>
          <a:xfrm>
            <a:off x="6946900" y="3200400"/>
            <a:ext cx="4635500" cy="4572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审查执行计划变更，警惕因数据量变化导致的索引失效</a:t>
            </a:r>
            <a:endParaRPr lang="en-US" sz="1100"/>
          </a:p>
        </p:txBody>
      </p:sp>
      <p:pic>
        <p:nvPicPr>
          <p:cNvPr id="25" name="Picture 2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540500" y="3873500"/>
            <a:ext cx="279400" cy="279400"/>
          </a:xfrm>
          <a:prstGeom prst="rect">
            <a:avLst/>
          </a:prstGeom>
        </p:spPr>
      </p:pic>
      <p:sp>
        <p:nvSpPr>
          <p:cNvPr id="26" name="AutoShape 26"/>
          <p:cNvSpPr/>
          <p:nvPr/>
        </p:nvSpPr>
        <p:spPr>
          <a:xfrm>
            <a:off x="6946900" y="3835400"/>
            <a:ext cx="4635500" cy="4572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分析索引碎片率，对高碎片索引及时进行重建或整理</a:t>
            </a:r>
            <a:endParaRPr lang="en-US" sz="1100"/>
          </a:p>
        </p:txBody>
      </p:sp>
      <p:pic>
        <p:nvPicPr>
          <p:cNvPr id="27" name="Picture 27"/>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540500" y="4508500"/>
            <a:ext cx="279400" cy="279400"/>
          </a:xfrm>
          <a:prstGeom prst="rect">
            <a:avLst/>
          </a:prstGeom>
        </p:spPr>
      </p:pic>
      <p:sp>
        <p:nvSpPr>
          <p:cNvPr id="28" name="AutoShape 28"/>
          <p:cNvSpPr/>
          <p:nvPr/>
        </p:nvSpPr>
        <p:spPr>
          <a:xfrm>
            <a:off x="6946900" y="4470400"/>
            <a:ext cx="4635500" cy="4572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定期更新统计信息，确保优化器基于最新数据生成最优计划</a:t>
            </a:r>
            <a:endParaRPr lang="en-US" sz="1100"/>
          </a:p>
        </p:txBody>
      </p:sp>
      <p:pic>
        <p:nvPicPr>
          <p:cNvPr id="29" name="Picture 29"/>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540500" y="5143500"/>
            <a:ext cx="279400" cy="279400"/>
          </a:xfrm>
          <a:prstGeom prst="rect">
            <a:avLst/>
          </a:prstGeom>
        </p:spPr>
      </p:pic>
      <p:sp>
        <p:nvSpPr>
          <p:cNvPr id="30" name="AutoShape 30"/>
          <p:cNvSpPr/>
          <p:nvPr/>
        </p:nvSpPr>
        <p:spPr>
          <a:xfrm>
            <a:off x="6946900" y="5105400"/>
            <a:ext cx="4635500" cy="4572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清理长期未使用的索引，降低数据写入时的维护开销</a:t>
            </a:r>
            <a:endParaRPr lang="en-US" sz="1100"/>
          </a:p>
        </p:txBody>
      </p:sp>
      <p:sp>
        <p:nvSpPr>
          <p:cNvPr id="31" name="AutoShape 31"/>
          <p:cNvSpPr/>
          <p:nvPr/>
        </p:nvSpPr>
        <p:spPr>
          <a:xfrm>
            <a:off x="508000" y="5842000"/>
            <a:ext cx="11176000" cy="635000"/>
          </a:xfrm>
          <a:prstGeom prst="roundRect">
            <a:avLst>
              <a:gd name="adj" fmla="val 0"/>
            </a:avLst>
          </a:prstGeom>
          <a:solidFill>
            <a:srgbClr val="F59E0B">
              <a:alpha val="10000"/>
            </a:srgbClr>
          </a:solidFill>
          <a:ln w="12700" cap="flat" cmpd="sng">
            <a:solidFill>
              <a:srgbClr val="F59E0B">
                <a:alpha val="30000"/>
              </a:srgbClr>
            </a:solidFill>
            <a:prstDash val="solid"/>
            <a:round/>
          </a:ln>
        </p:spPr>
        <p:txBody>
          <a:bodyPr vert="horz" wrap="square" lIns="63500" tIns="63500" rIns="63500" bIns="63500" rtlCol="0" anchor="ctr"/>
          <a:lstStyle/>
          <a:p>
            <a:pPr algn="ctr">
              <a:defRPr/>
            </a:pPr>
          </a:p>
        </p:txBody>
      </p:sp>
      <p:pic>
        <p:nvPicPr>
          <p:cNvPr id="32" name="Picture 32"/>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98500" y="6032500"/>
            <a:ext cx="254000" cy="254000"/>
          </a:xfrm>
          <a:prstGeom prst="rect">
            <a:avLst/>
          </a:prstGeom>
        </p:spPr>
      </p:pic>
      <p:sp>
        <p:nvSpPr>
          <p:cNvPr id="33" name="AutoShape 33"/>
          <p:cNvSpPr/>
          <p:nvPr/>
        </p:nvSpPr>
        <p:spPr>
          <a:xfrm>
            <a:off x="1079500" y="5943600"/>
            <a:ext cx="10541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300" b="1" i="0" u="none" strike="noStrike">
                <a:solidFill>
                  <a:srgbClr val="92400E"/>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核心洞察：</a:t>
            </a:r>
            <a:r>
              <a:rPr lang="en-US" sz="1300" b="0" i="0" u="none" strike="noStrike">
                <a:solidFill>
                  <a:srgbClr val="92400E"/>
                </a:solidFill>
                <a:latin typeface="Noto Sans SC" panose="020B0200000000000000" charset="-122"/>
                <a:ea typeface="Noto Sans SC" panose="020B0200000000000000" charset="-122"/>
                <a:cs typeface="Noto Sans SC" panose="020B0200000000000000" charset="-122"/>
                <a:sym typeface="Noto Sans SC" panose="020B0200000000000000" charset="-122"/>
              </a:rPr>
              <a:t>索引是性能的双刃剑，需在查询加速与写入开销间平衡。建议每季度进行一次全面的索引健康度巡检，防止“索引膨胀”拖累数据库。</a:t>
            </a:r>
            <a:endParaRPr lang="en-US" sz="11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9525000" y="-1270000"/>
            <a:ext cx="3810000" cy="3810000"/>
          </a:xfrm>
          <a:prstGeom prst="ellipse">
            <a:avLst/>
          </a:prstGeom>
          <a:solidFill>
            <a:srgbClr val="3B82F6">
              <a:alpha val="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635000" y="5080000"/>
            <a:ext cx="2540000" cy="2540000"/>
          </a:xfrm>
          <a:prstGeom prst="ellipse">
            <a:avLst/>
          </a:prstGeom>
          <a:solidFill>
            <a:srgbClr val="10B981">
              <a:alpha val="5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508000" y="508000"/>
            <a:ext cx="11176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11827"/>
                </a:solidFill>
                <a:latin typeface="Noto Sans SC" panose="020B0200000000000000" charset="-122"/>
                <a:ea typeface="Noto Sans SC" panose="020B0200000000000000" charset="-122"/>
                <a:cs typeface="Noto Sans SC" panose="020B0200000000000000" charset="-122"/>
                <a:sym typeface="Noto Sans SC" panose="020B0200000000000000" charset="-122"/>
              </a:rPr>
              <a:t>实战案例：订单表查询优化</a:t>
            </a:r>
            <a:endParaRPr lang="en-US" sz="1100"/>
          </a:p>
        </p:txBody>
      </p:sp>
      <p:sp>
        <p:nvSpPr>
          <p:cNvPr id="5" name="AutoShape 5"/>
          <p:cNvSpPr/>
          <p:nvPr/>
        </p:nvSpPr>
        <p:spPr>
          <a:xfrm>
            <a:off x="508000" y="1397000"/>
            <a:ext cx="11176000" cy="952500"/>
          </a:xfrm>
          <a:prstGeom prst="roundRect">
            <a:avLst>
              <a:gd name="adj" fmla="val 0"/>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762000" y="15494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业务痛点：订单表（orders）累计沉淀500万+交易记录，核心场景需根据「客户ID」筛选并按「下单日期」倒序查询历史订单。原查询因未建立合理索引导致全表扫描，平均响应时间超8秒，严重影响用户体验与系统吞吐量。</a:t>
            </a:r>
            <a:endParaRPr lang="en-US" sz="1100"/>
          </a:p>
        </p:txBody>
      </p:sp>
      <p:sp>
        <p:nvSpPr>
          <p:cNvPr id="7" name="AutoShape 7"/>
          <p:cNvSpPr/>
          <p:nvPr>
            <p:custDataLst>
              <p:tags r:id="rId1"/>
            </p:custDataLst>
          </p:nvPr>
        </p:nvSpPr>
        <p:spPr>
          <a:xfrm>
            <a:off x="508000" y="2603500"/>
            <a:ext cx="5461000" cy="2603500"/>
          </a:xfrm>
          <a:prstGeom prst="roundRect">
            <a:avLst>
              <a:gd name="adj" fmla="val 0"/>
            </a:avLst>
          </a:prstGeom>
          <a:solidFill>
            <a:srgbClr val="FEF2F2">
              <a:alpha val="100000"/>
            </a:srgbClr>
          </a:solidFill>
          <a:ln w="12700" cap="flat" cmpd="sng">
            <a:solidFill>
              <a:srgbClr val="FCA5A5">
                <a:alpha val="100000"/>
              </a:srgbClr>
            </a:solidFill>
            <a:prstDash val="solid"/>
            <a:round/>
          </a:ln>
        </p:spPr>
        <p:txBody>
          <a:bodyPr vert="horz" wrap="square" lIns="63500" tIns="63500" rIns="63500" bIns="63500" rtlCol="0" anchor="ctr"/>
          <a:lstStyle/>
          <a:p>
            <a:pPr algn="ctr">
              <a:defRPr/>
            </a:pPr>
          </a:p>
        </p:txBody>
      </p:sp>
      <p:sp>
        <p:nvSpPr>
          <p:cNvPr id="8" name="AutoShape 8"/>
          <p:cNvSpPr/>
          <p:nvPr>
            <p:custDataLst>
              <p:tags r:id="rId2"/>
            </p:custDataLst>
          </p:nvPr>
        </p:nvSpPr>
        <p:spPr>
          <a:xfrm>
            <a:off x="698500" y="2794000"/>
            <a:ext cx="508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B91C1C"/>
                </a:solidFill>
                <a:latin typeface="Noto Sans SC" panose="020B0200000000000000" charset="-122"/>
                <a:ea typeface="Noto Sans SC" panose="020B0200000000000000" charset="-122"/>
                <a:cs typeface="Noto Sans SC" panose="020B0200000000000000" charset="-122"/>
                <a:sym typeface="Noto Sans SC" panose="020B0200000000000000" charset="-122"/>
              </a:rPr>
              <a:t>❌ 优化前：全表扫描 (Full Table Scan)</a:t>
            </a:r>
            <a:endParaRPr lang="en-US" sz="1100"/>
          </a:p>
        </p:txBody>
      </p:sp>
      <p:cxnSp>
        <p:nvCxnSpPr>
          <p:cNvPr id="9" name="Connector 9"/>
          <p:cNvCxnSpPr/>
          <p:nvPr>
            <p:custDataLst>
              <p:tags r:id="rId3"/>
            </p:custDataLst>
          </p:nvPr>
        </p:nvCxnSpPr>
        <p:spPr>
          <a:xfrm rot="-8594">
            <a:off x="698508" y="3295650"/>
            <a:ext cx="5080000" cy="12700"/>
          </a:xfrm>
          <a:prstGeom prst="line">
            <a:avLst/>
          </a:prstGeom>
          <a:solidFill>
            <a:srgbClr val="DEE0E3">
              <a:alpha val="100000"/>
            </a:srgbClr>
          </a:solidFill>
          <a:ln w="12700" cap="flat" cmpd="sng">
            <a:solidFill>
              <a:srgbClr val="FCA5A5">
                <a:alpha val="40000"/>
              </a:srgbClr>
            </a:solidFill>
            <a:prstDash val="solid"/>
            <a:round/>
            <a:headEnd type="none" w="med" len="med"/>
            <a:tailEnd type="none" w="med" len="med"/>
          </a:ln>
        </p:spPr>
      </p:cxnSp>
      <p:sp>
        <p:nvSpPr>
          <p:cNvPr id="10" name="AutoShape 10"/>
          <p:cNvSpPr/>
          <p:nvPr>
            <p:custDataLst>
              <p:tags r:id="rId4"/>
            </p:custDataLst>
          </p:nvPr>
        </p:nvSpPr>
        <p:spPr>
          <a:xfrm>
            <a:off x="698500" y="3429000"/>
            <a:ext cx="5080000" cy="6985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custDataLst>
              <p:tags r:id="rId5"/>
            </p:custDataLst>
          </p:nvPr>
        </p:nvSpPr>
        <p:spPr>
          <a:xfrm>
            <a:off x="762000" y="3492500"/>
            <a:ext cx="4953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374151"/>
                </a:solidFill>
                <a:latin typeface="Source Code Pro"/>
                <a:ea typeface="Source Code Pro"/>
                <a:cs typeface="Source Code Pro"/>
                <a:sym typeface="Source Code Pro"/>
              </a:rPr>
              <a:t>SELECT * FROM orders WHERE customer_id = 12345 AND order_date &gt;= '2024-01-01' ORDER BY order_date DESC;</a:t>
            </a:r>
            <a:endParaRPr lang="en-US" sz="1100"/>
          </a:p>
        </p:txBody>
      </p:sp>
      <p:sp>
        <p:nvSpPr>
          <p:cNvPr id="12" name="AutoShape 12"/>
          <p:cNvSpPr/>
          <p:nvPr>
            <p:custDataLst>
              <p:tags r:id="rId6"/>
            </p:custDataLst>
          </p:nvPr>
        </p:nvSpPr>
        <p:spPr>
          <a:xfrm>
            <a:off x="698500" y="4318000"/>
            <a:ext cx="2286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7F1D1D"/>
                </a:solidFill>
                <a:latin typeface="Noto Sans SC" panose="020B0200000000000000" charset="-122"/>
                <a:ea typeface="Noto Sans SC" panose="020B0200000000000000" charset="-122"/>
                <a:cs typeface="Noto Sans SC" panose="020B0200000000000000" charset="-122"/>
                <a:sym typeface="Noto Sans SC" panose="020B0200000000000000" charset="-122"/>
              </a:rPr>
              <a:t>平均执行耗时</a:t>
            </a:r>
            <a:endParaRPr lang="en-US" sz="1100"/>
          </a:p>
          <a:p>
            <a:pPr marL="0" indent="0" algn="l">
              <a:lnSpc>
                <a:spcPct val="125000"/>
              </a:lnSpc>
            </a:pPr>
            <a:r>
              <a:rPr lang="en-US" sz="2400" b="1" i="0" u="none" strike="noStrike">
                <a:solidFill>
                  <a:srgbClr val="DC2626"/>
                </a:solidFill>
                <a:latin typeface="Noto Sans SC" panose="020B0200000000000000" charset="-122"/>
                <a:ea typeface="Noto Sans SC" panose="020B0200000000000000" charset="-122"/>
                <a:cs typeface="Noto Sans SC" panose="020B0200000000000000" charset="-122"/>
                <a:sym typeface="Noto Sans SC" panose="020B0200000000000000" charset="-122"/>
              </a:rPr>
              <a:t>8.5 秒</a:t>
            </a:r>
            <a:endParaRPr lang="en-US" sz="2400" b="1" i="0" u="none" strike="noStrike">
              <a:solidFill>
                <a:srgbClr val="DC262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3" name="AutoShape 13"/>
          <p:cNvSpPr/>
          <p:nvPr>
            <p:custDataLst>
              <p:tags r:id="rId7"/>
            </p:custDataLst>
          </p:nvPr>
        </p:nvSpPr>
        <p:spPr>
          <a:xfrm>
            <a:off x="3111500" y="4318000"/>
            <a:ext cx="2603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300" b="0" i="0" u="none" strike="noStrike">
                <a:solidFill>
                  <a:srgbClr val="7F1D1D">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问题诊断：无索引导致数据库遍历所有行，磁盘IO负载极高，且存在额外的文件排序开销。</a:t>
            </a:r>
            <a:endParaRPr lang="en-US" sz="1100"/>
          </a:p>
        </p:txBody>
      </p:sp>
      <p:sp>
        <p:nvSpPr>
          <p:cNvPr id="14" name="AutoShape 14"/>
          <p:cNvSpPr/>
          <p:nvPr>
            <p:custDataLst>
              <p:tags r:id="rId8"/>
            </p:custDataLst>
          </p:nvPr>
        </p:nvSpPr>
        <p:spPr>
          <a:xfrm>
            <a:off x="6223000" y="2603500"/>
            <a:ext cx="5461000" cy="2603500"/>
          </a:xfrm>
          <a:prstGeom prst="roundRect">
            <a:avLst>
              <a:gd name="adj" fmla="val 0"/>
            </a:avLst>
          </a:prstGeom>
          <a:solidFill>
            <a:srgbClr val="ECFDF5">
              <a:alpha val="100000"/>
            </a:srgbClr>
          </a:solidFill>
          <a:ln w="12700" cap="flat" cmpd="sng">
            <a:solidFill>
              <a:srgbClr val="6EE7B7">
                <a:alpha val="100000"/>
              </a:srgbClr>
            </a:solidFill>
            <a:prstDash val="solid"/>
            <a:round/>
          </a:ln>
        </p:spPr>
        <p:txBody>
          <a:bodyPr vert="horz" wrap="square" lIns="63500" tIns="63500" rIns="63500" bIns="63500" rtlCol="0" anchor="ctr"/>
          <a:lstStyle/>
          <a:p>
            <a:pPr algn="ctr">
              <a:defRPr/>
            </a:pPr>
          </a:p>
        </p:txBody>
      </p:sp>
      <p:sp>
        <p:nvSpPr>
          <p:cNvPr id="15" name="AutoShape 15"/>
          <p:cNvSpPr/>
          <p:nvPr>
            <p:custDataLst>
              <p:tags r:id="rId9"/>
            </p:custDataLst>
          </p:nvPr>
        </p:nvSpPr>
        <p:spPr>
          <a:xfrm>
            <a:off x="6413500" y="2794000"/>
            <a:ext cx="508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047857"/>
                </a:solidFill>
                <a:latin typeface="Noto Sans SC" panose="020B0200000000000000" charset="-122"/>
                <a:ea typeface="Noto Sans SC" panose="020B0200000000000000" charset="-122"/>
                <a:cs typeface="Noto Sans SC" panose="020B0200000000000000" charset="-122"/>
                <a:sym typeface="Noto Sans SC" panose="020B0200000000000000" charset="-122"/>
              </a:rPr>
              <a:t>✅ 优化后：索引范围扫描 (Index Range Scan)</a:t>
            </a:r>
            <a:endParaRPr lang="en-US" sz="1100"/>
          </a:p>
        </p:txBody>
      </p:sp>
      <p:cxnSp>
        <p:nvCxnSpPr>
          <p:cNvPr id="16" name="Connector 16"/>
          <p:cNvCxnSpPr/>
          <p:nvPr>
            <p:custDataLst>
              <p:tags r:id="rId10"/>
            </p:custDataLst>
          </p:nvPr>
        </p:nvCxnSpPr>
        <p:spPr>
          <a:xfrm rot="-8594">
            <a:off x="6413508" y="3295650"/>
            <a:ext cx="5080000" cy="12700"/>
          </a:xfrm>
          <a:prstGeom prst="line">
            <a:avLst/>
          </a:prstGeom>
          <a:solidFill>
            <a:srgbClr val="DEE0E3">
              <a:alpha val="100000"/>
            </a:srgbClr>
          </a:solidFill>
          <a:ln w="12700" cap="flat" cmpd="sng">
            <a:solidFill>
              <a:srgbClr val="6EE7B7">
                <a:alpha val="40000"/>
              </a:srgbClr>
            </a:solidFill>
            <a:prstDash val="solid"/>
            <a:round/>
            <a:headEnd type="none" w="med" len="med"/>
            <a:tailEnd type="none" w="med" len="med"/>
          </a:ln>
        </p:spPr>
      </p:cxnSp>
      <p:sp>
        <p:nvSpPr>
          <p:cNvPr id="17" name="AutoShape 17"/>
          <p:cNvSpPr/>
          <p:nvPr>
            <p:custDataLst>
              <p:tags r:id="rId11"/>
            </p:custDataLst>
          </p:nvPr>
        </p:nvSpPr>
        <p:spPr>
          <a:xfrm>
            <a:off x="6413500" y="3429000"/>
            <a:ext cx="5080000" cy="6985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custDataLst>
              <p:tags r:id="rId12"/>
            </p:custDataLst>
          </p:nvPr>
        </p:nvSpPr>
        <p:spPr>
          <a:xfrm>
            <a:off x="6477000" y="3492500"/>
            <a:ext cx="4953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374151"/>
                </a:solidFill>
                <a:latin typeface="Source Code Pro"/>
                <a:ea typeface="Source Code Pro"/>
                <a:cs typeface="Source Code Pro"/>
                <a:sym typeface="Source Code Pro"/>
              </a:rPr>
              <a:t>CREATE INDEX idx_orders_cust_date ON orders(customer_id, order_date DESC);</a:t>
            </a:r>
            <a:endParaRPr lang="en-US" sz="1100"/>
          </a:p>
        </p:txBody>
      </p:sp>
      <p:sp>
        <p:nvSpPr>
          <p:cNvPr id="19" name="AutoShape 19"/>
          <p:cNvSpPr/>
          <p:nvPr>
            <p:custDataLst>
              <p:tags r:id="rId13"/>
            </p:custDataLst>
          </p:nvPr>
        </p:nvSpPr>
        <p:spPr>
          <a:xfrm>
            <a:off x="6413500" y="4318000"/>
            <a:ext cx="2286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064E3B"/>
                </a:solidFill>
                <a:latin typeface="Noto Sans SC" panose="020B0200000000000000" charset="-122"/>
                <a:ea typeface="Noto Sans SC" panose="020B0200000000000000" charset="-122"/>
                <a:cs typeface="Noto Sans SC" panose="020B0200000000000000" charset="-122"/>
                <a:sym typeface="Noto Sans SC" panose="020B0200000000000000" charset="-122"/>
              </a:rPr>
              <a:t>平均执行耗时</a:t>
            </a:r>
            <a:endParaRPr lang="en-US" sz="1100"/>
          </a:p>
          <a:p>
            <a:pPr marL="0" indent="0" algn="l">
              <a:lnSpc>
                <a:spcPct val="125000"/>
              </a:lnSpc>
            </a:pPr>
            <a:r>
              <a:rPr lang="en-US" sz="2400" b="1" i="0" u="none" strike="noStrike">
                <a:solidFill>
                  <a:srgbClr val="059669"/>
                </a:solidFill>
                <a:latin typeface="Noto Sans SC" panose="020B0200000000000000" charset="-122"/>
                <a:ea typeface="Noto Sans SC" panose="020B0200000000000000" charset="-122"/>
                <a:cs typeface="Noto Sans SC" panose="020B0200000000000000" charset="-122"/>
                <a:sym typeface="Noto Sans SC" panose="020B0200000000000000" charset="-122"/>
              </a:rPr>
              <a:t>0.02 秒</a:t>
            </a:r>
            <a:endParaRPr lang="en-US" sz="2400" b="1" i="0" u="none" strike="noStrike">
              <a:solidFill>
                <a:srgbClr val="05966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0" name="AutoShape 20"/>
          <p:cNvSpPr/>
          <p:nvPr>
            <p:custDataLst>
              <p:tags r:id="rId14"/>
            </p:custDataLst>
          </p:nvPr>
        </p:nvSpPr>
        <p:spPr>
          <a:xfrm>
            <a:off x="8826500" y="4318000"/>
            <a:ext cx="2603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300" b="0" i="0" u="none" strike="noStrike">
                <a:solidFill>
                  <a:srgbClr val="064E3B">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优化成效：索引直接定位目标数据，消除文件排序，查询效率提升</a:t>
            </a:r>
            <a:r>
              <a:rPr lang="en-US" sz="1300" b="1" i="0" u="none" strike="noStrike">
                <a:solidFill>
                  <a:srgbClr val="064E3B">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400倍+</a:t>
            </a:r>
            <a:r>
              <a:rPr lang="en-US" sz="1300" b="0" i="0" u="none" strike="noStrike">
                <a:solidFill>
                  <a:srgbClr val="064E3B">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，完美支撑高并发。</a:t>
            </a:r>
            <a:endParaRPr lang="en-US" sz="1100"/>
          </a:p>
        </p:txBody>
      </p:sp>
      <p:sp>
        <p:nvSpPr>
          <p:cNvPr id="21" name="AutoShape 21"/>
          <p:cNvSpPr/>
          <p:nvPr/>
        </p:nvSpPr>
        <p:spPr>
          <a:xfrm>
            <a:off x="508000" y="5397500"/>
            <a:ext cx="11176000" cy="1079500"/>
          </a:xfrm>
          <a:prstGeom prst="roundRect">
            <a:avLst>
              <a:gd name="adj" fmla="val 0"/>
            </a:avLst>
          </a:prstGeom>
          <a:solidFill>
            <a:srgbClr val="EFF6FF">
              <a:alpha val="100000"/>
            </a:srgbClr>
          </a:solidFill>
          <a:ln w="12700" cap="flat" cmpd="sng">
            <a:solidFill>
              <a:srgbClr val="BFDBFE">
                <a:alpha val="100000"/>
              </a:srgbClr>
            </a:solidFill>
            <a:prstDash val="solid"/>
            <a:round/>
          </a:ln>
        </p:spPr>
        <p:txBody>
          <a:bodyPr vert="horz" wrap="square" lIns="63500" tIns="63500" rIns="63500" bIns="63500" rtlCol="0" anchor="ctr"/>
          <a:lstStyle/>
          <a:p>
            <a:pPr algn="ctr">
              <a:defRPr/>
            </a:pPr>
          </a:p>
        </p:txBody>
      </p:sp>
      <p:pic>
        <p:nvPicPr>
          <p:cNvPr id="22" name="Picture 22"/>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698500" y="5651500"/>
            <a:ext cx="355600" cy="355600"/>
          </a:xfrm>
          <a:prstGeom prst="rect">
            <a:avLst/>
          </a:prstGeom>
        </p:spPr>
      </p:pic>
      <p:sp>
        <p:nvSpPr>
          <p:cNvPr id="23" name="AutoShape 23"/>
          <p:cNvSpPr/>
          <p:nvPr/>
        </p:nvSpPr>
        <p:spPr>
          <a:xfrm>
            <a:off x="1143000" y="5651500"/>
            <a:ext cx="177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E40AF"/>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核心优化逻辑</a:t>
            </a:r>
            <a:endParaRPr lang="en-US" sz="1100"/>
          </a:p>
        </p:txBody>
      </p:sp>
      <p:cxnSp>
        <p:nvCxnSpPr>
          <p:cNvPr id="24" name="Connector 24"/>
          <p:cNvCxnSpPr/>
          <p:nvPr/>
        </p:nvCxnSpPr>
        <p:spPr>
          <a:xfrm rot="5337502">
            <a:off x="2698750" y="5930958"/>
            <a:ext cx="698500" cy="12700"/>
          </a:xfrm>
          <a:prstGeom prst="line">
            <a:avLst/>
          </a:prstGeom>
          <a:solidFill>
            <a:srgbClr val="DEE0E3">
              <a:alpha val="100000"/>
            </a:srgbClr>
          </a:solidFill>
          <a:ln w="12700" cap="flat" cmpd="sng">
            <a:solidFill>
              <a:srgbClr val="BFDBFE">
                <a:alpha val="100000"/>
              </a:srgbClr>
            </a:solidFill>
            <a:prstDash val="solid"/>
            <a:round/>
            <a:headEnd type="none" w="med" len="med"/>
            <a:tailEnd type="none" w="med" len="med"/>
          </a:ln>
        </p:spPr>
      </p:cxnSp>
      <p:sp>
        <p:nvSpPr>
          <p:cNvPr id="25" name="AutoShape 25"/>
          <p:cNvSpPr/>
          <p:nvPr/>
        </p:nvSpPr>
        <p:spPr>
          <a:xfrm>
            <a:off x="3238500" y="5562600"/>
            <a:ext cx="8191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利用</a:t>
            </a:r>
            <a:r>
              <a:rPr lang="en-US" sz="14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“最左前缀原则”</a:t>
            </a: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设计复合索引：将高基数过滤字段（customer_id）置于索引首位以快速缩小检索范围，随后紧跟排序字段（order_date），使索引既满足WHERE筛选，又覆盖ORDER BY排序需求，彻底避免了回表查询和文件排序的性能损耗。</a:t>
            </a:r>
            <a:endParaRPr lang="en-US" sz="11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8F9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9525000" y="-1270000"/>
            <a:ext cx="3810000" cy="3810000"/>
          </a:xfrm>
          <a:prstGeom prst="ellipse">
            <a:avLst/>
          </a:prstGeom>
          <a:solidFill>
            <a:srgbClr val="15803D">
              <a:alpha val="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1016000" y="5080000"/>
            <a:ext cx="2540000" cy="2540000"/>
          </a:xfrm>
          <a:prstGeom prst="ellipse">
            <a:avLst/>
          </a:prstGeom>
          <a:solidFill>
            <a:srgbClr val="15803D">
              <a:alpha val="5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508000" y="508000"/>
            <a:ext cx="11176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核心要点总结</a:t>
            </a:r>
            <a:endParaRPr lang="en-US" sz="1100"/>
          </a:p>
        </p:txBody>
      </p:sp>
      <p:sp>
        <p:nvSpPr>
          <p:cNvPr id="5" name="AutoShape 5"/>
          <p:cNvSpPr/>
          <p:nvPr/>
        </p:nvSpPr>
        <p:spPr>
          <a:xfrm>
            <a:off x="508000" y="1651000"/>
            <a:ext cx="3556000" cy="1968500"/>
          </a:xfrm>
          <a:prstGeom prst="roundRect">
            <a:avLst>
              <a:gd name="adj" fmla="val 0"/>
            </a:avLst>
          </a:prstGeom>
          <a:solidFill>
            <a:srgbClr val="FFFFFF">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sp>
        <p:nvSpPr>
          <p:cNvPr id="6" name="AutoShape 6"/>
          <p:cNvSpPr/>
          <p:nvPr/>
        </p:nvSpPr>
        <p:spPr>
          <a:xfrm>
            <a:off x="698500" y="1841500"/>
            <a:ext cx="762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6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01</a:t>
            </a:r>
            <a:endParaRPr lang="en-US" sz="1100"/>
          </a:p>
        </p:txBody>
      </p:sp>
      <p:sp>
        <p:nvSpPr>
          <p:cNvPr id="7" name="AutoShape 7"/>
          <p:cNvSpPr/>
          <p:nvPr/>
        </p:nvSpPr>
        <p:spPr>
          <a:xfrm>
            <a:off x="1460500" y="1905000"/>
            <a:ext cx="2476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理解原理</a:t>
            </a:r>
            <a:endParaRPr lang="en-US" sz="1100"/>
          </a:p>
        </p:txBody>
      </p:sp>
      <p:sp>
        <p:nvSpPr>
          <p:cNvPr id="8" name="AutoShape 8"/>
          <p:cNvSpPr/>
          <p:nvPr/>
        </p:nvSpPr>
        <p:spPr>
          <a:xfrm>
            <a:off x="698500" y="2603500"/>
            <a:ext cx="3175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掌握B树结构和索引访问路径是优化的基石，深入理解其底层逻辑才能从根本上解决查询性能瓶颈。</a:t>
            </a:r>
            <a:endParaRPr lang="en-US" sz="1100"/>
          </a:p>
        </p:txBody>
      </p:sp>
      <p:sp>
        <p:nvSpPr>
          <p:cNvPr id="9" name="AutoShape 9"/>
          <p:cNvSpPr/>
          <p:nvPr/>
        </p:nvSpPr>
        <p:spPr>
          <a:xfrm>
            <a:off x="4318000" y="1651000"/>
            <a:ext cx="3556000" cy="1968500"/>
          </a:xfrm>
          <a:prstGeom prst="roundRect">
            <a:avLst>
              <a:gd name="adj" fmla="val 0"/>
            </a:avLst>
          </a:prstGeom>
          <a:solidFill>
            <a:srgbClr val="FFFFFF">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sp>
        <p:nvSpPr>
          <p:cNvPr id="10" name="AutoShape 10"/>
          <p:cNvSpPr/>
          <p:nvPr/>
        </p:nvSpPr>
        <p:spPr>
          <a:xfrm>
            <a:off x="4508500" y="1841500"/>
            <a:ext cx="762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6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02</a:t>
            </a:r>
            <a:endParaRPr lang="en-US" sz="1100"/>
          </a:p>
        </p:txBody>
      </p:sp>
      <p:sp>
        <p:nvSpPr>
          <p:cNvPr id="11" name="AutoShape 11"/>
          <p:cNvSpPr/>
          <p:nvPr/>
        </p:nvSpPr>
        <p:spPr>
          <a:xfrm>
            <a:off x="5270500" y="1905000"/>
            <a:ext cx="2476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合理设计</a:t>
            </a:r>
            <a:endParaRPr lang="en-US" sz="1100"/>
          </a:p>
        </p:txBody>
      </p:sp>
      <p:sp>
        <p:nvSpPr>
          <p:cNvPr id="12" name="AutoShape 12"/>
          <p:cNvSpPr/>
          <p:nvPr/>
        </p:nvSpPr>
        <p:spPr>
          <a:xfrm>
            <a:off x="4508500" y="2603500"/>
            <a:ext cx="3175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严格遵循最左前缀原则，优先构建高复用性的复合索引，并利用覆盖索引机制避免回表查询开销。</a:t>
            </a:r>
            <a:endParaRPr lang="en-US" sz="1100"/>
          </a:p>
        </p:txBody>
      </p:sp>
      <p:sp>
        <p:nvSpPr>
          <p:cNvPr id="13" name="AutoShape 13"/>
          <p:cNvSpPr/>
          <p:nvPr/>
        </p:nvSpPr>
        <p:spPr>
          <a:xfrm>
            <a:off x="8128000" y="1651000"/>
            <a:ext cx="3556000" cy="1968500"/>
          </a:xfrm>
          <a:prstGeom prst="roundRect">
            <a:avLst>
              <a:gd name="adj" fmla="val 0"/>
            </a:avLst>
          </a:prstGeom>
          <a:solidFill>
            <a:srgbClr val="FFFFFF">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sp>
        <p:nvSpPr>
          <p:cNvPr id="14" name="AutoShape 14"/>
          <p:cNvSpPr/>
          <p:nvPr/>
        </p:nvSpPr>
        <p:spPr>
          <a:xfrm>
            <a:off x="8318500" y="1841500"/>
            <a:ext cx="762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6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03</a:t>
            </a:r>
            <a:endParaRPr lang="en-US" sz="1100"/>
          </a:p>
        </p:txBody>
      </p:sp>
      <p:sp>
        <p:nvSpPr>
          <p:cNvPr id="15" name="AutoShape 15"/>
          <p:cNvSpPr/>
          <p:nvPr/>
        </p:nvSpPr>
        <p:spPr>
          <a:xfrm>
            <a:off x="9080500" y="1905000"/>
            <a:ext cx="2476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数据驱动</a:t>
            </a:r>
            <a:endParaRPr lang="en-US" sz="1100"/>
          </a:p>
        </p:txBody>
      </p:sp>
      <p:sp>
        <p:nvSpPr>
          <p:cNvPr id="16" name="AutoShape 16"/>
          <p:cNvSpPr/>
          <p:nvPr/>
        </p:nvSpPr>
        <p:spPr>
          <a:xfrm>
            <a:off x="8318500" y="2603500"/>
            <a:ext cx="3175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依据字段的选择性、基数分布及真实业务查询模式来设计索引，拒绝脱离实际的经验主义创建。</a:t>
            </a:r>
            <a:endParaRPr lang="en-US" sz="1100"/>
          </a:p>
        </p:txBody>
      </p:sp>
      <p:sp>
        <p:nvSpPr>
          <p:cNvPr id="17" name="AutoShape 17"/>
          <p:cNvSpPr/>
          <p:nvPr/>
        </p:nvSpPr>
        <p:spPr>
          <a:xfrm>
            <a:off x="508000" y="3937000"/>
            <a:ext cx="5461000" cy="1968500"/>
          </a:xfrm>
          <a:prstGeom prst="roundRect">
            <a:avLst>
              <a:gd name="adj" fmla="val 0"/>
            </a:avLst>
          </a:prstGeom>
          <a:solidFill>
            <a:srgbClr val="FFFFFF">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sp>
        <p:nvSpPr>
          <p:cNvPr id="18" name="AutoShape 18"/>
          <p:cNvSpPr/>
          <p:nvPr/>
        </p:nvSpPr>
        <p:spPr>
          <a:xfrm>
            <a:off x="698500" y="4127500"/>
            <a:ext cx="762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6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04</a:t>
            </a:r>
            <a:endParaRPr lang="en-US" sz="1100"/>
          </a:p>
        </p:txBody>
      </p:sp>
      <p:sp>
        <p:nvSpPr>
          <p:cNvPr id="19" name="AutoShape 19"/>
          <p:cNvSpPr/>
          <p:nvPr/>
        </p:nvSpPr>
        <p:spPr>
          <a:xfrm>
            <a:off x="1460500" y="4191000"/>
            <a:ext cx="4191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持续监控与优化</a:t>
            </a:r>
            <a:endParaRPr lang="en-US" sz="1100"/>
          </a:p>
        </p:txBody>
      </p:sp>
      <p:sp>
        <p:nvSpPr>
          <p:cNvPr id="20" name="AutoShape 20"/>
          <p:cNvSpPr/>
          <p:nvPr/>
        </p:nvSpPr>
        <p:spPr>
          <a:xfrm>
            <a:off x="698500" y="4889500"/>
            <a:ext cx="4953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定期审计索引的使用率，分析慢查询日志与执行计划，及时发现并清理低效或未被使用的冗余索引，确保索引体系的健康性。</a:t>
            </a:r>
            <a:endParaRPr lang="en-US" sz="1100"/>
          </a:p>
        </p:txBody>
      </p:sp>
      <p:sp>
        <p:nvSpPr>
          <p:cNvPr id="21" name="AutoShape 21"/>
          <p:cNvSpPr/>
          <p:nvPr/>
        </p:nvSpPr>
        <p:spPr>
          <a:xfrm>
            <a:off x="6223000" y="3937000"/>
            <a:ext cx="5461000" cy="1968500"/>
          </a:xfrm>
          <a:prstGeom prst="roundRect">
            <a:avLst>
              <a:gd name="adj" fmla="val 0"/>
            </a:avLst>
          </a:prstGeom>
          <a:solidFill>
            <a:srgbClr val="FFFFFF">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sp>
        <p:nvSpPr>
          <p:cNvPr id="22" name="AutoShape 22"/>
          <p:cNvSpPr/>
          <p:nvPr/>
        </p:nvSpPr>
        <p:spPr>
          <a:xfrm>
            <a:off x="6413500" y="4127500"/>
            <a:ext cx="762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6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05</a:t>
            </a:r>
            <a:endParaRPr lang="en-US" sz="1100"/>
          </a:p>
        </p:txBody>
      </p:sp>
      <p:sp>
        <p:nvSpPr>
          <p:cNvPr id="23" name="AutoShape 23"/>
          <p:cNvSpPr/>
          <p:nvPr/>
        </p:nvSpPr>
        <p:spPr>
          <a:xfrm>
            <a:off x="7175500" y="4191000"/>
            <a:ext cx="4191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平衡读写取舍</a:t>
            </a:r>
            <a:endParaRPr lang="en-US" sz="1100"/>
          </a:p>
        </p:txBody>
      </p:sp>
      <p:sp>
        <p:nvSpPr>
          <p:cNvPr id="24" name="AutoShape 24"/>
          <p:cNvSpPr/>
          <p:nvPr/>
        </p:nvSpPr>
        <p:spPr>
          <a:xfrm>
            <a:off x="6413500" y="4889500"/>
            <a:ext cx="4953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索引会加速查询但会增加写入与更新的开销，需在查询性能提升与写入吞吐量之间找到平衡点，避免为了查询而过度索引。</a:t>
            </a:r>
            <a:endParaRPr lang="en-US" sz="1100"/>
          </a:p>
        </p:txBody>
      </p:sp>
      <p:sp>
        <p:nvSpPr>
          <p:cNvPr id="25" name="AutoShape 25"/>
          <p:cNvSpPr/>
          <p:nvPr/>
        </p:nvSpPr>
        <p:spPr>
          <a:xfrm>
            <a:off x="508000" y="6096000"/>
            <a:ext cx="11176000" cy="457200"/>
          </a:xfrm>
          <a:prstGeom prst="roundRect">
            <a:avLst>
              <a:gd name="adj" fmla="val 0"/>
            </a:avLst>
          </a:prstGeom>
          <a:solidFill>
            <a:srgbClr val="15803D">
              <a:alpha val="8000"/>
            </a:srgbClr>
          </a:solidFill>
          <a:ln w="25400" cap="flat" cmpd="sng">
            <a:noFill/>
            <a:prstDash val="solid"/>
            <a:round/>
          </a:ln>
        </p:spPr>
        <p:txBody>
          <a:bodyPr vert="horz" wrap="square" lIns="63500" tIns="63500" rIns="63500" bIns="63500" rtlCol="0" anchor="ctr"/>
          <a:lstStyle/>
          <a:p>
            <a:pPr algn="ctr">
              <a:defRPr/>
            </a:pPr>
          </a:p>
        </p:txBody>
      </p:sp>
      <p:sp>
        <p:nvSpPr>
          <p:cNvPr id="26" name="AutoShape 26"/>
          <p:cNvSpPr/>
          <p:nvPr/>
        </p:nvSpPr>
        <p:spPr>
          <a:xfrm>
            <a:off x="635000" y="6172200"/>
            <a:ext cx="10922000" cy="3048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 总结：索引优化并非一劳永逸，而是基于业务场景持续迭代、动态调整的过程。</a:t>
            </a:r>
            <a:endParaRPr lang="en-US" sz="11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8FAFC">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9906000" y="-762000"/>
            <a:ext cx="2794000" cy="2794000"/>
          </a:xfrm>
          <a:prstGeom prst="ellipse">
            <a:avLst/>
          </a:prstGeom>
          <a:solidFill>
            <a:srgbClr val="166534">
              <a:alpha val="6000"/>
            </a:srgbClr>
          </a:solidFill>
          <a:ln cap="flat" cmpd="sng">
            <a:solidFill>
              <a:srgbClr val="094C22">
                <a:alpha val="6000"/>
              </a:srgbClr>
            </a:solidFill>
            <a:prstDash val="solid"/>
            <a:round/>
          </a:ln>
        </p:spPr>
        <p:txBody>
          <a:bodyPr vert="horz" wrap="square" lIns="63500" tIns="63500" rIns="63500" bIns="63500" rtlCol="0" anchor="ctr"/>
          <a:lstStyle/>
          <a:p>
            <a:pPr algn="ctr">
              <a:defRPr/>
            </a:pPr>
          </a:p>
        </p:txBody>
      </p:sp>
      <p:sp>
        <p:nvSpPr>
          <p:cNvPr id="3" name="AutoShape 3"/>
          <p:cNvSpPr/>
          <p:nvPr/>
        </p:nvSpPr>
        <p:spPr>
          <a:xfrm>
            <a:off x="-762000" y="4826000"/>
            <a:ext cx="2540000" cy="2540000"/>
          </a:xfrm>
          <a:prstGeom prst="ellipse">
            <a:avLst/>
          </a:prstGeom>
          <a:solidFill>
            <a:srgbClr val="166534">
              <a:alpha val="4000"/>
            </a:srgbClr>
          </a:solidFill>
          <a:ln cap="flat" cmpd="sng">
            <a:solidFill>
              <a:srgbClr val="094C22">
                <a:alpha val="4000"/>
              </a:srgbClr>
            </a:solidFill>
            <a:prstDash val="solid"/>
            <a:round/>
          </a:ln>
        </p:spPr>
        <p:txBody>
          <a:bodyPr vert="horz" wrap="square" lIns="63500" tIns="63500" rIns="63500" bIns="63500" rtlCol="0" anchor="ctr"/>
          <a:lstStyle/>
          <a:p>
            <a:pPr algn="ctr">
              <a:defRPr/>
            </a:pPr>
          </a:p>
        </p:txBody>
      </p:sp>
      <p:sp>
        <p:nvSpPr>
          <p:cNvPr id="4" name="AutoShape 4"/>
          <p:cNvSpPr/>
          <p:nvPr/>
        </p:nvSpPr>
        <p:spPr>
          <a:xfrm>
            <a:off x="0" y="2032000"/>
            <a:ext cx="12192000" cy="2286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2000" b="1" i="0" u="none" strike="noStrike">
                <a:solidFill>
                  <a:srgbClr val="166534"/>
                </a:solidFill>
                <a:latin typeface="Noto Sans SC" panose="020B0200000000000000" charset="-122"/>
                <a:ea typeface="Noto Sans SC" panose="020B0200000000000000" charset="-122"/>
                <a:cs typeface="Noto Sans SC" panose="020B0200000000000000" charset="-122"/>
                <a:sym typeface="Noto Sans SC" panose="020B0200000000000000" charset="-122"/>
              </a:rPr>
              <a:t>Q &amp; A</a:t>
            </a:r>
            <a:endParaRPr lang="en-US" sz="1100"/>
          </a:p>
        </p:txBody>
      </p:sp>
      <p:sp>
        <p:nvSpPr>
          <p:cNvPr id="5" name="AutoShape 5"/>
          <p:cNvSpPr/>
          <p:nvPr/>
        </p:nvSpPr>
        <p:spPr>
          <a:xfrm>
            <a:off x="0" y="4381500"/>
            <a:ext cx="12192000" cy="889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3200" b="0" i="0" u="none" strike="noStrike" spc="40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感谢聆听</a:t>
            </a:r>
            <a:endParaRPr lang="en-US" sz="1100"/>
          </a:p>
        </p:txBody>
      </p:sp>
      <p:sp>
        <p:nvSpPr>
          <p:cNvPr id="6" name="AutoShape 6"/>
          <p:cNvSpPr/>
          <p:nvPr/>
        </p:nvSpPr>
        <p:spPr>
          <a:xfrm>
            <a:off x="4064000" y="5842000"/>
            <a:ext cx="762000" cy="76200"/>
          </a:xfrm>
          <a:prstGeom prst="roundRect">
            <a:avLst>
              <a:gd name="adj" fmla="val 0"/>
            </a:avLst>
          </a:prstGeom>
          <a:solidFill>
            <a:srgbClr val="166534">
              <a:alpha val="100000"/>
            </a:srgbClr>
          </a:solidFill>
          <a:ln cap="flat" cmpd="sng">
            <a:solidFill>
              <a:srgbClr val="094C22">
                <a:alpha val="100000"/>
              </a:srgbClr>
            </a:solidFill>
            <a:prstDash val="solid"/>
            <a:round/>
          </a:ln>
        </p:spPr>
        <p:txBody>
          <a:bodyPr vert="horz" wrap="square" lIns="63500" tIns="63500" rIns="63500" bIns="63500" rtlCol="0" anchor="ctr"/>
          <a:lstStyle/>
          <a:p>
            <a:pPr algn="ctr">
              <a:defRPr/>
            </a:pPr>
          </a:p>
        </p:txBody>
      </p:sp>
      <p:sp>
        <p:nvSpPr>
          <p:cNvPr id="7" name="AutoShape 7"/>
          <p:cNvSpPr/>
          <p:nvPr/>
        </p:nvSpPr>
        <p:spPr>
          <a:xfrm>
            <a:off x="5080000" y="5842000"/>
            <a:ext cx="2032000" cy="76200"/>
          </a:xfrm>
          <a:prstGeom prst="roundRect">
            <a:avLst>
              <a:gd name="adj" fmla="val 0"/>
            </a:avLst>
          </a:prstGeom>
          <a:solidFill>
            <a:srgbClr val="166534">
              <a:alpha val="25000"/>
            </a:srgbClr>
          </a:solidFill>
          <a:ln cap="flat" cmpd="sng">
            <a:solidFill>
              <a:srgbClr val="094C22">
                <a:alpha val="25000"/>
              </a:srgbClr>
            </a:solidFill>
            <a:prstDash val="solid"/>
            <a:round/>
          </a:ln>
        </p:spPr>
        <p:txBody>
          <a:bodyPr vert="horz" wrap="square" lIns="63500" tIns="63500" rIns="63500" bIns="63500" rtlCol="0" anchor="ctr"/>
          <a:lstStyle/>
          <a:p>
            <a:pPr algn="ctr">
              <a:defRPr/>
            </a:pPr>
          </a:p>
        </p:txBody>
      </p:sp>
      <p:sp>
        <p:nvSpPr>
          <p:cNvPr id="8" name="AutoShape 8"/>
          <p:cNvSpPr/>
          <p:nvPr/>
        </p:nvSpPr>
        <p:spPr>
          <a:xfrm>
            <a:off x="7366000" y="5842000"/>
            <a:ext cx="762000" cy="76200"/>
          </a:xfrm>
          <a:prstGeom prst="roundRect">
            <a:avLst>
              <a:gd name="adj" fmla="val 0"/>
            </a:avLst>
          </a:prstGeom>
          <a:solidFill>
            <a:srgbClr val="166534">
              <a:alpha val="100000"/>
            </a:srgbClr>
          </a:solidFill>
          <a:ln cap="flat" cmpd="sng">
            <a:solidFill>
              <a:srgbClr val="094C22">
                <a:alpha val="100000"/>
              </a:srgbClr>
            </a:solidFill>
            <a:prstDash val="solid"/>
            <a:round/>
          </a:ln>
        </p:spPr>
        <p:txBody>
          <a:bodyPr vert="horz" wrap="square" lIns="63500" tIns="63500" rIns="63500" bIns="63500" rtlCol="0" anchor="ctr"/>
          <a:lstStyle/>
          <a:p>
            <a:pPr algn="ctr">
              <a:defRPr/>
            </a:pPr>
          </a:p>
        </p:txBody>
      </p:sp>
    </p:spTree>
  </p:cSld>
  <p:clrMapOvr>
    <a:masterClrMapping/>
  </p:clrMapOvr>
</p:sld>
</file>

<file path=ppt/tags/tag1.xml><?xml version="1.0" encoding="utf-8"?>
<p:tagLst xmlns:p="http://schemas.openxmlformats.org/presentationml/2006/main">
  <p:tag name="KSO_WM_DIAGRAM_VIRTUALLY_FRAME" val="{&quot;height&quot;:205,&quot;left&quot;:40,&quot;top&quot;:205,&quot;width&quot;:880}"/>
</p:tagLst>
</file>

<file path=ppt/tags/tag2.xml><?xml version="1.0" encoding="utf-8"?>
<p:tagLst xmlns:p="http://schemas.openxmlformats.org/presentationml/2006/main">
  <p:tag name="KSO_WM_DIAGRAM_VIRTUALLY_FRAME" val="{&quot;height&quot;:205,&quot;left&quot;:40,&quot;top&quot;:205,&quot;width&quot;:880}"/>
</p:tagLst>
</file>

<file path=ppt/tags/tag3.xml><?xml version="1.0" encoding="utf-8"?>
<p:tagLst xmlns:p="http://schemas.openxmlformats.org/presentationml/2006/main">
  <p:tag name="KSO_WM_DIAGRAM_VIRTUALLY_FRAME" val="{&quot;height&quot;:205,&quot;left&quot;:40,&quot;top&quot;:205,&quot;width&quot;:880}"/>
</p:tagLst>
</file>

<file path=ppt/tags/tag4.xml><?xml version="1.0" encoding="utf-8"?>
<p:tagLst xmlns:p="http://schemas.openxmlformats.org/presentationml/2006/main">
  <p:tag name="KSO_WM_DIAGRAM_VIRTUALLY_FRAME" val="{&quot;height&quot;:205,&quot;left&quot;:40,&quot;top&quot;:205,&quot;width&quot;:880}"/>
</p:tagLst>
</file>

<file path=ppt/tags/tag5.xml><?xml version="1.0" encoding="utf-8"?>
<p:tagLst xmlns:p="http://schemas.openxmlformats.org/presentationml/2006/main">
  <p:tag name="KSO_WM_DIAGRAM_VIRTUALLY_FRAME" val="{&quot;height&quot;:205,&quot;left&quot;:40,&quot;top&quot;:205,&quot;width&quot;:880}"/>
</p:tagLst>
</file>

<file path=ppt/tags/tag6.xml><?xml version="1.0" encoding="utf-8"?>
<p:tagLst xmlns:p="http://schemas.openxmlformats.org/presentationml/2006/main">
  <p:tag name="KSO_WM_DIAGRAM_VIRTUALLY_FRAME" val="{&quot;height&quot;:205,&quot;left&quot;:40,&quot;top&quot;:205,&quot;width&quot;:880}"/>
</p:tagLst>
</file>

<file path=ppt/tags/tag7.xml><?xml version="1.0" encoding="utf-8"?>
<p:tagLst xmlns:p="http://schemas.openxmlformats.org/presentationml/2006/main">
  <p:tag name="KSO_WM_DIAGRAM_VIRTUALLY_FRAME" val="{&quot;height&quot;:205,&quot;left&quot;:40,&quot;top&quot;:205,&quot;width&quot;:880}"/>
</p:tagLst>
</file>

<file path=ppt/tags/tag8.xml><?xml version="1.0" encoding="utf-8"?>
<p:tagLst xmlns:p="http://schemas.openxmlformats.org/presentationml/2006/main">
  <p:tag name="KSO_WM_DIAGRAM_VIRTUALLY_FRAME" val="{&quot;height&quot;:205,&quot;left&quot;:40,&quot;top&quot;:205,&quot;width&quot;:880}"/>
</p:tagLst>
</file>

<file path=ppt/tags/tag9.xml><?xml version="1.0" encoding="utf-8"?>
<p:tagLst xmlns:p="http://schemas.openxmlformats.org/presentationml/2006/main">
  <p:tag name="KSO_WM_DIAGRAM_VIRTUALLY_FRAME" val="{&quot;height&quot;:205,&quot;left&quot;:40,&quot;top&quot;:205,&quot;width&quot;:880}"/>
</p:tagLst>
</file>

<file path=ppt/tags/tag10.xml><?xml version="1.0" encoding="utf-8"?>
<p:tagLst xmlns:p="http://schemas.openxmlformats.org/presentationml/2006/main">
  <p:tag name="KSO_WM_DIAGRAM_VIRTUALLY_FRAME" val="{&quot;height&quot;:205,&quot;left&quot;:40,&quot;top&quot;:205,&quot;width&quot;:880}"/>
</p:tagLst>
</file>

<file path=ppt/tags/tag11.xml><?xml version="1.0" encoding="utf-8"?>
<p:tagLst xmlns:p="http://schemas.openxmlformats.org/presentationml/2006/main">
  <p:tag name="KSO_WM_DIAGRAM_VIRTUALLY_FRAME" val="{&quot;height&quot;:205,&quot;left&quot;:40,&quot;top&quot;:205,&quot;width&quot;:880}"/>
</p:tagLst>
</file>

<file path=ppt/tags/tag12.xml><?xml version="1.0" encoding="utf-8"?>
<p:tagLst xmlns:p="http://schemas.openxmlformats.org/presentationml/2006/main">
  <p:tag name="KSO_WM_DIAGRAM_VIRTUALLY_FRAME" val="{&quot;height&quot;:205,&quot;left&quot;:40,&quot;top&quot;:205,&quot;width&quot;:880}"/>
</p:tagLst>
</file>

<file path=ppt/tags/tag13.xml><?xml version="1.0" encoding="utf-8"?>
<p:tagLst xmlns:p="http://schemas.openxmlformats.org/presentationml/2006/main">
  <p:tag name="KSO_WM_DIAGRAM_VIRTUALLY_FRAME" val="{&quot;height&quot;:205,&quot;left&quot;:40,&quot;top&quot;:205,&quot;width&quot;:880}"/>
</p:tagLst>
</file>

<file path=ppt/tags/tag14.xml><?xml version="1.0" encoding="utf-8"?>
<p:tagLst xmlns:p="http://schemas.openxmlformats.org/presentationml/2006/main">
  <p:tag name="KSO_WM_DIAGRAM_VIRTUALLY_FRAME" val="{&quot;height&quot;:205,&quot;left&quot;:40,&quot;top&quot;:205,&quot;width&quot;:880}"/>
</p:tagLst>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6401</Words>
  <Application>WPS 演示</Application>
  <PresentationFormat/>
  <Paragraphs>459</Paragraphs>
  <Slides>21</Slides>
  <Notes>0</Notes>
  <HiddenSlides>0</HiddenSlides>
  <MMClips>0</MMClips>
  <ScaleCrop>false</ScaleCrop>
  <HeadingPairs>
    <vt:vector size="6" baseType="variant">
      <vt:variant>
        <vt:lpstr>已用的字体</vt:lpstr>
      </vt:variant>
      <vt:variant>
        <vt:i4>10</vt:i4>
      </vt:variant>
      <vt:variant>
        <vt:lpstr>主题</vt:lpstr>
      </vt:variant>
      <vt:variant>
        <vt:i4>2</vt:i4>
      </vt:variant>
      <vt:variant>
        <vt:lpstr>幻灯片标题</vt:lpstr>
      </vt:variant>
      <vt:variant>
        <vt:i4>21</vt:i4>
      </vt:variant>
    </vt:vector>
  </HeadingPairs>
  <TitlesOfParts>
    <vt:vector size="33" baseType="lpstr">
      <vt:lpstr>Arial</vt:lpstr>
      <vt:lpstr>宋体</vt:lpstr>
      <vt:lpstr>Wingdings</vt:lpstr>
      <vt:lpstr>Arial</vt:lpstr>
      <vt:lpstr>Noto Sans SC</vt:lpstr>
      <vt:lpstr>Consolas</vt:lpstr>
      <vt:lpstr>微软雅黑</vt:lpstr>
      <vt:lpstr>Arial Unicode MS</vt:lpstr>
      <vt:lpstr>Source Code Pro</vt:lpstr>
      <vt:lpstr>Segoe Print</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陈喆</cp:lastModifiedBy>
  <cp:revision>10</cp:revision>
  <dcterms:created xsi:type="dcterms:W3CDTF">2026-07-05T01:50:00Z</dcterms:created>
  <dcterms:modified xsi:type="dcterms:W3CDTF">2026-07-05T03:24:46Z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{"Label":"1","ContentProducer":"001191110102MACQD9K64010000","ProduceID":"7658855111004245214","ReservedCode1":"","ContentPropagator":"","PropagateID":"","ReservedCode2":""}</vt:lpwstr>
  </property>
  <property fmtid="{D5CDD505-2E9C-101B-9397-08002B2CF9AE}" pid="3" name="ICV">
    <vt:lpwstr>746CA7E19D9846A798DC40D577C7BB73_12</vt:lpwstr>
  </property>
  <property fmtid="{D5CDD505-2E9C-101B-9397-08002B2CF9AE}" pid="4" name="KSOProductBuildVer">
    <vt:lpwstr>2052-12.1.0.26895</vt:lpwstr>
  </property>
</Properties>
</file>